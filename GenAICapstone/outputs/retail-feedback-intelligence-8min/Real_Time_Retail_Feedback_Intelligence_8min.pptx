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cc20f20b834009" /><Relationship Type="http://schemas.openxmlformats.org/officeDocument/2006/relationships/extended-properties" Target="/docProps/app.xml" Id="R2821389f3aae4a1e" /><Relationship Type="http://schemas.openxmlformats.org/officeDocument/2006/relationships/officeDocument" Target="/ppt/presentation.xml" Id="Rec4433a0c9da4b82" /></Relationships>
</file>

<file path=ppt/presentation.xml><?xml version="1.0" encoding="utf-8"?>
<p:presentation xmlns:p="http://schemas.openxmlformats.org/presentationml/2006/main">
  <p:sldMasterIdLst>
    <p:sldMasterId xmlns:r="http://schemas.openxmlformats.org/officeDocument/2006/relationships" id="2147483648" r:id="R58fc9f4d4a604afb"/>
  </p:sldMasterIdLst>
  <p:notesMasterIdLst>
    <p:notesMasterId xmlns:r="http://schemas.openxmlformats.org/officeDocument/2006/relationships" r:id="R47c79402229049d3"/>
  </p:notesMasterIdLst>
  <p:sldIdLst>
    <p:sldId xmlns:r="http://schemas.openxmlformats.org/officeDocument/2006/relationships" id="256" r:id="R62c82cf976d5443e"/>
    <p:sldId xmlns:r="http://schemas.openxmlformats.org/officeDocument/2006/relationships" id="257" r:id="Rde50562173cf47e6"/>
    <p:sldId xmlns:r="http://schemas.openxmlformats.org/officeDocument/2006/relationships" id="258" r:id="R69080d98a44f4422"/>
    <p:sldId xmlns:r="http://schemas.openxmlformats.org/officeDocument/2006/relationships" id="259" r:id="Rfb865d2cc25347f6"/>
    <p:sldId xmlns:r="http://schemas.openxmlformats.org/officeDocument/2006/relationships" id="260" r:id="Ra9b53dd0dbd04ef2"/>
    <p:sldId xmlns:r="http://schemas.openxmlformats.org/officeDocument/2006/relationships" id="261" r:id="R9da8e15e8b9d4ac5"/>
    <p:sldId xmlns:r="http://schemas.openxmlformats.org/officeDocument/2006/relationships" id="262" r:id="R3a010254998f447a"/>
    <p:sldId xmlns:r="http://schemas.openxmlformats.org/officeDocument/2006/relationships" id="263" r:id="R9cb4bd37d29e48ee"/>
    <p:sldId xmlns:r="http://schemas.openxmlformats.org/officeDocument/2006/relationships" id="264" r:id="Ra14d0f3b39fd4fd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8fc9f4d4a604afb" /><Relationship Type="http://schemas.openxmlformats.org/officeDocument/2006/relationships/theme" Target="/ppt/theme/theme1.xml" Id="R7dcef946a0e44802" /><Relationship Type="http://schemas.openxmlformats.org/officeDocument/2006/relationships/notesMaster" Target="/ppt/notesMasters/notesMaster1.xml" Id="R47c79402229049d3" /><Relationship Type="http://schemas.openxmlformats.org/officeDocument/2006/relationships/presProps" Target="/ppt/presProps.xml" Id="R4b92a2cdd27243e3" /><Relationship Type="http://schemas.openxmlformats.org/officeDocument/2006/relationships/viewProps" Target="/ppt/viewProps.xml" Id="R444ffee264ff4a52" /><Relationship Type="http://schemas.openxmlformats.org/officeDocument/2006/relationships/tableStyles" Target="/ppt/tableStyles.xml" Id="R3d545b4dfde441a0" /><Relationship Type="http://schemas.openxmlformats.org/officeDocument/2006/relationships/slide" Target="/ppt/slides/slide1.xml" Id="R62c82cf976d5443e" /><Relationship Type="http://schemas.openxmlformats.org/officeDocument/2006/relationships/slide" Target="/ppt/slides/slide2.xml" Id="Rde50562173cf47e6" /><Relationship Type="http://schemas.openxmlformats.org/officeDocument/2006/relationships/slide" Target="/ppt/slides/slide3.xml" Id="R69080d98a44f4422" /><Relationship Type="http://schemas.openxmlformats.org/officeDocument/2006/relationships/slide" Target="/ppt/slides/slide4.xml" Id="Rfb865d2cc25347f6" /><Relationship Type="http://schemas.openxmlformats.org/officeDocument/2006/relationships/slide" Target="/ppt/slides/slide5.xml" Id="Ra9b53dd0dbd04ef2" /><Relationship Type="http://schemas.openxmlformats.org/officeDocument/2006/relationships/slide" Target="/ppt/slides/slide6.xml" Id="R9da8e15e8b9d4ac5" /><Relationship Type="http://schemas.openxmlformats.org/officeDocument/2006/relationships/slide" Target="/ppt/slides/slide7.xml" Id="R3a010254998f447a" /><Relationship Type="http://schemas.openxmlformats.org/officeDocument/2006/relationships/slide" Target="/ppt/slides/slide8.xml" Id="R9cb4bd37d29e48ee" /><Relationship Type="http://schemas.openxmlformats.org/officeDocument/2006/relationships/slide" Target="/ppt/slides/slide9.xml" Id="Ra14d0f3b39fd4f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1370a0a1faf241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809b7b93834c0f" /><Relationship Type="http://schemas.openxmlformats.org/officeDocument/2006/relationships/notesMaster" Target="/ppt/notesMasters/notesMaster1.xml" Id="R9b401077729345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ac59d1a14b4727" /><Relationship Type="http://schemas.openxmlformats.org/officeDocument/2006/relationships/notesMaster" Target="/ppt/notesMasters/notesMaster1.xml" Id="R7db55b12156f48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0059c898dd445c" /><Relationship Type="http://schemas.openxmlformats.org/officeDocument/2006/relationships/notesMaster" Target="/ppt/notesMasters/notesMaster1.xml" Id="R20f0342bd36149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c27d3a039c474e" /><Relationship Type="http://schemas.openxmlformats.org/officeDocument/2006/relationships/notesMaster" Target="/ppt/notesMasters/notesMaster1.xml" Id="R58e7ffce0b2e4c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6c4c1771eb4ae2" /><Relationship Type="http://schemas.openxmlformats.org/officeDocument/2006/relationships/notesMaster" Target="/ppt/notesMasters/notesMaster1.xml" Id="Rd6aee870fb8c48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7b1e5883064046" /><Relationship Type="http://schemas.openxmlformats.org/officeDocument/2006/relationships/notesMaster" Target="/ppt/notesMasters/notesMaster1.xml" Id="Rb7de100568cb45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e8649b1c2b4560" /><Relationship Type="http://schemas.openxmlformats.org/officeDocument/2006/relationships/notesMaster" Target="/ppt/notesMasters/notesMaster1.xml" Id="Rdf71301aa81f4d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cccc8447a248a1" /><Relationship Type="http://schemas.openxmlformats.org/officeDocument/2006/relationships/notesMaster" Target="/ppt/notesMasters/notesMaster1.xml" Id="Rdbaaa7bf9ec340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37c332b50c41b8" /><Relationship Type="http://schemas.openxmlformats.org/officeDocument/2006/relationships/notesMaster" Target="/ppt/notesMasters/notesMaster1.xml" Id="R9f96df0d437d42d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Good morning. This capstone is about helping ChicStyle turn high-volume customer review text into faster retail decisions. The core idea is simple: customer reviews already contain signals about fit, quality, color accuracy, delivery, and satisfaction. The problem is that those signals arrive as unstructured text, especially during peak seasons. This project uses Generative AI to convert that text into structured fields the business can route and act on. The final recommendation is to pilot CoT V2 as the primary prompt, keep Few-Shot V2 as a validation prompt, and use human review for high-risk customer-facing cases.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There are three takeaways. First, the review base is mostly positive: 77.1 percent of usable reviews are four or five stars. But the lower-rated and mixed reviews still reveal fixable issues around fit, sizing, fabric quality, and product images. Second, CoT V2 is the best production choice even though it ties Few-Shot V2 at the reported 0.92 score, because it is designed for routing and urgency decisions. CoT simply means the model reasons internally before giving the final structured answer. Third, this should be deployed as triage, not autopilot. The recommendation check reached 80 percent accuracy and caught every not-recommended case in the sample, but high-risk outputs still need human oversight.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business problem is speed and nuance. ChicStyle receives review spikes during holidays and promotions, and manual review cannot scale cleanly. Basic sentiment analysis is not enough because a customer can say, 'The dress is cute, but the fit is off and the color does not match the photo.' Calling that review simply positive or negative misses the business action. The better question is: what issue is being described, how urgent is it, and which team should own it? The goal of the project is to convert raw review text into a prioritized action queue for support, merchandising, product, and e-commerce teams.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solution design converts each review into seven fields. Category tells us what the review is about, such as fit, sizing, design, color, or comfort. Feedback Type says whether the issue is about the product, service, both, or neither. Sentiment captures the tone as positive, negative, neutral, or mixed. Urgency marks whether the issue is high, medium, or low priority. Summary gives a concise version of the review. Customer Message drafts a personalized response. Retail Insight turns the review into a recommended business action. Together, these fields make the review usable for routing and decision-making.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exploratory findings show that ChicStyle's catalog is broadly well received. After cleaning, there are 22,641 usable review texts. The average rating is 4.18, and more than half of the usable reviews are five-star reviews. That is the good news. The business opportunity is that satisfaction does not eliminate friction. The lower-rated reviews and mixed reviews point to specific expectation gaps. Bottoms have the highest average department rating at 4.28, while Trend is lowest at 3.84, though Trend has a smaller sample size. The takeaway is to focus not just on whether customers like the brand, but on where complaints repeat.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For the model comparison, all six prompt versions parsed successfully, so formatting was not the issue. The difference was usefulness. CoT V2 and Few-Shot V2 tied at 0.92 on the LLM-as-Judge score. Zero-Shot V1 followed closely at 0.91, while the others scored 0.90. I selected CoT V2 as the primary production prompt because the final task requires more than sentiment. It requires feedback type, category, urgency, summary, customer response, and retail insight. The recommendation-intent workflow reached 80 percent accuracy. It caught all 12 actual not-recommended cases, but it was conservative and missed 10 reviews that customers did recommend.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recurring customer themes are actionable. Fit and sizing are the most important operational levers, with customers talking about sleeves, bust, waist, drape, and true-to-size expectations. Fabric and quality issues also show up through comments about material, transparency, durability, and construction. Image and color accuracy matter because product photos shape expectations before purchase. Finally, positive reviews consistently reward flattering design, comfort, softness, and versatility. This means the review pipeline can support both risk reduction and stronger merchandising copy.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recommendations are split into short-term and longer-term actions. In the next three to six months, ChicStyle should revise sizing and fit guidance, improve image and color accuracy, and launch a feedback routing loop so high-urgency and mixed reviews reach the right owners. Over six to twelve months, ChicStyle should standardize sizing logic across collections, evaluate fit predictor tooling, and strengthen product quality feedback loops around fabric, durability, and construction. I am not assigning a dollar ROI because the notebook does not include return costs, support costs, order volume, or API cost assumptions. The value case is faster detection, clearer ownership, and fewer avoidable expectation gaps.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My recommended decision is to pilot CoT V2 with human guardrails. The pilot should use a larger fixed sample and a small human-reviewed benchmark. The team should monitor parse success, category drift, high-urgency volume, and cases where CoT V2 and Few-Shot V2 disagree. Once the results are stable, the routing can connect into support and merchandising workflows. The bottom line is that GenAI should prioritize decisions, not remove judgment from high-risk or customer-facing work. That is how ChicStyle can turn review text into a practical operating system for customer feedback.</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0f7132e97645d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B204025B-68F5-4D70-98E7-FC3EAFBD46A4}"/>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BA682C06-F71C-4A9E-BF07-79B6A017417E}"/>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21F90984-5029-4744-BE76-0D1FDB825114}"/>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9D9FF774-CB19-4C37-A0C2-B0FF49F9AE27}"/>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8E328FFF-85D9-4AAA-A3F2-A4ED3FDC5FB6}"/>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6de319b0a474341" /><Relationship Type="http://schemas.openxmlformats.org/officeDocument/2006/relationships/slideLayout" Target="/ppt/slideLayouts/slideLayout2.xml" Id="Raf218f27ef6843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4DC36BD3-167F-488E-B7D5-54245E3592DB}"/>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218f27ef6843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1f5b7140bbe14478" /><Relationship Type="http://schemas.openxmlformats.org/officeDocument/2006/relationships/notesSlide" Target="/ppt/notesSlides/notesSlide1.xml" Id="R12198714a48948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6c025194b874209" /><Relationship Type="http://schemas.openxmlformats.org/officeDocument/2006/relationships/notesSlide" Target="/ppt/notesSlides/notesSlide2.xml" Id="R976806c76ca446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1e67422807c4b3a" /><Relationship Type="http://schemas.openxmlformats.org/officeDocument/2006/relationships/notesSlide" Target="/ppt/notesSlides/notesSlide3.xml" Id="Re87750dd760846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7d23b217b8542ac" /><Relationship Type="http://schemas.openxmlformats.org/officeDocument/2006/relationships/chart" Target="/ppt/slides/charts/chart1.xml" Id="Re96e770705714fe5" /><Relationship Type="http://schemas.openxmlformats.org/officeDocument/2006/relationships/notesSlide" Target="/ppt/notesSlides/notesSlide4.xml" Id="R1e7caaa4b23242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89c741df8044c01" /><Relationship Type="http://schemas.openxmlformats.org/officeDocument/2006/relationships/chart" Target="/ppt/slides/charts/chart2.xml" Id="Re079d2b7e5944637" /><Relationship Type="http://schemas.openxmlformats.org/officeDocument/2006/relationships/notesSlide" Target="/ppt/notesSlides/notesSlide5.xml" Id="R48749a7dc21943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4cfbfc3677e489d" /><Relationship Type="http://schemas.openxmlformats.org/officeDocument/2006/relationships/notesSlide" Target="/ppt/notesSlides/notesSlide6.xml" Id="Re0e78b88eaad4b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818f4015d3b4bc9" /><Relationship Type="http://schemas.openxmlformats.org/officeDocument/2006/relationships/notesSlide" Target="/ppt/notesSlides/notesSlide7.xml" Id="R0cb3087d55464d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23348cb7cbe426d" /><Relationship Type="http://schemas.openxmlformats.org/officeDocument/2006/relationships/notesSlide" Target="/ppt/notesSlides/notesSlide8.xml" Id="R73c3dc6932db4f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39e0e39451d4989" /><Relationship Type="http://schemas.openxmlformats.org/officeDocument/2006/relationships/notesSlide" Target="/ppt/notesSlides/notesSlide9.xml" Id="R006c6bb07368492a" /></Relationships>
</file>

<file path=ppt/slides/charts/chart1.xml><?xml version="1.0" encoding="utf-8"?>
<c:chartSpace xmlns:c="http://schemas.openxmlformats.org/drawingml/2006/chart">
  <c:lang val="en-US"/>
  <c:roundedCorners val="0"/>
  <c:chart>
    <c:view3D/>
    <c:plotArea>
      <c:layout/>
      <c:barChart>
        <c:barDir val="col"/>
        <c:varyColors val="0"/>
        <c:ser>
          <c:idx val="0"/>
          <c:order val="0"/>
          <c:tx>
            <c:v>Review count</c:v>
          </c:tx>
          <c:spPr>
            <a:solidFill xmlns:a="http://schemas.openxmlformats.org/drawingml/2006/main">
              <a:srgbClr val="27C47D"/>
            </a:solidFill>
            <a:ln xmlns:a="http://schemas.openxmlformats.org/drawingml/2006/main" w="9525">
              <a:solidFill>
                <a:srgbClr val="27C47D"/>
              </a:solidFill>
              <a:prstDash val="solid"/>
            </a:ln>
          </c:spPr>
          <c:cat>
            <c:strLit>
              <c:ptCount val="5"/>
              <c:pt idx="0">
                <c:v>1 Star</c:v>
              </c:pt>
              <c:pt idx="1">
                <c:v>2 Stars</c:v>
              </c:pt>
              <c:pt idx="2">
                <c:v>3 Stars</c:v>
              </c:pt>
              <c:pt idx="3">
                <c:v>4 Stars</c:v>
              </c:pt>
              <c:pt idx="4">
                <c:v>5 Stars</c:v>
              </c:pt>
            </c:strLit>
          </c:cat>
          <c:val>
            <c:numLit>
              <c:formatCode/>
              <c:ptCount val="5"/>
              <c:pt idx="0">
                <c:v>821</c:v>
              </c:pt>
              <c:pt idx="1">
                <c:v>1549</c:v>
              </c:pt>
              <c:pt idx="2">
                <c:v>2823</c:v>
              </c:pt>
              <c:pt idx="3">
                <c:v>4908</c:v>
              </c:pt>
              <c:pt idx="4">
                <c:v>12540</c:v>
              </c:pt>
            </c:numLit>
          </c:val>
        </c:ser>
        <c:dLbls>
          <c:txPr>
            <a:bodyPr xmlns:a="http://schemas.openxmlformats.org/drawingml/2006/main" anchorCtr="1"/>
            <a:lstStyle xmlns:a="http://schemas.openxmlformats.org/drawingml/2006/main"/>
            <a:p xmlns:a="http://schemas.openxmlformats.org/drawingml/2006/main">
              <a:pPr>
                <a:defRPr sz="825">
                  <a:solidFill>
                    <a:srgbClr val="30363A"/>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30363A"/>
                </a:solidFill>
                <a:latin typeface="Lato"/>
                <a:ea typeface="Lato"/>
                <a:cs typeface="Lato"/>
              </a:defRPr>
            </a:pPr>
          </a:p>
        </c:txPr>
        <c:crossAx val="48672768"/>
        <c:crosses val="autoZero"/>
        <c:lblAlgn val="ctr"/>
        <c:lblOffset val="100"/>
        <c:noMultiLvlLbl val="0"/>
      </c:catAx>
      <c:valAx>
        <c:axId val="48672768"/>
        <c:scaling>
          <c:orientation val="minMax"/>
        </c:scaling>
        <c:delete val="1"/>
        <c:axPos val="l"/>
        <c:numFmt formatCode=""/>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30363A"/>
                </a:solidFill>
                <a:latin typeface="Lato"/>
                <a:ea typeface="Lato"/>
                <a:cs typeface="Lato"/>
              </a:defRPr>
            </a:pPr>
          </a:p>
        </c:txPr>
        <c:crossAx val="48650112"/>
        <c:crosses val="autoZero"/>
        <c:crossBetween val="between"/>
      </c:valAx>
      <c:spPr>
        <a:solidFill xmlns:a="http://schemas.openxmlformats.org/drawingml/2006/main">
          <a:srgbClr val="FFFFFF">
            <a:alpha val="0"/>
          </a:srgbClr>
        </a:solidFill>
      </c:spPr>
    </c:plotArea>
    <c:plotVisOnly val="1"/>
  </c:chart>
</c:chartSpace>
</file>

<file path=ppt/slides/charts/chart2.xml><?xml version="1.0" encoding="utf-8"?>
<c:chartSpace xmlns:c="http://schemas.openxmlformats.org/drawingml/2006/chart">
  <c:lang val="en-US"/>
  <c:roundedCorners val="0"/>
  <c:chart>
    <c:view3D/>
    <c:plotArea>
      <c:layout/>
      <c:barChart>
        <c:barDir val="col"/>
        <c:varyColors val="0"/>
        <c:ser>
          <c:idx val="0"/>
          <c:order val="0"/>
          <c:tx>
            <c:v>Average judge score</c:v>
          </c:tx>
          <c:spPr>
            <a:solidFill xmlns:a="http://schemas.openxmlformats.org/drawingml/2006/main">
              <a:srgbClr val="27C47D"/>
            </a:solidFill>
            <a:ln xmlns:a="http://schemas.openxmlformats.org/drawingml/2006/main" w="9525">
              <a:solidFill>
                <a:srgbClr val="27C47D"/>
              </a:solidFill>
              <a:prstDash val="solid"/>
            </a:ln>
          </c:spPr>
          <c:cat>
            <c:strLit>
              <c:ptCount val="6"/>
              <c:pt idx="0">
                <c:v>ZS V1</c:v>
              </c:pt>
              <c:pt idx="1">
                <c:v>ZS V2</c:v>
              </c:pt>
              <c:pt idx="2">
                <c:v>FS V1</c:v>
              </c:pt>
              <c:pt idx="3">
                <c:v>FS V2</c:v>
              </c:pt>
              <c:pt idx="4">
                <c:v>CoT V1</c:v>
              </c:pt>
              <c:pt idx="5">
                <c:v>CoT V2</c:v>
              </c:pt>
            </c:strLit>
          </c:cat>
          <c:val>
            <c:numLit>
              <c:formatCode/>
              <c:ptCount val="6"/>
              <c:pt idx="0">
                <c:v>91.6</c:v>
              </c:pt>
              <c:pt idx="1">
                <c:v>85.8</c:v>
              </c:pt>
              <c:pt idx="2">
                <c:v>90.95</c:v>
              </c:pt>
              <c:pt idx="3">
                <c:v>88.5</c:v>
              </c:pt>
              <c:pt idx="4">
                <c:v>89.45</c:v>
              </c:pt>
              <c:pt idx="5">
                <c:v>91.05</c:v>
              </c:pt>
            </c:numLit>
          </c:val>
        </c:ser>
        <c:dLbls>
          <c:txPr>
            <a:bodyPr xmlns:a="http://schemas.openxmlformats.org/drawingml/2006/main" anchorCtr="1"/>
            <a:lstStyle xmlns:a="http://schemas.openxmlformats.org/drawingml/2006/main"/>
            <a:p xmlns:a="http://schemas.openxmlformats.org/drawingml/2006/main">
              <a:pPr>
                <a:defRPr sz="825">
                  <a:solidFill>
                    <a:srgbClr val="30363A"/>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30363A"/>
                </a:solidFill>
                <a:latin typeface="Lato"/>
                <a:ea typeface="Lato"/>
                <a:cs typeface="Lato"/>
              </a:defRPr>
            </a:pPr>
          </a:p>
        </c:txPr>
        <c:crossAx val="48672768"/>
        <c:crosses val="autoZero"/>
        <c:lblAlgn val="ctr"/>
        <c:lblOffset val="100"/>
        <c:noMultiLvlLbl val="0"/>
      </c:catAx>
      <c:valAx>
        <c:axId val="48672768"/>
        <c:scaling>
          <c:orientation val="minMax"/>
        </c:scaling>
        <c:delete val="1"/>
        <c:axPos val="l"/>
        <c:numFmt formatCode=""/>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30363A"/>
                </a:solidFill>
                <a:latin typeface="Lato"/>
                <a:ea typeface="Lato"/>
                <a:cs typeface="Lato"/>
              </a:defRPr>
            </a:pPr>
          </a:p>
        </c:txPr>
        <c:crossAx val="48650112"/>
        <c:crosses val="autoZero"/>
        <c:crossBetween val="between"/>
      </c:valAx>
      <c:spPr>
        <a:solidFill xmlns:a="http://schemas.openxmlformats.org/drawingml/2006/main">
          <a:srgbClr val="FFFFFF">
            <a:alpha val="0"/>
          </a:srgbClr>
        </a:solidFill>
      </c:spPr>
    </c:plotArea>
    <c:plotVisOnly val="1"/>
  </c:chart>
</c:chartSpace>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0154"/>
        </a:solidFill>
        <a:effectLst/>
      </p:bgPr>
    </p:bg>
    <p:spTree>
      <p:nvGrpSpPr>
        <p:cNvPr id="1" name=""/>
        <p:cNvGrpSpPr/>
        <p:nvPr/>
      </p:nvGrpSpPr>
      <p:grpSpPr>
        <a:xfrm/>
      </p:grpSpPr>
      <p:sp>
        <p:nvSpPr>
          <p:cNvPr id="2" name=""/>
          <p:cNvSpPr/>
          <p:nvPr/>
        </p:nvSpPr>
        <p:spPr>
          <a:xfrm>
            <a:off x="8896350" y="0"/>
            <a:ext cx="3295650" cy="6858000"/>
          </a:xfrm>
          <a:prstGeom prst="rect">
            <a:avLst/>
          </a:prstGeom>
          <a:solidFill>
            <a:srgbClr val="3B528B"/>
          </a:solidFill>
          <a:ln w="0">
            <a:noFill/>
          </a:ln>
        </p:spPr>
      </p:sp>
      <p:sp>
        <p:nvSpPr>
          <p:cNvPr id="3" name=""/>
          <p:cNvSpPr/>
          <p:nvPr/>
        </p:nvSpPr>
        <p:spPr>
          <a:xfrm>
            <a:off x="9525000" y="0"/>
            <a:ext cx="2667000" cy="6858000"/>
          </a:xfrm>
          <a:prstGeom prst="rect">
            <a:avLst/>
          </a:prstGeom>
          <a:solidFill>
            <a:srgbClr val="21918C"/>
          </a:solidFill>
          <a:ln w="0">
            <a:noFill/>
          </a:ln>
        </p:spPr>
      </p:sp>
      <p:sp>
        <p:nvSpPr>
          <p:cNvPr id="4" name=""/>
          <p:cNvSpPr/>
          <p:nvPr/>
        </p:nvSpPr>
        <p:spPr>
          <a:xfrm>
            <a:off x="10610850" y="0"/>
            <a:ext cx="1581150" cy="6858000"/>
          </a:xfrm>
          <a:prstGeom prst="rect">
            <a:avLst/>
          </a:prstGeom>
          <a:solidFill>
            <a:srgbClr val="5EC962"/>
          </a:solidFill>
          <a:ln w="0">
            <a:noFill/>
          </a:ln>
        </p:spPr>
      </p:sp>
      <p:sp>
        <p:nvSpPr>
          <p:cNvPr id="5" name=""/>
          <p:cNvSpPr/>
          <p:nvPr/>
        </p:nvSpPr>
        <p:spPr>
          <a:xfrm>
            <a:off x="11563350" y="0"/>
            <a:ext cx="628650" cy="6858000"/>
          </a:xfrm>
          <a:prstGeom prst="rect">
            <a:avLst/>
          </a:prstGeom>
          <a:solidFill>
            <a:srgbClr val="FDE725"/>
          </a:solidFill>
          <a:ln w="0">
            <a:noFill/>
          </a:ln>
        </p:spPr>
      </p:sp>
      <p:sp>
        <p:nvSpPr>
          <p:cNvPr id="6" name=""/>
          <p:cNvSpPr/>
          <p:nvPr/>
        </p:nvSpPr>
        <p:spPr>
          <a:xfrm>
            <a:off x="571500" y="419100"/>
            <a:ext cx="4000500" cy="285750"/>
          </a:xfrm>
          <a:prstGeom prst="rect">
            <a:avLst/>
          </a:prstGeom>
          <a:noFill/>
          <a:ln w="0">
            <a:noFill/>
          </a:ln>
        </p:spPr>
        <p:txBody>
          <a:bodyPr lIns="0" tIns="0" rIns="0" bIns="0" anchor="t" wrap="square"/>
          <a:lstStyle/>
          <a:p>
            <a:pPr algn="l">
              <a:defRPr sz="1200" b="1">
                <a:solidFill>
                  <a:srgbClr val="D8D2E9"/>
                </a:solidFill>
                <a:latin typeface="Arial"/>
              </a:defRPr>
            </a:pPr>
            <a:r>
              <a:rPr sz="1200" b="1">
                <a:solidFill>
                  <a:srgbClr val="D8D2E9"/>
                </a:solidFill>
                <a:latin typeface="Arial"/>
              </a:rPr>
              <a:t>Capstone Presentation</a:t>
            </a:r>
          </a:p>
        </p:txBody>
      </p:sp>
      <p:sp>
        <p:nvSpPr>
          <p:cNvPr id="7" name=""/>
          <p:cNvSpPr/>
          <p:nvPr/>
        </p:nvSpPr>
        <p:spPr>
          <a:xfrm>
            <a:off x="571500" y="1123950"/>
            <a:ext cx="7239000" cy="1257300"/>
          </a:xfrm>
          <a:prstGeom prst="rect">
            <a:avLst/>
          </a:prstGeom>
          <a:noFill/>
          <a:ln w="0">
            <a:noFill/>
          </a:ln>
        </p:spPr>
        <p:txBody>
          <a:bodyPr lIns="0" tIns="0" rIns="0" bIns="0" anchor="t" wrap="square"/>
          <a:lstStyle/>
          <a:p>
            <a:pPr algn="l">
              <a:defRPr sz="3900" b="1">
                <a:solidFill>
                  <a:srgbClr val="F8F7EF"/>
                </a:solidFill>
                <a:latin typeface="Arial"/>
              </a:defRPr>
            </a:pPr>
            <a:r>
              <a:rPr sz="3900" b="1">
                <a:solidFill>
                  <a:srgbClr val="F8F7EF"/>
                </a:solidFill>
                <a:latin typeface="Arial"/>
              </a:rPr>
              <a:t>Real-Time Retail Feedback Intelligence</a:t>
            </a:r>
          </a:p>
        </p:txBody>
      </p:sp>
      <p:sp>
        <p:nvSpPr>
          <p:cNvPr id="8" name=""/>
          <p:cNvSpPr/>
          <p:nvPr/>
        </p:nvSpPr>
        <p:spPr>
          <a:xfrm>
            <a:off x="609600" y="2609850"/>
            <a:ext cx="6896100" cy="685800"/>
          </a:xfrm>
          <a:prstGeom prst="rect">
            <a:avLst/>
          </a:prstGeom>
          <a:noFill/>
          <a:ln w="0">
            <a:noFill/>
          </a:ln>
        </p:spPr>
        <p:txBody>
          <a:bodyPr lIns="0" tIns="0" rIns="0" bIns="0" anchor="t" wrap="square"/>
          <a:lstStyle/>
          <a:p>
            <a:pPr algn="l">
              <a:defRPr sz="1650">
                <a:solidFill>
                  <a:srgbClr val="E9E6F6"/>
                </a:solidFill>
                <a:latin typeface="Arial"/>
              </a:defRPr>
            </a:pPr>
            <a:r>
              <a:rPr sz="1650">
                <a:solidFill>
                  <a:srgbClr val="E9E6F6"/>
                </a:solidFill>
                <a:latin typeface="Arial"/>
              </a:rPr>
              <a:t>Turning ChicStyle customer reviews into faster routing, product fixes, and safer follow-up.</a:t>
            </a:r>
          </a:p>
        </p:txBody>
      </p:sp>
      <p:sp>
        <p:nvSpPr>
          <p:cNvPr id="9" name=""/>
          <p:cNvSpPr/>
          <p:nvPr/>
        </p:nvSpPr>
        <p:spPr>
          <a:xfrm>
            <a:off x="590550" y="3638550"/>
            <a:ext cx="1543050" cy="38100"/>
          </a:xfrm>
          <a:prstGeom prst="rect">
            <a:avLst/>
          </a:prstGeom>
          <a:solidFill>
            <a:srgbClr val="FDE725"/>
          </a:solidFill>
          <a:ln w="0">
            <a:noFill/>
          </a:ln>
        </p:spPr>
      </p:sp>
      <p:sp>
        <p:nvSpPr>
          <p:cNvPr id="10" name=""/>
          <p:cNvSpPr/>
          <p:nvPr/>
        </p:nvSpPr>
        <p:spPr>
          <a:xfrm>
            <a:off x="609600" y="4095750"/>
            <a:ext cx="2019300" cy="1257300"/>
          </a:xfrm>
          <a:prstGeom prst="rect">
            <a:avLst/>
          </a:prstGeom>
          <a:solidFill>
            <a:srgbClr val="2A2149"/>
          </a:solidFill>
          <a:ln w="9525">
            <a:solidFill>
              <a:srgbClr val="5D5275"/>
            </a:solidFill>
          </a:ln>
        </p:spPr>
      </p:sp>
      <p:sp>
        <p:nvSpPr>
          <p:cNvPr id="11" name=""/>
          <p:cNvSpPr/>
          <p:nvPr/>
        </p:nvSpPr>
        <p:spPr>
          <a:xfrm>
            <a:off x="781050" y="4248150"/>
            <a:ext cx="1676400" cy="419100"/>
          </a:xfrm>
          <a:prstGeom prst="rect">
            <a:avLst/>
          </a:prstGeom>
          <a:noFill/>
          <a:ln w="0">
            <a:noFill/>
          </a:ln>
        </p:spPr>
        <p:txBody>
          <a:bodyPr lIns="0" tIns="0" rIns="0" bIns="0" anchor="t" wrap="square"/>
          <a:lstStyle/>
          <a:p>
            <a:pPr algn="l">
              <a:defRPr sz="2550" b="1">
                <a:solidFill>
                  <a:srgbClr val="FDE725"/>
                </a:solidFill>
                <a:latin typeface="Arial"/>
              </a:defRPr>
            </a:pPr>
            <a:r>
              <a:rPr sz="2550" b="1">
                <a:solidFill>
                  <a:srgbClr val="FDE725"/>
                </a:solidFill>
                <a:latin typeface="Arial"/>
              </a:rPr>
              <a:t>22,641</a:t>
            </a:r>
          </a:p>
        </p:txBody>
      </p:sp>
      <p:sp>
        <p:nvSpPr>
          <p:cNvPr id="12" name=""/>
          <p:cNvSpPr/>
          <p:nvPr/>
        </p:nvSpPr>
        <p:spPr>
          <a:xfrm>
            <a:off x="781050" y="4686300"/>
            <a:ext cx="1676400" cy="571500"/>
          </a:xfrm>
          <a:prstGeom prst="rect">
            <a:avLst/>
          </a:prstGeom>
          <a:noFill/>
          <a:ln w="0">
            <a:noFill/>
          </a:ln>
        </p:spPr>
        <p:txBody>
          <a:bodyPr lIns="0" tIns="0" rIns="0" bIns="0" anchor="t" wrap="square"/>
          <a:lstStyle/>
          <a:p>
            <a:pPr algn="l">
              <a:defRPr sz="1050">
                <a:solidFill>
                  <a:srgbClr val="D8D2E9"/>
                </a:solidFill>
                <a:latin typeface="Arial"/>
              </a:defRPr>
            </a:pPr>
            <a:r>
              <a:rPr sz="1050">
                <a:solidFill>
                  <a:srgbClr val="D8D2E9"/>
                </a:solidFill>
                <a:latin typeface="Arial"/>
              </a:rPr>
              <a:t>usable review texts after cleaning</a:t>
            </a:r>
          </a:p>
        </p:txBody>
      </p:sp>
      <p:sp>
        <p:nvSpPr>
          <p:cNvPr id="13" name=""/>
          <p:cNvSpPr/>
          <p:nvPr/>
        </p:nvSpPr>
        <p:spPr>
          <a:xfrm>
            <a:off x="2857500" y="4095750"/>
            <a:ext cx="2019300" cy="1257300"/>
          </a:xfrm>
          <a:prstGeom prst="rect">
            <a:avLst/>
          </a:prstGeom>
          <a:solidFill>
            <a:srgbClr val="2A2149"/>
          </a:solidFill>
          <a:ln w="9525">
            <a:solidFill>
              <a:srgbClr val="5D5275"/>
            </a:solidFill>
          </a:ln>
        </p:spPr>
      </p:sp>
      <p:sp>
        <p:nvSpPr>
          <p:cNvPr id="14" name=""/>
          <p:cNvSpPr/>
          <p:nvPr/>
        </p:nvSpPr>
        <p:spPr>
          <a:xfrm>
            <a:off x="3028950" y="4248150"/>
            <a:ext cx="1676400" cy="419100"/>
          </a:xfrm>
          <a:prstGeom prst="rect">
            <a:avLst/>
          </a:prstGeom>
          <a:noFill/>
          <a:ln w="0">
            <a:noFill/>
          </a:ln>
        </p:spPr>
        <p:txBody>
          <a:bodyPr lIns="0" tIns="0" rIns="0" bIns="0" anchor="t" wrap="square"/>
          <a:lstStyle/>
          <a:p>
            <a:pPr algn="l">
              <a:defRPr sz="2850" b="1">
                <a:solidFill>
                  <a:srgbClr val="5EC962"/>
                </a:solidFill>
                <a:latin typeface="Arial"/>
              </a:defRPr>
            </a:pPr>
            <a:r>
              <a:rPr sz="2850" b="1">
                <a:solidFill>
                  <a:srgbClr val="5EC962"/>
                </a:solidFill>
                <a:latin typeface="Arial"/>
              </a:rPr>
              <a:t>0.92</a:t>
            </a:r>
          </a:p>
        </p:txBody>
      </p:sp>
      <p:sp>
        <p:nvSpPr>
          <p:cNvPr id="15" name=""/>
          <p:cNvSpPr/>
          <p:nvPr/>
        </p:nvSpPr>
        <p:spPr>
          <a:xfrm>
            <a:off x="3028950" y="4686300"/>
            <a:ext cx="1676400" cy="571500"/>
          </a:xfrm>
          <a:prstGeom prst="rect">
            <a:avLst/>
          </a:prstGeom>
          <a:noFill/>
          <a:ln w="0">
            <a:noFill/>
          </a:ln>
        </p:spPr>
        <p:txBody>
          <a:bodyPr lIns="0" tIns="0" rIns="0" bIns="0" anchor="t" wrap="square"/>
          <a:lstStyle/>
          <a:p>
            <a:pPr algn="l">
              <a:defRPr sz="1050">
                <a:solidFill>
                  <a:srgbClr val="D8D2E9"/>
                </a:solidFill>
                <a:latin typeface="Arial"/>
              </a:defRPr>
            </a:pPr>
            <a:r>
              <a:rPr sz="1050">
                <a:solidFill>
                  <a:srgbClr val="D8D2E9"/>
                </a:solidFill>
                <a:latin typeface="Arial"/>
              </a:rPr>
              <a:t>top prompt score: CoT V2 and FS V2</a:t>
            </a:r>
          </a:p>
        </p:txBody>
      </p:sp>
      <p:sp>
        <p:nvSpPr>
          <p:cNvPr id="16" name=""/>
          <p:cNvSpPr/>
          <p:nvPr/>
        </p:nvSpPr>
        <p:spPr>
          <a:xfrm>
            <a:off x="5105400" y="4095750"/>
            <a:ext cx="2019300" cy="1257300"/>
          </a:xfrm>
          <a:prstGeom prst="rect">
            <a:avLst/>
          </a:prstGeom>
          <a:solidFill>
            <a:srgbClr val="2A2149"/>
          </a:solidFill>
          <a:ln w="9525">
            <a:solidFill>
              <a:srgbClr val="5D5275"/>
            </a:solidFill>
          </a:ln>
        </p:spPr>
      </p:sp>
      <p:sp>
        <p:nvSpPr>
          <p:cNvPr id="17" name=""/>
          <p:cNvSpPr/>
          <p:nvPr/>
        </p:nvSpPr>
        <p:spPr>
          <a:xfrm>
            <a:off x="5276850" y="4248150"/>
            <a:ext cx="1676400" cy="419100"/>
          </a:xfrm>
          <a:prstGeom prst="rect">
            <a:avLst/>
          </a:prstGeom>
          <a:noFill/>
          <a:ln w="0">
            <a:noFill/>
          </a:ln>
        </p:spPr>
        <p:txBody>
          <a:bodyPr lIns="0" tIns="0" rIns="0" bIns="0" anchor="t" wrap="square"/>
          <a:lstStyle/>
          <a:p>
            <a:pPr algn="l">
              <a:defRPr sz="2850" b="1">
                <a:solidFill>
                  <a:srgbClr val="21918C"/>
                </a:solidFill>
                <a:latin typeface="Arial"/>
              </a:defRPr>
            </a:pPr>
            <a:r>
              <a:rPr sz="2850" b="1">
                <a:solidFill>
                  <a:srgbClr val="21918C"/>
                </a:solidFill>
                <a:latin typeface="Arial"/>
              </a:rPr>
              <a:t>8 min</a:t>
            </a:r>
          </a:p>
        </p:txBody>
      </p:sp>
      <p:sp>
        <p:nvSpPr>
          <p:cNvPr id="18" name=""/>
          <p:cNvSpPr/>
          <p:nvPr/>
        </p:nvSpPr>
        <p:spPr>
          <a:xfrm>
            <a:off x="5276850" y="4686300"/>
            <a:ext cx="1676400" cy="571500"/>
          </a:xfrm>
          <a:prstGeom prst="rect">
            <a:avLst/>
          </a:prstGeom>
          <a:noFill/>
          <a:ln w="0">
            <a:noFill/>
          </a:ln>
        </p:spPr>
        <p:txBody>
          <a:bodyPr lIns="0" tIns="0" rIns="0" bIns="0" anchor="t" wrap="square"/>
          <a:lstStyle/>
          <a:p>
            <a:pPr algn="l">
              <a:defRPr sz="1050">
                <a:solidFill>
                  <a:srgbClr val="D8D2E9"/>
                </a:solidFill>
                <a:latin typeface="Arial"/>
              </a:defRPr>
            </a:pPr>
            <a:r>
              <a:rPr sz="1050">
                <a:solidFill>
                  <a:srgbClr val="D8D2E9"/>
                </a:solidFill>
                <a:latin typeface="Arial"/>
              </a:rPr>
              <a:t>executive presentation target</a:t>
            </a:r>
          </a:p>
        </p:txBody>
      </p:sp>
      <p:sp>
        <p:nvSpPr>
          <p:cNvPr id="19" name=""/>
          <p:cNvSpPr/>
          <p:nvPr/>
        </p:nvSpPr>
        <p:spPr>
          <a:xfrm>
            <a:off x="609600" y="5867400"/>
            <a:ext cx="2857500" cy="266700"/>
          </a:xfrm>
          <a:prstGeom prst="rect">
            <a:avLst/>
          </a:prstGeom>
          <a:noFill/>
          <a:ln w="0">
            <a:noFill/>
          </a:ln>
        </p:spPr>
        <p:txBody>
          <a:bodyPr lIns="0" tIns="0" rIns="0" bIns="0" anchor="t" wrap="square"/>
          <a:lstStyle/>
          <a:p>
            <a:pPr algn="l">
              <a:defRPr sz="1200" b="1">
                <a:solidFill>
                  <a:srgbClr val="E9E6F6"/>
                </a:solidFill>
                <a:latin typeface="Arial"/>
              </a:defRPr>
            </a:pPr>
            <a:r>
              <a:rPr sz="1200" b="1">
                <a:solidFill>
                  <a:srgbClr val="E9E6F6"/>
                </a:solidFill>
                <a:latin typeface="Arial"/>
              </a:rPr>
              <a:t>Kelly Wyrick</a:t>
            </a:r>
          </a:p>
        </p:txBody>
      </p:sp>
      <p:sp>
        <p:nvSpPr>
          <p:cNvPr id="20"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D8D2E9"/>
                </a:solidFill>
                <a:latin typeface="Arial"/>
              </a:defRPr>
            </a:pPr>
            <a:r>
              <a:rPr sz="750">
                <a:solidFill>
                  <a:srgbClr val="D8D2E9"/>
                </a:solidFill>
                <a:latin typeface="Arial"/>
              </a:rPr>
              <a:t>Source: Final capstone notebook; Live Presentation Rubric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p:grpSpPr>
      <p:sp>
        <p:nvSpPr>
          <p:cNvPr id="2" name=""/>
          <p:cNvSpPr/>
          <p:nvPr/>
        </p:nvSpPr>
        <p:spPr>
          <a:xfrm>
            <a:off x="0" y="0"/>
            <a:ext cx="114300" cy="6858000"/>
          </a:xfrm>
          <a:prstGeom prst="rect">
            <a:avLst/>
          </a:prstGeom>
          <a:solidFill>
            <a:srgbClr val="440154"/>
          </a:solidFill>
          <a:ln w="0">
            <a:noFill/>
          </a:ln>
        </p:spPr>
      </p:sp>
      <p:sp>
        <p:nvSpPr>
          <p:cNvPr id="3" name=""/>
          <p:cNvSpPr/>
          <p:nvPr/>
        </p:nvSpPr>
        <p:spPr>
          <a:xfrm>
            <a:off x="114300" y="0"/>
            <a:ext cx="57150" cy="6858000"/>
          </a:xfrm>
          <a:prstGeom prst="rect">
            <a:avLst/>
          </a:prstGeom>
          <a:solidFill>
            <a:srgbClr val="21918C"/>
          </a:solidFill>
          <a:ln w="0">
            <a:noFill/>
          </a:ln>
        </p:spPr>
      </p:sp>
      <p:sp>
        <p:nvSpPr>
          <p:cNvPr id="4" name=""/>
          <p:cNvSpPr/>
          <p:nvPr/>
        </p:nvSpPr>
        <p:spPr>
          <a:xfrm>
            <a:off x="171450" y="0"/>
            <a:ext cx="38100" cy="6858000"/>
          </a:xfrm>
          <a:prstGeom prst="rect">
            <a:avLst/>
          </a:prstGeom>
          <a:solidFill>
            <a:srgbClr val="FDE725"/>
          </a:solidFill>
          <a:ln w="0">
            <a:noFill/>
          </a:ln>
        </p:spPr>
      </p:sp>
      <p:sp>
        <p:nvSpPr>
          <p:cNvPr id="5" name=""/>
          <p:cNvSpPr/>
          <p:nvPr/>
        </p:nvSpPr>
        <p:spPr>
          <a:xfrm>
            <a:off x="533400" y="390525"/>
            <a:ext cx="95250" cy="95250"/>
          </a:xfrm>
          <a:prstGeom prst="rect">
            <a:avLst/>
          </a:prstGeom>
          <a:solidFill>
            <a:srgbClr val="21918C"/>
          </a:solidFill>
          <a:ln w="0">
            <a:noFill/>
          </a:ln>
        </p:spPr>
      </p:sp>
      <p:sp>
        <p:nvSpPr>
          <p:cNvPr id="6" name=""/>
          <p:cNvSpPr/>
          <p:nvPr/>
        </p:nvSpPr>
        <p:spPr>
          <a:xfrm>
            <a:off x="723900" y="323850"/>
            <a:ext cx="4000500" cy="247650"/>
          </a:xfrm>
          <a:prstGeom prst="rect">
            <a:avLst/>
          </a:prstGeom>
          <a:noFill/>
          <a:ln w="0">
            <a:noFill/>
          </a:ln>
        </p:spPr>
        <p:txBody>
          <a:bodyPr lIns="0" tIns="0" rIns="0" bIns="0" anchor="mid" wrap="square"/>
          <a:lstStyle/>
          <a:p>
            <a:pPr algn="l">
              <a:defRPr sz="1050" b="1">
                <a:solidFill>
                  <a:srgbClr val="5B6370"/>
                </a:solidFill>
                <a:latin typeface="Arial"/>
              </a:defRPr>
            </a:pPr>
            <a:r>
              <a:rPr sz="1050" b="1">
                <a:solidFill>
                  <a:srgbClr val="5B6370"/>
                </a:solidFill>
                <a:latin typeface="Arial"/>
              </a:rPr>
              <a:t>KEY TAKEAWAYS</a:t>
            </a:r>
          </a:p>
        </p:txBody>
      </p:sp>
      <p:sp>
        <p:nvSpPr>
          <p:cNvPr id="7" name=""/>
          <p:cNvSpPr/>
          <p:nvPr/>
        </p:nvSpPr>
        <p:spPr>
          <a:xfrm>
            <a:off x="10687050" y="323850"/>
            <a:ext cx="876300" cy="247650"/>
          </a:xfrm>
          <a:prstGeom prst="rect">
            <a:avLst/>
          </a:prstGeom>
          <a:noFill/>
          <a:ln w="0">
            <a:noFill/>
          </a:ln>
        </p:spPr>
        <p:txBody>
          <a:bodyPr lIns="0" tIns="0" rIns="0" bIns="0" anchor="mid" wrap="square"/>
          <a:lstStyle/>
          <a:p>
            <a:pPr algn="r">
              <a:defRPr sz="975" b="1">
                <a:solidFill>
                  <a:srgbClr val="5B6370"/>
                </a:solidFill>
                <a:latin typeface="Arial"/>
              </a:defRPr>
            </a:pPr>
            <a:r>
              <a:rPr sz="975" b="1">
                <a:solidFill>
                  <a:srgbClr val="5B6370"/>
                </a:solidFill>
                <a:latin typeface="Arial"/>
              </a:rPr>
              <a:t>02 / 09</a:t>
            </a:r>
          </a:p>
        </p:txBody>
      </p:sp>
      <p:sp>
        <p:nvSpPr>
          <p:cNvPr id="8" name=""/>
          <p:cNvSpPr/>
          <p:nvPr/>
        </p:nvSpPr>
        <p:spPr>
          <a:xfrm>
            <a:off x="533400" y="781050"/>
            <a:ext cx="8572500" cy="914400"/>
          </a:xfrm>
          <a:prstGeom prst="rect">
            <a:avLst/>
          </a:prstGeom>
          <a:noFill/>
          <a:ln w="0">
            <a:noFill/>
          </a:ln>
        </p:spPr>
        <p:txBody>
          <a:bodyPr lIns="0" tIns="0" rIns="0" bIns="0" anchor="t" wrap="square"/>
          <a:lstStyle/>
          <a:p>
            <a:pPr algn="l">
              <a:defRPr sz="3150" b="1">
                <a:solidFill>
                  <a:srgbClr val="19152E"/>
                </a:solidFill>
                <a:latin typeface="Arial"/>
              </a:defRPr>
            </a:pPr>
            <a:r>
              <a:rPr sz="3150" b="1">
                <a:solidFill>
                  <a:srgbClr val="19152E"/>
                </a:solidFill>
                <a:latin typeface="Arial"/>
              </a:rPr>
              <a:t>Three takeaways for leaders.</a:t>
            </a:r>
          </a:p>
        </p:txBody>
      </p:sp>
      <p:sp>
        <p:nvSpPr>
          <p:cNvPr id="9" name=""/>
          <p:cNvSpPr/>
          <p:nvPr/>
        </p:nvSpPr>
        <p:spPr>
          <a:xfrm>
            <a:off x="552450" y="1695450"/>
            <a:ext cx="7810500" cy="514350"/>
          </a:xfrm>
          <a:prstGeom prst="rect">
            <a:avLst/>
          </a:prstGeom>
          <a:noFill/>
          <a:ln w="0">
            <a:noFill/>
          </a:ln>
        </p:spPr>
        <p:txBody>
          <a:bodyPr lIns="0" tIns="0" rIns="0" bIns="0" anchor="t" wrap="square"/>
          <a:lstStyle/>
          <a:p>
            <a:pPr algn="l">
              <a:defRPr sz="1500">
                <a:solidFill>
                  <a:srgbClr val="5B6370"/>
                </a:solidFill>
                <a:latin typeface="Arial"/>
              </a:defRPr>
            </a:pPr>
            <a:r>
              <a:rPr sz="1500">
                <a:solidFill>
                  <a:srgbClr val="5B6370"/>
                </a:solidFill>
                <a:latin typeface="Arial"/>
              </a:rPr>
              <a:t>The model turns high-volume review text into routing signals, not final decisions.</a:t>
            </a:r>
          </a:p>
        </p:txBody>
      </p:sp>
      <p:sp>
        <p:nvSpPr>
          <p:cNvPr id="10" name=""/>
          <p:cNvSpPr/>
          <p:nvPr/>
        </p:nvSpPr>
        <p:spPr>
          <a:xfrm>
            <a:off x="552450" y="2590800"/>
            <a:ext cx="3333750" cy="2038350"/>
          </a:xfrm>
          <a:prstGeom prst="rect">
            <a:avLst/>
          </a:prstGeom>
          <a:solidFill>
            <a:srgbClr val="FFFFFF"/>
          </a:solidFill>
          <a:ln w="9525">
            <a:solidFill>
              <a:srgbClr val="D8D5C7"/>
            </a:solidFill>
          </a:ln>
        </p:spPr>
      </p:sp>
      <p:sp>
        <p:nvSpPr>
          <p:cNvPr id="11" name=""/>
          <p:cNvSpPr/>
          <p:nvPr/>
        </p:nvSpPr>
        <p:spPr>
          <a:xfrm>
            <a:off x="552450" y="2590800"/>
            <a:ext cx="57150" cy="2038350"/>
          </a:xfrm>
          <a:prstGeom prst="rect">
            <a:avLst/>
          </a:prstGeom>
          <a:solidFill>
            <a:srgbClr val="5EC962"/>
          </a:solidFill>
          <a:ln w="0">
            <a:noFill/>
          </a:ln>
        </p:spPr>
      </p:sp>
      <p:sp>
        <p:nvSpPr>
          <p:cNvPr id="12" name=""/>
          <p:cNvSpPr/>
          <p:nvPr/>
        </p:nvSpPr>
        <p:spPr>
          <a:xfrm>
            <a:off x="762000" y="2762250"/>
            <a:ext cx="2914650" cy="304800"/>
          </a:xfrm>
          <a:prstGeom prst="rect">
            <a:avLst/>
          </a:prstGeom>
          <a:noFill/>
          <a:ln w="0">
            <a:noFill/>
          </a:ln>
        </p:spPr>
        <p:txBody>
          <a:bodyPr lIns="0" tIns="0" rIns="0" bIns="0" anchor="t" wrap="square"/>
          <a:lstStyle/>
          <a:p>
            <a:pPr algn="l">
              <a:defRPr sz="1500" b="1">
                <a:solidFill>
                  <a:srgbClr val="19152E"/>
                </a:solidFill>
                <a:latin typeface="Arial"/>
              </a:defRPr>
            </a:pPr>
            <a:r>
              <a:rPr sz="1500" b="1">
                <a:solidFill>
                  <a:srgbClr val="19152E"/>
                </a:solidFill>
                <a:latin typeface="Arial"/>
              </a:rPr>
              <a:t>1. Reviews skew positive</a:t>
            </a:r>
          </a:p>
        </p:txBody>
      </p:sp>
      <p:sp>
        <p:nvSpPr>
          <p:cNvPr id="13" name=""/>
          <p:cNvSpPr/>
          <p:nvPr/>
        </p:nvSpPr>
        <p:spPr>
          <a:xfrm>
            <a:off x="762000" y="3124200"/>
            <a:ext cx="2914650" cy="140970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77.1% are 4 or 5 stars. The business value is in the lower-rated and mixed reviews.</a:t>
            </a:r>
          </a:p>
        </p:txBody>
      </p:sp>
      <p:sp>
        <p:nvSpPr>
          <p:cNvPr id="14" name=""/>
          <p:cNvSpPr/>
          <p:nvPr/>
        </p:nvSpPr>
        <p:spPr>
          <a:xfrm>
            <a:off x="4429125" y="2590800"/>
            <a:ext cx="3333750" cy="2038350"/>
          </a:xfrm>
          <a:prstGeom prst="rect">
            <a:avLst/>
          </a:prstGeom>
          <a:solidFill>
            <a:srgbClr val="FFFFFF"/>
          </a:solidFill>
          <a:ln w="9525">
            <a:solidFill>
              <a:srgbClr val="D8D5C7"/>
            </a:solidFill>
          </a:ln>
        </p:spPr>
      </p:sp>
      <p:sp>
        <p:nvSpPr>
          <p:cNvPr id="15" name=""/>
          <p:cNvSpPr/>
          <p:nvPr/>
        </p:nvSpPr>
        <p:spPr>
          <a:xfrm>
            <a:off x="4429125" y="2590800"/>
            <a:ext cx="57150" cy="2038350"/>
          </a:xfrm>
          <a:prstGeom prst="rect">
            <a:avLst/>
          </a:prstGeom>
          <a:solidFill>
            <a:srgbClr val="21918C"/>
          </a:solidFill>
          <a:ln w="0">
            <a:noFill/>
          </a:ln>
        </p:spPr>
      </p:sp>
      <p:sp>
        <p:nvSpPr>
          <p:cNvPr id="16" name=""/>
          <p:cNvSpPr/>
          <p:nvPr/>
        </p:nvSpPr>
        <p:spPr>
          <a:xfrm>
            <a:off x="4638675" y="2762250"/>
            <a:ext cx="2914650" cy="304800"/>
          </a:xfrm>
          <a:prstGeom prst="rect">
            <a:avLst/>
          </a:prstGeom>
          <a:noFill/>
          <a:ln w="0">
            <a:noFill/>
          </a:ln>
        </p:spPr>
        <p:txBody>
          <a:bodyPr lIns="0" tIns="0" rIns="0" bIns="0" anchor="t" wrap="square"/>
          <a:lstStyle/>
          <a:p>
            <a:pPr algn="l">
              <a:defRPr sz="1500" b="1">
                <a:solidFill>
                  <a:srgbClr val="19152E"/>
                </a:solidFill>
                <a:latin typeface="Arial"/>
              </a:defRPr>
            </a:pPr>
            <a:r>
              <a:rPr sz="1500" b="1">
                <a:solidFill>
                  <a:srgbClr val="19152E"/>
                </a:solidFill>
                <a:latin typeface="Arial"/>
              </a:rPr>
              <a:t>2. CoT V2 is the pilot prompt</a:t>
            </a:r>
          </a:p>
        </p:txBody>
      </p:sp>
      <p:sp>
        <p:nvSpPr>
          <p:cNvPr id="17" name=""/>
          <p:cNvSpPr/>
          <p:nvPr/>
        </p:nvSpPr>
        <p:spPr>
          <a:xfrm>
            <a:off x="4638675" y="3124200"/>
            <a:ext cx="2914650" cy="140970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CoT V2 and Few-Shot V2 tied at 0.92. CoT V2 fits urgency routing best.</a:t>
            </a:r>
          </a:p>
        </p:txBody>
      </p:sp>
      <p:sp>
        <p:nvSpPr>
          <p:cNvPr id="18" name=""/>
          <p:cNvSpPr/>
          <p:nvPr/>
        </p:nvSpPr>
        <p:spPr>
          <a:xfrm>
            <a:off x="8305800" y="2590800"/>
            <a:ext cx="3333750" cy="2038350"/>
          </a:xfrm>
          <a:prstGeom prst="rect">
            <a:avLst/>
          </a:prstGeom>
          <a:solidFill>
            <a:srgbClr val="FFFFFF"/>
          </a:solidFill>
          <a:ln w="9525">
            <a:solidFill>
              <a:srgbClr val="D8D5C7"/>
            </a:solidFill>
          </a:ln>
        </p:spPr>
      </p:sp>
      <p:sp>
        <p:nvSpPr>
          <p:cNvPr id="19" name=""/>
          <p:cNvSpPr/>
          <p:nvPr/>
        </p:nvSpPr>
        <p:spPr>
          <a:xfrm>
            <a:off x="8305800" y="2590800"/>
            <a:ext cx="57150" cy="2038350"/>
          </a:xfrm>
          <a:prstGeom prst="rect">
            <a:avLst/>
          </a:prstGeom>
          <a:solidFill>
            <a:srgbClr val="FDE725"/>
          </a:solidFill>
          <a:ln w="0">
            <a:noFill/>
          </a:ln>
        </p:spPr>
      </p:sp>
      <p:sp>
        <p:nvSpPr>
          <p:cNvPr id="20" name=""/>
          <p:cNvSpPr/>
          <p:nvPr/>
        </p:nvSpPr>
        <p:spPr>
          <a:xfrm>
            <a:off x="8515350" y="2762250"/>
            <a:ext cx="2914650" cy="304800"/>
          </a:xfrm>
          <a:prstGeom prst="rect">
            <a:avLst/>
          </a:prstGeom>
          <a:noFill/>
          <a:ln w="0">
            <a:noFill/>
          </a:ln>
        </p:spPr>
        <p:txBody>
          <a:bodyPr lIns="0" tIns="0" rIns="0" bIns="0" anchor="t" wrap="square"/>
          <a:lstStyle/>
          <a:p>
            <a:pPr algn="l">
              <a:defRPr sz="1500" b="1">
                <a:solidFill>
                  <a:srgbClr val="19152E"/>
                </a:solidFill>
                <a:latin typeface="Arial"/>
              </a:defRPr>
            </a:pPr>
            <a:r>
              <a:rPr sz="1500" b="1">
                <a:solidFill>
                  <a:srgbClr val="19152E"/>
                </a:solidFill>
                <a:latin typeface="Arial"/>
              </a:rPr>
              <a:t>3. Use triage + human review</a:t>
            </a:r>
          </a:p>
        </p:txBody>
      </p:sp>
      <p:sp>
        <p:nvSpPr>
          <p:cNvPr id="21" name=""/>
          <p:cNvSpPr/>
          <p:nvPr/>
        </p:nvSpPr>
        <p:spPr>
          <a:xfrm>
            <a:off x="8515350" y="3124200"/>
            <a:ext cx="2914650" cy="140970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80% recommendation accuracy. High-risk customer messages still need review.</a:t>
            </a:r>
          </a:p>
        </p:txBody>
      </p:sp>
      <p:sp>
        <p:nvSpPr>
          <p:cNvPr id="22" name=""/>
          <p:cNvSpPr/>
          <p:nvPr/>
        </p:nvSpPr>
        <p:spPr>
          <a:xfrm>
            <a:off x="1466850" y="5048250"/>
            <a:ext cx="2000250" cy="876300"/>
          </a:xfrm>
          <a:prstGeom prst="rect">
            <a:avLst/>
          </a:prstGeom>
          <a:solidFill>
            <a:srgbClr val="FFFFFF"/>
          </a:solidFill>
          <a:ln w="9525">
            <a:solidFill>
              <a:srgbClr val="D8D5C7"/>
            </a:solidFill>
          </a:ln>
        </p:spPr>
      </p:sp>
      <p:sp>
        <p:nvSpPr>
          <p:cNvPr id="23" name=""/>
          <p:cNvSpPr/>
          <p:nvPr/>
        </p:nvSpPr>
        <p:spPr>
          <a:xfrm>
            <a:off x="1638300" y="5200650"/>
            <a:ext cx="1657350" cy="419100"/>
          </a:xfrm>
          <a:prstGeom prst="rect">
            <a:avLst/>
          </a:prstGeom>
          <a:noFill/>
          <a:ln w="0">
            <a:noFill/>
          </a:ln>
        </p:spPr>
        <p:txBody>
          <a:bodyPr lIns="0" tIns="0" rIns="0" bIns="0" anchor="t" wrap="square"/>
          <a:lstStyle/>
          <a:p>
            <a:pPr algn="l">
              <a:defRPr sz="2100" b="1">
                <a:solidFill>
                  <a:srgbClr val="21918C"/>
                </a:solidFill>
                <a:latin typeface="Arial"/>
              </a:defRPr>
            </a:pPr>
            <a:r>
              <a:rPr sz="2100" b="1">
                <a:solidFill>
                  <a:srgbClr val="21918C"/>
                </a:solidFill>
                <a:latin typeface="Arial"/>
              </a:rPr>
              <a:t>100%</a:t>
            </a:r>
          </a:p>
        </p:txBody>
      </p:sp>
      <p:sp>
        <p:nvSpPr>
          <p:cNvPr id="24" name=""/>
          <p:cNvSpPr/>
          <p:nvPr/>
        </p:nvSpPr>
        <p:spPr>
          <a:xfrm>
            <a:off x="1638300" y="5638800"/>
            <a:ext cx="1657350" cy="1905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parse success for all six prompt versions</a:t>
            </a:r>
          </a:p>
        </p:txBody>
      </p:sp>
      <p:sp>
        <p:nvSpPr>
          <p:cNvPr id="25" name=""/>
          <p:cNvSpPr/>
          <p:nvPr/>
        </p:nvSpPr>
        <p:spPr>
          <a:xfrm>
            <a:off x="5086350" y="5048250"/>
            <a:ext cx="2000250" cy="876300"/>
          </a:xfrm>
          <a:prstGeom prst="rect">
            <a:avLst/>
          </a:prstGeom>
          <a:solidFill>
            <a:srgbClr val="FFFFFF"/>
          </a:solidFill>
          <a:ln w="9525">
            <a:solidFill>
              <a:srgbClr val="D8D5C7"/>
            </a:solidFill>
          </a:ln>
        </p:spPr>
      </p:sp>
      <p:sp>
        <p:nvSpPr>
          <p:cNvPr id="26" name=""/>
          <p:cNvSpPr/>
          <p:nvPr/>
        </p:nvSpPr>
        <p:spPr>
          <a:xfrm>
            <a:off x="5257800" y="5200650"/>
            <a:ext cx="1657350" cy="419100"/>
          </a:xfrm>
          <a:prstGeom prst="rect">
            <a:avLst/>
          </a:prstGeom>
          <a:noFill/>
          <a:ln w="0">
            <a:noFill/>
          </a:ln>
        </p:spPr>
        <p:txBody>
          <a:bodyPr lIns="0" tIns="0" rIns="0" bIns="0" anchor="t" wrap="square"/>
          <a:lstStyle/>
          <a:p>
            <a:pPr algn="l">
              <a:defRPr sz="2100" b="1">
                <a:solidFill>
                  <a:srgbClr val="3B528B"/>
                </a:solidFill>
                <a:latin typeface="Arial"/>
              </a:defRPr>
            </a:pPr>
            <a:r>
              <a:rPr sz="2100" b="1">
                <a:solidFill>
                  <a:srgbClr val="3B528B"/>
                </a:solidFill>
                <a:latin typeface="Arial"/>
              </a:rPr>
              <a:t>50</a:t>
            </a:r>
          </a:p>
        </p:txBody>
      </p:sp>
      <p:sp>
        <p:nvSpPr>
          <p:cNvPr id="27" name=""/>
          <p:cNvSpPr/>
          <p:nvPr/>
        </p:nvSpPr>
        <p:spPr>
          <a:xfrm>
            <a:off x="5257800" y="5638800"/>
            <a:ext cx="1657350" cy="1905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reviews used in final prompt comparison</a:t>
            </a:r>
          </a:p>
        </p:txBody>
      </p:sp>
      <p:sp>
        <p:nvSpPr>
          <p:cNvPr id="28" name=""/>
          <p:cNvSpPr/>
          <p:nvPr/>
        </p:nvSpPr>
        <p:spPr>
          <a:xfrm>
            <a:off x="8705850" y="5048250"/>
            <a:ext cx="2000250" cy="876300"/>
          </a:xfrm>
          <a:prstGeom prst="rect">
            <a:avLst/>
          </a:prstGeom>
          <a:solidFill>
            <a:srgbClr val="FFFFFF"/>
          </a:solidFill>
          <a:ln w="9525">
            <a:solidFill>
              <a:srgbClr val="D8D5C7"/>
            </a:solidFill>
          </a:ln>
        </p:spPr>
      </p:sp>
      <p:sp>
        <p:nvSpPr>
          <p:cNvPr id="29" name=""/>
          <p:cNvSpPr/>
          <p:nvPr/>
        </p:nvSpPr>
        <p:spPr>
          <a:xfrm>
            <a:off x="8877300" y="5200650"/>
            <a:ext cx="1657350" cy="419100"/>
          </a:xfrm>
          <a:prstGeom prst="rect">
            <a:avLst/>
          </a:prstGeom>
          <a:noFill/>
          <a:ln w="0">
            <a:noFill/>
          </a:ln>
        </p:spPr>
        <p:txBody>
          <a:bodyPr lIns="0" tIns="0" rIns="0" bIns="0" anchor="t" wrap="square"/>
          <a:lstStyle/>
          <a:p>
            <a:pPr algn="l">
              <a:defRPr sz="2100" b="1">
                <a:solidFill>
                  <a:srgbClr val="440154"/>
                </a:solidFill>
                <a:latin typeface="Arial"/>
              </a:defRPr>
            </a:pPr>
            <a:r>
              <a:rPr sz="2100" b="1">
                <a:solidFill>
                  <a:srgbClr val="440154"/>
                </a:solidFill>
                <a:latin typeface="Arial"/>
              </a:rPr>
              <a:t>7 fields</a:t>
            </a:r>
          </a:p>
        </p:txBody>
      </p:sp>
      <p:sp>
        <p:nvSpPr>
          <p:cNvPr id="30" name=""/>
          <p:cNvSpPr/>
          <p:nvPr/>
        </p:nvSpPr>
        <p:spPr>
          <a:xfrm>
            <a:off x="8877300" y="5638800"/>
            <a:ext cx="1657350" cy="1905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structured output for routing and action</a:t>
            </a:r>
          </a:p>
        </p:txBody>
      </p:sp>
      <p:sp>
        <p:nvSpPr>
          <p:cNvPr id="31"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7D817B"/>
                </a:solidFill>
                <a:latin typeface="Arial"/>
              </a:defRPr>
            </a:pPr>
            <a:r>
              <a:rPr sz="750">
                <a:solidFill>
                  <a:srgbClr val="7D817B"/>
                </a:solidFill>
                <a:latin typeface="Arial"/>
              </a:rPr>
              <a:t>Source: Final capstone notebook; Live Presentation Rubric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p:grpSpPr>
      <p:sp>
        <p:nvSpPr>
          <p:cNvPr id="2" name=""/>
          <p:cNvSpPr/>
          <p:nvPr/>
        </p:nvSpPr>
        <p:spPr>
          <a:xfrm>
            <a:off x="0" y="0"/>
            <a:ext cx="114300" cy="6858000"/>
          </a:xfrm>
          <a:prstGeom prst="rect">
            <a:avLst/>
          </a:prstGeom>
          <a:solidFill>
            <a:srgbClr val="440154"/>
          </a:solidFill>
          <a:ln w="0">
            <a:noFill/>
          </a:ln>
        </p:spPr>
      </p:sp>
      <p:sp>
        <p:nvSpPr>
          <p:cNvPr id="3" name=""/>
          <p:cNvSpPr/>
          <p:nvPr/>
        </p:nvSpPr>
        <p:spPr>
          <a:xfrm>
            <a:off x="114300" y="0"/>
            <a:ext cx="57150" cy="6858000"/>
          </a:xfrm>
          <a:prstGeom prst="rect">
            <a:avLst/>
          </a:prstGeom>
          <a:solidFill>
            <a:srgbClr val="21918C"/>
          </a:solidFill>
          <a:ln w="0">
            <a:noFill/>
          </a:ln>
        </p:spPr>
      </p:sp>
      <p:sp>
        <p:nvSpPr>
          <p:cNvPr id="4" name=""/>
          <p:cNvSpPr/>
          <p:nvPr/>
        </p:nvSpPr>
        <p:spPr>
          <a:xfrm>
            <a:off x="171450" y="0"/>
            <a:ext cx="38100" cy="6858000"/>
          </a:xfrm>
          <a:prstGeom prst="rect">
            <a:avLst/>
          </a:prstGeom>
          <a:solidFill>
            <a:srgbClr val="FDE725"/>
          </a:solidFill>
          <a:ln w="0">
            <a:noFill/>
          </a:ln>
        </p:spPr>
      </p:sp>
      <p:sp>
        <p:nvSpPr>
          <p:cNvPr id="5" name=""/>
          <p:cNvSpPr/>
          <p:nvPr/>
        </p:nvSpPr>
        <p:spPr>
          <a:xfrm>
            <a:off x="533400" y="390525"/>
            <a:ext cx="95250" cy="95250"/>
          </a:xfrm>
          <a:prstGeom prst="rect">
            <a:avLst/>
          </a:prstGeom>
          <a:solidFill>
            <a:srgbClr val="21918C"/>
          </a:solidFill>
          <a:ln w="0">
            <a:noFill/>
          </a:ln>
        </p:spPr>
      </p:sp>
      <p:sp>
        <p:nvSpPr>
          <p:cNvPr id="6" name=""/>
          <p:cNvSpPr/>
          <p:nvPr/>
        </p:nvSpPr>
        <p:spPr>
          <a:xfrm>
            <a:off x="723900" y="323850"/>
            <a:ext cx="4000500" cy="247650"/>
          </a:xfrm>
          <a:prstGeom prst="rect">
            <a:avLst/>
          </a:prstGeom>
          <a:noFill/>
          <a:ln w="0">
            <a:noFill/>
          </a:ln>
        </p:spPr>
        <p:txBody>
          <a:bodyPr lIns="0" tIns="0" rIns="0" bIns="0" anchor="mid" wrap="square"/>
          <a:lstStyle/>
          <a:p>
            <a:pPr algn="l">
              <a:defRPr sz="1050" b="1">
                <a:solidFill>
                  <a:srgbClr val="5B6370"/>
                </a:solidFill>
                <a:latin typeface="Arial"/>
              </a:defRPr>
            </a:pPr>
            <a:r>
              <a:rPr sz="1050" b="1">
                <a:solidFill>
                  <a:srgbClr val="5B6370"/>
                </a:solidFill>
                <a:latin typeface="Arial"/>
              </a:rPr>
              <a:t>PROBLEM DEFINITION</a:t>
            </a:r>
          </a:p>
        </p:txBody>
      </p:sp>
      <p:sp>
        <p:nvSpPr>
          <p:cNvPr id="7" name=""/>
          <p:cNvSpPr/>
          <p:nvPr/>
        </p:nvSpPr>
        <p:spPr>
          <a:xfrm>
            <a:off x="10687050" y="323850"/>
            <a:ext cx="876300" cy="247650"/>
          </a:xfrm>
          <a:prstGeom prst="rect">
            <a:avLst/>
          </a:prstGeom>
          <a:noFill/>
          <a:ln w="0">
            <a:noFill/>
          </a:ln>
        </p:spPr>
        <p:txBody>
          <a:bodyPr lIns="0" tIns="0" rIns="0" bIns="0" anchor="mid" wrap="square"/>
          <a:lstStyle/>
          <a:p>
            <a:pPr algn="r">
              <a:defRPr sz="975" b="1">
                <a:solidFill>
                  <a:srgbClr val="5B6370"/>
                </a:solidFill>
                <a:latin typeface="Arial"/>
              </a:defRPr>
            </a:pPr>
            <a:r>
              <a:rPr sz="975" b="1">
                <a:solidFill>
                  <a:srgbClr val="5B6370"/>
                </a:solidFill>
                <a:latin typeface="Arial"/>
              </a:rPr>
              <a:t>03 / 09</a:t>
            </a:r>
          </a:p>
        </p:txBody>
      </p:sp>
      <p:sp>
        <p:nvSpPr>
          <p:cNvPr id="8" name=""/>
          <p:cNvSpPr/>
          <p:nvPr/>
        </p:nvSpPr>
        <p:spPr>
          <a:xfrm>
            <a:off x="533400" y="781050"/>
            <a:ext cx="8572500" cy="914400"/>
          </a:xfrm>
          <a:prstGeom prst="rect">
            <a:avLst/>
          </a:prstGeom>
          <a:noFill/>
          <a:ln w="0">
            <a:noFill/>
          </a:ln>
        </p:spPr>
        <p:txBody>
          <a:bodyPr lIns="0" tIns="0" rIns="0" bIns="0" anchor="t" wrap="square"/>
          <a:lstStyle/>
          <a:p>
            <a:pPr algn="l">
              <a:defRPr sz="3150" b="1">
                <a:solidFill>
                  <a:srgbClr val="19152E"/>
                </a:solidFill>
                <a:latin typeface="Arial"/>
              </a:defRPr>
            </a:pPr>
            <a:r>
              <a:rPr sz="3150" b="1">
                <a:solidFill>
                  <a:srgbClr val="19152E"/>
                </a:solidFill>
                <a:latin typeface="Arial"/>
              </a:rPr>
              <a:t>Manual review misses fast-moving nuance.</a:t>
            </a:r>
          </a:p>
        </p:txBody>
      </p:sp>
      <p:sp>
        <p:nvSpPr>
          <p:cNvPr id="9" name=""/>
          <p:cNvSpPr/>
          <p:nvPr/>
        </p:nvSpPr>
        <p:spPr>
          <a:xfrm>
            <a:off x="552450" y="1695450"/>
            <a:ext cx="7810500" cy="514350"/>
          </a:xfrm>
          <a:prstGeom prst="rect">
            <a:avLst/>
          </a:prstGeom>
          <a:noFill/>
          <a:ln w="0">
            <a:noFill/>
          </a:ln>
        </p:spPr>
        <p:txBody>
          <a:bodyPr lIns="0" tIns="0" rIns="0" bIns="0" anchor="t" wrap="square"/>
          <a:lstStyle/>
          <a:p>
            <a:pPr algn="l">
              <a:defRPr sz="1500">
                <a:solidFill>
                  <a:srgbClr val="5B6370"/>
                </a:solidFill>
                <a:latin typeface="Arial"/>
              </a:defRPr>
            </a:pPr>
            <a:r>
              <a:rPr sz="1500">
                <a:solidFill>
                  <a:srgbClr val="5B6370"/>
                </a:solidFill>
                <a:latin typeface="Arial"/>
              </a:rPr>
              <a:t>Mixed reviews contain both praise and risk, so sentiment alone is not enough.</a:t>
            </a:r>
          </a:p>
        </p:txBody>
      </p:sp>
      <p:sp>
        <p:nvSpPr>
          <p:cNvPr id="10" name=""/>
          <p:cNvSpPr/>
          <p:nvPr/>
        </p:nvSpPr>
        <p:spPr>
          <a:xfrm>
            <a:off x="552450" y="2457450"/>
            <a:ext cx="4972050" cy="2743200"/>
          </a:xfrm>
          <a:prstGeom prst="rect">
            <a:avLst/>
          </a:prstGeom>
          <a:solidFill>
            <a:srgbClr val="FFFFFF"/>
          </a:solidFill>
          <a:ln w="9525">
            <a:solidFill>
              <a:srgbClr val="D8D5C7"/>
            </a:solidFill>
          </a:ln>
        </p:spPr>
      </p:sp>
      <p:sp>
        <p:nvSpPr>
          <p:cNvPr id="11" name=""/>
          <p:cNvSpPr/>
          <p:nvPr/>
        </p:nvSpPr>
        <p:spPr>
          <a:xfrm>
            <a:off x="800100" y="2686050"/>
            <a:ext cx="3619500" cy="323850"/>
          </a:xfrm>
          <a:prstGeom prst="rect">
            <a:avLst/>
          </a:prstGeom>
          <a:noFill/>
          <a:ln w="0">
            <a:noFill/>
          </a:ln>
        </p:spPr>
        <p:txBody>
          <a:bodyPr lIns="0" tIns="0" rIns="0" bIns="0" anchor="t" wrap="square"/>
          <a:lstStyle/>
          <a:p>
            <a:pPr algn="l">
              <a:defRPr sz="1800" b="1">
                <a:solidFill>
                  <a:srgbClr val="19152E"/>
                </a:solidFill>
                <a:latin typeface="Arial"/>
              </a:defRPr>
            </a:pPr>
            <a:r>
              <a:rPr sz="1800" b="1">
                <a:solidFill>
                  <a:srgbClr val="19152E"/>
                </a:solidFill>
                <a:latin typeface="Arial"/>
              </a:rPr>
              <a:t>What breaks today</a:t>
            </a:r>
          </a:p>
        </p:txBody>
      </p:sp>
      <p:sp>
        <p:nvSpPr>
          <p:cNvPr id="12" name=""/>
          <p:cNvSpPr/>
          <p:nvPr/>
        </p:nvSpPr>
        <p:spPr>
          <a:xfrm>
            <a:off x="800100" y="3105150"/>
            <a:ext cx="990600" cy="19050"/>
          </a:xfrm>
          <a:prstGeom prst="rect">
            <a:avLst/>
          </a:prstGeom>
          <a:solidFill>
            <a:srgbClr val="440154"/>
          </a:solidFill>
          <a:ln w="0">
            <a:noFill/>
          </a:ln>
        </p:spPr>
      </p:sp>
      <p:sp>
        <p:nvSpPr>
          <p:cNvPr id="13" name=""/>
          <p:cNvSpPr/>
          <p:nvPr/>
        </p:nvSpPr>
        <p:spPr>
          <a:xfrm>
            <a:off x="800100" y="3371850"/>
            <a:ext cx="4267200" cy="1257300"/>
          </a:xfrm>
          <a:prstGeom prst="rect">
            <a:avLst/>
          </a:prstGeom>
          <a:noFill/>
          <a:ln w="0">
            <a:noFill/>
          </a:ln>
        </p:spPr>
        <p:txBody>
          <a:bodyPr lIns="0" tIns="0" rIns="0" bIns="0" anchor="t" wrap="square"/>
          <a:lstStyle/>
          <a:p>
            <a:pPr algn="l">
              <a:defRPr sz="1350">
                <a:solidFill>
                  <a:srgbClr val="5B6370"/>
                </a:solidFill>
                <a:latin typeface="Arial"/>
              </a:defRPr>
            </a:pPr>
            <a:r>
              <a:rPr sz="1350">
                <a:solidFill>
                  <a:srgbClr val="5B6370"/>
                </a:solidFill>
                <a:latin typeface="Arial"/>
              </a:rPr>
              <a:t>- Teams cannot read every review quickly.</a:t>
            </a:r>
          </a:p>
          <a:p>
            <a:pPr algn="l">
              <a:defRPr sz="1350">
                <a:solidFill>
                  <a:srgbClr val="5B6370"/>
                </a:solidFill>
                <a:latin typeface="Arial"/>
              </a:defRPr>
            </a:pPr>
            <a:r>
              <a:rPr sz="1350">
                <a:solidFill>
                  <a:srgbClr val="5B6370"/>
                </a:solidFill>
                <a:latin typeface="Arial"/>
              </a:rPr>
              <a:t>- Positive/negative labels miss the why.</a:t>
            </a:r>
          </a:p>
          <a:p>
            <a:pPr algn="l">
              <a:defRPr sz="1350">
                <a:solidFill>
                  <a:srgbClr val="5B6370"/>
                </a:solidFill>
                <a:latin typeface="Arial"/>
              </a:defRPr>
            </a:pPr>
            <a:r>
              <a:rPr sz="1350">
                <a:solidFill>
                  <a:srgbClr val="5B6370"/>
                </a:solidFill>
                <a:latin typeface="Arial"/>
              </a:rPr>
              <a:t>- Late detection delays product fixes.</a:t>
            </a:r>
          </a:p>
        </p:txBody>
      </p:sp>
      <p:sp>
        <p:nvSpPr>
          <p:cNvPr id="14" name=""/>
          <p:cNvSpPr/>
          <p:nvPr/>
        </p:nvSpPr>
        <p:spPr>
          <a:xfrm>
            <a:off x="6172200" y="2457450"/>
            <a:ext cx="4972050" cy="2743200"/>
          </a:xfrm>
          <a:prstGeom prst="rect">
            <a:avLst/>
          </a:prstGeom>
          <a:solidFill>
            <a:srgbClr val="F1F3ED"/>
          </a:solidFill>
          <a:ln w="9525">
            <a:solidFill>
              <a:srgbClr val="D8D5C7"/>
            </a:solidFill>
          </a:ln>
        </p:spPr>
      </p:sp>
      <p:sp>
        <p:nvSpPr>
          <p:cNvPr id="15" name=""/>
          <p:cNvSpPr/>
          <p:nvPr/>
        </p:nvSpPr>
        <p:spPr>
          <a:xfrm>
            <a:off x="6419850" y="2686050"/>
            <a:ext cx="3905250" cy="323850"/>
          </a:xfrm>
          <a:prstGeom prst="rect">
            <a:avLst/>
          </a:prstGeom>
          <a:noFill/>
          <a:ln w="0">
            <a:noFill/>
          </a:ln>
        </p:spPr>
        <p:txBody>
          <a:bodyPr lIns="0" tIns="0" rIns="0" bIns="0" anchor="t" wrap="square"/>
          <a:lstStyle/>
          <a:p>
            <a:pPr algn="l">
              <a:defRPr sz="1800" b="1">
                <a:solidFill>
                  <a:srgbClr val="19152E"/>
                </a:solidFill>
                <a:latin typeface="Arial"/>
              </a:defRPr>
            </a:pPr>
            <a:r>
              <a:rPr sz="1800" b="1">
                <a:solidFill>
                  <a:srgbClr val="19152E"/>
                </a:solidFill>
                <a:latin typeface="Arial"/>
              </a:rPr>
              <a:t>Example of a mixed signal</a:t>
            </a:r>
          </a:p>
        </p:txBody>
      </p:sp>
      <p:sp>
        <p:nvSpPr>
          <p:cNvPr id="16" name=""/>
          <p:cNvSpPr/>
          <p:nvPr/>
        </p:nvSpPr>
        <p:spPr>
          <a:xfrm>
            <a:off x="6419850" y="3105150"/>
            <a:ext cx="990600" cy="19050"/>
          </a:xfrm>
          <a:prstGeom prst="rect">
            <a:avLst/>
          </a:prstGeom>
          <a:solidFill>
            <a:srgbClr val="21918C"/>
          </a:solidFill>
          <a:ln w="0">
            <a:noFill/>
          </a:ln>
        </p:spPr>
      </p:sp>
      <p:sp>
        <p:nvSpPr>
          <p:cNvPr id="17" name=""/>
          <p:cNvSpPr/>
          <p:nvPr/>
        </p:nvSpPr>
        <p:spPr>
          <a:xfrm>
            <a:off x="6419850" y="3390900"/>
            <a:ext cx="4171950" cy="685800"/>
          </a:xfrm>
          <a:prstGeom prst="rect">
            <a:avLst/>
          </a:prstGeom>
          <a:noFill/>
          <a:ln w="0">
            <a:noFill/>
          </a:ln>
        </p:spPr>
        <p:txBody>
          <a:bodyPr lIns="0" tIns="0" rIns="0" bIns="0" anchor="t" wrap="square"/>
          <a:lstStyle/>
          <a:p>
            <a:pPr algn="l">
              <a:defRPr sz="1650" b="1">
                <a:solidFill>
                  <a:srgbClr val="440154"/>
                </a:solidFill>
                <a:latin typeface="Arial"/>
              </a:defRPr>
            </a:pPr>
            <a:r>
              <a:rPr sz="1650" b="1">
                <a:solidFill>
                  <a:srgbClr val="440154"/>
                </a:solidFill>
                <a:latin typeface="Arial"/>
              </a:rPr>
              <a:t>"The dress is cute, but the fit is off and the color does not match the photo."</a:t>
            </a:r>
          </a:p>
        </p:txBody>
      </p:sp>
      <p:sp>
        <p:nvSpPr>
          <p:cNvPr id="18" name=""/>
          <p:cNvSpPr/>
          <p:nvPr/>
        </p:nvSpPr>
        <p:spPr>
          <a:xfrm>
            <a:off x="6419850" y="4305300"/>
            <a:ext cx="4095750" cy="609600"/>
          </a:xfrm>
          <a:prstGeom prst="rect">
            <a:avLst/>
          </a:prstGeom>
          <a:noFill/>
          <a:ln w="0">
            <a:noFill/>
          </a:ln>
        </p:spPr>
        <p:txBody>
          <a:bodyPr lIns="0" tIns="0" rIns="0" bIns="0" anchor="t" wrap="square"/>
          <a:lstStyle/>
          <a:p>
            <a:pPr algn="l">
              <a:defRPr sz="1275">
                <a:solidFill>
                  <a:srgbClr val="5B6370"/>
                </a:solidFill>
                <a:latin typeface="Arial"/>
              </a:defRPr>
            </a:pPr>
            <a:r>
              <a:rPr sz="1275">
                <a:solidFill>
                  <a:srgbClr val="5B6370"/>
                </a:solidFill>
                <a:latin typeface="Arial"/>
              </a:rPr>
              <a:t>The system must capture both the emotion and the business action.</a:t>
            </a:r>
          </a:p>
        </p:txBody>
      </p:sp>
      <p:sp>
        <p:nvSpPr>
          <p:cNvPr id="19" name=""/>
          <p:cNvSpPr/>
          <p:nvPr/>
        </p:nvSpPr>
        <p:spPr>
          <a:xfrm>
            <a:off x="2209800" y="5581650"/>
            <a:ext cx="7239000" cy="514350"/>
          </a:xfrm>
          <a:prstGeom prst="rect">
            <a:avLst/>
          </a:prstGeom>
          <a:solidFill>
            <a:srgbClr val="440154"/>
          </a:solidFill>
          <a:ln w="9525">
            <a:solidFill>
              <a:srgbClr val="440154"/>
            </a:solidFill>
          </a:ln>
        </p:spPr>
      </p:sp>
      <p:sp>
        <p:nvSpPr>
          <p:cNvPr id="20" name=""/>
          <p:cNvSpPr/>
          <p:nvPr/>
        </p:nvSpPr>
        <p:spPr>
          <a:xfrm>
            <a:off x="2419350" y="5753100"/>
            <a:ext cx="6819900" cy="304800"/>
          </a:xfrm>
          <a:prstGeom prst="rect">
            <a:avLst/>
          </a:prstGeom>
          <a:noFill/>
          <a:ln w="0">
            <a:noFill/>
          </a:ln>
        </p:spPr>
        <p:txBody>
          <a:bodyPr lIns="0" tIns="0" rIns="0" bIns="0" anchor="t" wrap="square"/>
          <a:lstStyle/>
          <a:p>
            <a:pPr algn="l">
              <a:defRPr sz="1200" b="1">
                <a:solidFill>
                  <a:srgbClr val="FDE725"/>
                </a:solidFill>
                <a:latin typeface="Arial"/>
              </a:defRPr>
            </a:pPr>
            <a:r>
              <a:rPr sz="1200" b="1">
                <a:solidFill>
                  <a:srgbClr val="FDE725"/>
                </a:solidFill>
                <a:latin typeface="Arial"/>
              </a:rPr>
              <a:t>Plain-language goal</a:t>
            </a:r>
          </a:p>
        </p:txBody>
      </p:sp>
      <p:sp>
        <p:nvSpPr>
          <p:cNvPr id="21" name=""/>
          <p:cNvSpPr/>
          <p:nvPr/>
        </p:nvSpPr>
        <p:spPr>
          <a:xfrm>
            <a:off x="2419350" y="6115050"/>
            <a:ext cx="6819900" cy="-114300"/>
          </a:xfrm>
          <a:prstGeom prst="rect">
            <a:avLst/>
          </a:prstGeom>
          <a:noFill/>
          <a:ln w="0">
            <a:noFill/>
          </a:ln>
        </p:spPr>
        <p:txBody>
          <a:bodyPr lIns="0" tIns="0" rIns="0" bIns="0" anchor="t" wrap="square"/>
          <a:lstStyle/>
          <a:p>
            <a:pPr algn="l">
              <a:defRPr sz="1050">
                <a:solidFill>
                  <a:srgbClr val="F8F7EF"/>
                </a:solidFill>
                <a:latin typeface="Arial"/>
              </a:defRPr>
            </a:pPr>
            <a:r>
              <a:rPr sz="1050">
                <a:solidFill>
                  <a:srgbClr val="F8F7EF"/>
                </a:solidFill>
                <a:latin typeface="Arial"/>
              </a:rPr>
              <a:t>Turn review text into a prioritized action queue.</a:t>
            </a:r>
          </a:p>
        </p:txBody>
      </p:sp>
      <p:sp>
        <p:nvSpPr>
          <p:cNvPr id="22"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7D817B"/>
                </a:solidFill>
                <a:latin typeface="Arial"/>
              </a:defRPr>
            </a:pPr>
            <a:r>
              <a:rPr sz="750">
                <a:solidFill>
                  <a:srgbClr val="7D817B"/>
                </a:solidFill>
                <a:latin typeface="Arial"/>
              </a:rPr>
              <a:t>Source: Final capstone notebook; Live Presentation Rubric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p:grpSpPr>
      <p:sp>
        <p:nvSpPr>
          <p:cNvPr id="2" name=""/>
          <p:cNvSpPr/>
          <p:nvPr/>
        </p:nvSpPr>
        <p:spPr>
          <a:xfrm>
            <a:off x="0" y="0"/>
            <a:ext cx="114300" cy="6858000"/>
          </a:xfrm>
          <a:prstGeom prst="rect">
            <a:avLst/>
          </a:prstGeom>
          <a:solidFill>
            <a:srgbClr val="440154"/>
          </a:solidFill>
          <a:ln w="0">
            <a:noFill/>
          </a:ln>
        </p:spPr>
      </p:sp>
      <p:sp>
        <p:nvSpPr>
          <p:cNvPr id="3" name=""/>
          <p:cNvSpPr/>
          <p:nvPr/>
        </p:nvSpPr>
        <p:spPr>
          <a:xfrm>
            <a:off x="114300" y="0"/>
            <a:ext cx="57150" cy="6858000"/>
          </a:xfrm>
          <a:prstGeom prst="rect">
            <a:avLst/>
          </a:prstGeom>
          <a:solidFill>
            <a:srgbClr val="21918C"/>
          </a:solidFill>
          <a:ln w="0">
            <a:noFill/>
          </a:ln>
        </p:spPr>
      </p:sp>
      <p:sp>
        <p:nvSpPr>
          <p:cNvPr id="4" name=""/>
          <p:cNvSpPr/>
          <p:nvPr/>
        </p:nvSpPr>
        <p:spPr>
          <a:xfrm>
            <a:off x="171450" y="0"/>
            <a:ext cx="38100" cy="6858000"/>
          </a:xfrm>
          <a:prstGeom prst="rect">
            <a:avLst/>
          </a:prstGeom>
          <a:solidFill>
            <a:srgbClr val="FDE725"/>
          </a:solidFill>
          <a:ln w="0">
            <a:noFill/>
          </a:ln>
        </p:spPr>
      </p:sp>
      <p:sp>
        <p:nvSpPr>
          <p:cNvPr id="5" name=""/>
          <p:cNvSpPr/>
          <p:nvPr/>
        </p:nvSpPr>
        <p:spPr>
          <a:xfrm>
            <a:off x="533400" y="390525"/>
            <a:ext cx="95250" cy="95250"/>
          </a:xfrm>
          <a:prstGeom prst="rect">
            <a:avLst/>
          </a:prstGeom>
          <a:solidFill>
            <a:srgbClr val="21918C"/>
          </a:solidFill>
          <a:ln w="0">
            <a:noFill/>
          </a:ln>
        </p:spPr>
      </p:sp>
      <p:sp>
        <p:nvSpPr>
          <p:cNvPr id="6" name=""/>
          <p:cNvSpPr/>
          <p:nvPr/>
        </p:nvSpPr>
        <p:spPr>
          <a:xfrm>
            <a:off x="723900" y="323850"/>
            <a:ext cx="4000500" cy="247650"/>
          </a:xfrm>
          <a:prstGeom prst="rect">
            <a:avLst/>
          </a:prstGeom>
          <a:noFill/>
          <a:ln w="0">
            <a:noFill/>
          </a:ln>
        </p:spPr>
        <p:txBody>
          <a:bodyPr lIns="0" tIns="0" rIns="0" bIns="0" anchor="mid" wrap="square"/>
          <a:lstStyle/>
          <a:p>
            <a:pPr algn="l">
              <a:defRPr sz="1050" b="1">
                <a:solidFill>
                  <a:srgbClr val="5B6370"/>
                </a:solidFill>
                <a:latin typeface="Arial"/>
              </a:defRPr>
            </a:pPr>
            <a:r>
              <a:rPr sz="1050" b="1">
                <a:solidFill>
                  <a:srgbClr val="5B6370"/>
                </a:solidFill>
                <a:latin typeface="Arial"/>
              </a:rPr>
              <a:t>SOLUTION DESIGN</a:t>
            </a:r>
          </a:p>
        </p:txBody>
      </p:sp>
      <p:sp>
        <p:nvSpPr>
          <p:cNvPr id="7" name=""/>
          <p:cNvSpPr/>
          <p:nvPr/>
        </p:nvSpPr>
        <p:spPr>
          <a:xfrm>
            <a:off x="10687050" y="323850"/>
            <a:ext cx="876300" cy="247650"/>
          </a:xfrm>
          <a:prstGeom prst="rect">
            <a:avLst/>
          </a:prstGeom>
          <a:noFill/>
          <a:ln w="0">
            <a:noFill/>
          </a:ln>
        </p:spPr>
        <p:txBody>
          <a:bodyPr lIns="0" tIns="0" rIns="0" bIns="0" anchor="mid" wrap="square"/>
          <a:lstStyle/>
          <a:p>
            <a:pPr algn="r">
              <a:defRPr sz="975" b="1">
                <a:solidFill>
                  <a:srgbClr val="5B6370"/>
                </a:solidFill>
                <a:latin typeface="Arial"/>
              </a:defRPr>
            </a:pPr>
            <a:r>
              <a:rPr sz="975" b="1">
                <a:solidFill>
                  <a:srgbClr val="5B6370"/>
                </a:solidFill>
                <a:latin typeface="Arial"/>
              </a:rPr>
              <a:t>04 / 09</a:t>
            </a:r>
          </a:p>
        </p:txBody>
      </p:sp>
      <p:sp>
        <p:nvSpPr>
          <p:cNvPr id="8" name=""/>
          <p:cNvSpPr/>
          <p:nvPr/>
        </p:nvSpPr>
        <p:spPr>
          <a:xfrm>
            <a:off x="533400" y="781050"/>
            <a:ext cx="8572500" cy="914400"/>
          </a:xfrm>
          <a:prstGeom prst="rect">
            <a:avLst/>
          </a:prstGeom>
          <a:noFill/>
          <a:ln w="0">
            <a:noFill/>
          </a:ln>
        </p:spPr>
        <p:txBody>
          <a:bodyPr lIns="0" tIns="0" rIns="0" bIns="0" anchor="t" wrap="square"/>
          <a:lstStyle/>
          <a:p>
            <a:pPr algn="l">
              <a:defRPr sz="3150" b="1">
                <a:solidFill>
                  <a:srgbClr val="19152E"/>
                </a:solidFill>
                <a:latin typeface="Arial"/>
              </a:defRPr>
            </a:pPr>
            <a:r>
              <a:rPr sz="3150" b="1">
                <a:solidFill>
                  <a:srgbClr val="19152E"/>
                </a:solidFill>
                <a:latin typeface="Arial"/>
              </a:rPr>
              <a:t>Solution output: seven fields for routing and action.</a:t>
            </a:r>
          </a:p>
        </p:txBody>
      </p:sp>
      <p:sp>
        <p:nvSpPr>
          <p:cNvPr id="9" name=""/>
          <p:cNvSpPr/>
          <p:nvPr/>
        </p:nvSpPr>
        <p:spPr>
          <a:xfrm>
            <a:off x="552450" y="1695450"/>
            <a:ext cx="7810500" cy="514350"/>
          </a:xfrm>
          <a:prstGeom prst="rect">
            <a:avLst/>
          </a:prstGeom>
          <a:noFill/>
          <a:ln w="0">
            <a:noFill/>
          </a:ln>
        </p:spPr>
        <p:txBody>
          <a:bodyPr lIns="0" tIns="0" rIns="0" bIns="0" anchor="t" wrap="square"/>
          <a:lstStyle/>
          <a:p>
            <a:pPr algn="l">
              <a:defRPr sz="1500">
                <a:solidFill>
                  <a:srgbClr val="5B6370"/>
                </a:solidFill>
                <a:latin typeface="Arial"/>
              </a:defRPr>
            </a:pPr>
            <a:r>
              <a:rPr sz="1500">
                <a:solidFill>
                  <a:srgbClr val="5B6370"/>
                </a:solidFill>
                <a:latin typeface="Arial"/>
              </a:rPr>
              <a:t>Each review becomes a compact record the business can filter, route, and monitor.</a:t>
            </a:r>
          </a:p>
        </p:txBody>
      </p:sp>
      <p:sp>
        <p:nvSpPr>
          <p:cNvPr id="10" name=""/>
          <p:cNvSpPr/>
          <p:nvPr/>
        </p:nvSpPr>
        <p:spPr>
          <a:xfrm>
            <a:off x="552450" y="2419350"/>
            <a:ext cx="3371850" cy="1162050"/>
          </a:xfrm>
          <a:prstGeom prst="rect">
            <a:avLst/>
          </a:prstGeom>
          <a:solidFill>
            <a:srgbClr val="FFFFFF"/>
          </a:solidFill>
          <a:ln w="9525">
            <a:solidFill>
              <a:srgbClr val="D8D5C7"/>
            </a:solidFill>
          </a:ln>
        </p:spPr>
      </p:sp>
      <p:sp>
        <p:nvSpPr>
          <p:cNvPr id="11" name=""/>
          <p:cNvSpPr/>
          <p:nvPr/>
        </p:nvSpPr>
        <p:spPr>
          <a:xfrm>
            <a:off x="552450" y="2419350"/>
            <a:ext cx="57150" cy="1162050"/>
          </a:xfrm>
          <a:prstGeom prst="rect">
            <a:avLst/>
          </a:prstGeom>
          <a:solidFill>
            <a:srgbClr val="440154"/>
          </a:solidFill>
          <a:ln w="0">
            <a:noFill/>
          </a:ln>
        </p:spPr>
      </p:sp>
      <p:sp>
        <p:nvSpPr>
          <p:cNvPr id="12" name=""/>
          <p:cNvSpPr/>
          <p:nvPr/>
        </p:nvSpPr>
        <p:spPr>
          <a:xfrm>
            <a:off x="762000" y="2590800"/>
            <a:ext cx="2952750" cy="304800"/>
          </a:xfrm>
          <a:prstGeom prst="rect">
            <a:avLst/>
          </a:prstGeom>
          <a:noFill/>
          <a:ln w="0">
            <a:noFill/>
          </a:ln>
        </p:spPr>
        <p:txBody>
          <a:bodyPr lIns="0" tIns="0" rIns="0" bIns="0" anchor="t" wrap="square"/>
          <a:lstStyle/>
          <a:p>
            <a:pPr algn="l">
              <a:defRPr sz="1350" b="1">
                <a:solidFill>
                  <a:srgbClr val="19152E"/>
                </a:solidFill>
                <a:latin typeface="Arial"/>
              </a:defRPr>
            </a:pPr>
            <a:r>
              <a:rPr sz="1350" b="1">
                <a:solidFill>
                  <a:srgbClr val="19152E"/>
                </a:solidFill>
                <a:latin typeface="Arial"/>
              </a:rPr>
              <a:t>Category</a:t>
            </a:r>
          </a:p>
        </p:txBody>
      </p:sp>
      <p:sp>
        <p:nvSpPr>
          <p:cNvPr id="13" name=""/>
          <p:cNvSpPr/>
          <p:nvPr/>
        </p:nvSpPr>
        <p:spPr>
          <a:xfrm>
            <a:off x="762000" y="2952750"/>
            <a:ext cx="2952750" cy="5334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What the review is about:</a:t>
            </a:r>
          </a:p>
          <a:p>
            <a:pPr algn="l">
              <a:defRPr sz="1050">
                <a:solidFill>
                  <a:srgbClr val="5B6370"/>
                </a:solidFill>
                <a:latin typeface="Arial"/>
              </a:defRPr>
            </a:pPr>
            <a:r>
              <a:rPr sz="1050">
                <a:solidFill>
                  <a:srgbClr val="5B6370"/>
                </a:solidFill>
                <a:latin typeface="Arial"/>
              </a:rPr>
              <a:t>fit, sizing, design, color, comfort, etc.</a:t>
            </a:r>
          </a:p>
        </p:txBody>
      </p:sp>
      <p:sp>
        <p:nvSpPr>
          <p:cNvPr id="14" name=""/>
          <p:cNvSpPr/>
          <p:nvPr/>
        </p:nvSpPr>
        <p:spPr>
          <a:xfrm>
            <a:off x="4400550" y="2419350"/>
            <a:ext cx="3371850" cy="1162050"/>
          </a:xfrm>
          <a:prstGeom prst="rect">
            <a:avLst/>
          </a:prstGeom>
          <a:solidFill>
            <a:srgbClr val="FFFFFF"/>
          </a:solidFill>
          <a:ln w="9525">
            <a:solidFill>
              <a:srgbClr val="D8D5C7"/>
            </a:solidFill>
          </a:ln>
        </p:spPr>
      </p:sp>
      <p:sp>
        <p:nvSpPr>
          <p:cNvPr id="15" name=""/>
          <p:cNvSpPr/>
          <p:nvPr/>
        </p:nvSpPr>
        <p:spPr>
          <a:xfrm>
            <a:off x="4400550" y="2419350"/>
            <a:ext cx="57150" cy="1162050"/>
          </a:xfrm>
          <a:prstGeom prst="rect">
            <a:avLst/>
          </a:prstGeom>
          <a:solidFill>
            <a:srgbClr val="3B528B"/>
          </a:solidFill>
          <a:ln w="0">
            <a:noFill/>
          </a:ln>
        </p:spPr>
      </p:sp>
      <p:sp>
        <p:nvSpPr>
          <p:cNvPr id="16" name=""/>
          <p:cNvSpPr/>
          <p:nvPr/>
        </p:nvSpPr>
        <p:spPr>
          <a:xfrm>
            <a:off x="4610100" y="2590800"/>
            <a:ext cx="2952750" cy="304800"/>
          </a:xfrm>
          <a:prstGeom prst="rect">
            <a:avLst/>
          </a:prstGeom>
          <a:noFill/>
          <a:ln w="0">
            <a:noFill/>
          </a:ln>
        </p:spPr>
        <p:txBody>
          <a:bodyPr lIns="0" tIns="0" rIns="0" bIns="0" anchor="t" wrap="square"/>
          <a:lstStyle/>
          <a:p>
            <a:pPr algn="l">
              <a:defRPr sz="1350" b="1">
                <a:solidFill>
                  <a:srgbClr val="19152E"/>
                </a:solidFill>
                <a:latin typeface="Arial"/>
              </a:defRPr>
            </a:pPr>
            <a:r>
              <a:rPr sz="1350" b="1">
                <a:solidFill>
                  <a:srgbClr val="19152E"/>
                </a:solidFill>
                <a:latin typeface="Arial"/>
              </a:rPr>
              <a:t>Feedback Type</a:t>
            </a:r>
          </a:p>
        </p:txBody>
      </p:sp>
      <p:sp>
        <p:nvSpPr>
          <p:cNvPr id="17" name=""/>
          <p:cNvSpPr/>
          <p:nvPr/>
        </p:nvSpPr>
        <p:spPr>
          <a:xfrm>
            <a:off x="4610100" y="2952750"/>
            <a:ext cx="2952750" cy="53340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Product / Service / Mixed / Other</a:t>
            </a:r>
          </a:p>
        </p:txBody>
      </p:sp>
      <p:sp>
        <p:nvSpPr>
          <p:cNvPr id="18" name=""/>
          <p:cNvSpPr/>
          <p:nvPr/>
        </p:nvSpPr>
        <p:spPr>
          <a:xfrm>
            <a:off x="8248650" y="2419350"/>
            <a:ext cx="3371850" cy="1162050"/>
          </a:xfrm>
          <a:prstGeom prst="rect">
            <a:avLst/>
          </a:prstGeom>
          <a:solidFill>
            <a:srgbClr val="FFFFFF"/>
          </a:solidFill>
          <a:ln w="9525">
            <a:solidFill>
              <a:srgbClr val="D8D5C7"/>
            </a:solidFill>
          </a:ln>
        </p:spPr>
      </p:sp>
      <p:sp>
        <p:nvSpPr>
          <p:cNvPr id="19" name=""/>
          <p:cNvSpPr/>
          <p:nvPr/>
        </p:nvSpPr>
        <p:spPr>
          <a:xfrm>
            <a:off x="8248650" y="2419350"/>
            <a:ext cx="57150" cy="1162050"/>
          </a:xfrm>
          <a:prstGeom prst="rect">
            <a:avLst/>
          </a:prstGeom>
          <a:solidFill>
            <a:srgbClr val="21918C"/>
          </a:solidFill>
          <a:ln w="0">
            <a:noFill/>
          </a:ln>
        </p:spPr>
      </p:sp>
      <p:sp>
        <p:nvSpPr>
          <p:cNvPr id="20" name=""/>
          <p:cNvSpPr/>
          <p:nvPr/>
        </p:nvSpPr>
        <p:spPr>
          <a:xfrm>
            <a:off x="8458200" y="2590800"/>
            <a:ext cx="2952750" cy="304800"/>
          </a:xfrm>
          <a:prstGeom prst="rect">
            <a:avLst/>
          </a:prstGeom>
          <a:noFill/>
          <a:ln w="0">
            <a:noFill/>
          </a:ln>
        </p:spPr>
        <p:txBody>
          <a:bodyPr lIns="0" tIns="0" rIns="0" bIns="0" anchor="t" wrap="square"/>
          <a:lstStyle/>
          <a:p>
            <a:pPr algn="l">
              <a:defRPr sz="1350" b="1">
                <a:solidFill>
                  <a:srgbClr val="19152E"/>
                </a:solidFill>
                <a:latin typeface="Arial"/>
              </a:defRPr>
            </a:pPr>
            <a:r>
              <a:rPr sz="1350" b="1">
                <a:solidFill>
                  <a:srgbClr val="19152E"/>
                </a:solidFill>
                <a:latin typeface="Arial"/>
              </a:rPr>
              <a:t>Sentiment</a:t>
            </a:r>
          </a:p>
        </p:txBody>
      </p:sp>
      <p:sp>
        <p:nvSpPr>
          <p:cNvPr id="21" name=""/>
          <p:cNvSpPr/>
          <p:nvPr/>
        </p:nvSpPr>
        <p:spPr>
          <a:xfrm>
            <a:off x="8458200" y="2952750"/>
            <a:ext cx="2952750" cy="53340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Positive / Negative / Neutral / Mixed</a:t>
            </a:r>
          </a:p>
        </p:txBody>
      </p:sp>
      <p:sp>
        <p:nvSpPr>
          <p:cNvPr id="22" name=""/>
          <p:cNvSpPr/>
          <p:nvPr/>
        </p:nvSpPr>
        <p:spPr>
          <a:xfrm>
            <a:off x="552450" y="3905250"/>
            <a:ext cx="2514600" cy="1066800"/>
          </a:xfrm>
          <a:prstGeom prst="rect">
            <a:avLst/>
          </a:prstGeom>
          <a:solidFill>
            <a:srgbClr val="FFFFFF"/>
          </a:solidFill>
          <a:ln w="9525">
            <a:solidFill>
              <a:srgbClr val="D8D5C7"/>
            </a:solidFill>
          </a:ln>
        </p:spPr>
      </p:sp>
      <p:sp>
        <p:nvSpPr>
          <p:cNvPr id="23" name=""/>
          <p:cNvSpPr/>
          <p:nvPr/>
        </p:nvSpPr>
        <p:spPr>
          <a:xfrm>
            <a:off x="552450" y="3905250"/>
            <a:ext cx="57150" cy="1066800"/>
          </a:xfrm>
          <a:prstGeom prst="rect">
            <a:avLst/>
          </a:prstGeom>
          <a:solidFill>
            <a:srgbClr val="5EC962"/>
          </a:solidFill>
          <a:ln w="0">
            <a:noFill/>
          </a:ln>
        </p:spPr>
      </p:sp>
      <p:sp>
        <p:nvSpPr>
          <p:cNvPr id="24" name=""/>
          <p:cNvSpPr/>
          <p:nvPr/>
        </p:nvSpPr>
        <p:spPr>
          <a:xfrm>
            <a:off x="762000" y="4076700"/>
            <a:ext cx="2095500" cy="304800"/>
          </a:xfrm>
          <a:prstGeom prst="rect">
            <a:avLst/>
          </a:prstGeom>
          <a:noFill/>
          <a:ln w="0">
            <a:noFill/>
          </a:ln>
        </p:spPr>
        <p:txBody>
          <a:bodyPr lIns="0" tIns="0" rIns="0" bIns="0" anchor="t" wrap="square"/>
          <a:lstStyle/>
          <a:p>
            <a:pPr algn="l">
              <a:defRPr sz="1275" b="1">
                <a:solidFill>
                  <a:srgbClr val="19152E"/>
                </a:solidFill>
                <a:latin typeface="Arial"/>
              </a:defRPr>
            </a:pPr>
            <a:r>
              <a:rPr sz="1275" b="1">
                <a:solidFill>
                  <a:srgbClr val="19152E"/>
                </a:solidFill>
                <a:latin typeface="Arial"/>
              </a:rPr>
              <a:t>Urgency</a:t>
            </a:r>
          </a:p>
        </p:txBody>
      </p:sp>
      <p:sp>
        <p:nvSpPr>
          <p:cNvPr id="25" name=""/>
          <p:cNvSpPr/>
          <p:nvPr/>
        </p:nvSpPr>
        <p:spPr>
          <a:xfrm>
            <a:off x="762000" y="4438650"/>
            <a:ext cx="2095500" cy="43815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High / Medium / Low</a:t>
            </a:r>
          </a:p>
        </p:txBody>
      </p:sp>
      <p:sp>
        <p:nvSpPr>
          <p:cNvPr id="26" name=""/>
          <p:cNvSpPr/>
          <p:nvPr/>
        </p:nvSpPr>
        <p:spPr>
          <a:xfrm>
            <a:off x="3390900" y="3905250"/>
            <a:ext cx="2514600" cy="1066800"/>
          </a:xfrm>
          <a:prstGeom prst="rect">
            <a:avLst/>
          </a:prstGeom>
          <a:solidFill>
            <a:srgbClr val="FFFFFF"/>
          </a:solidFill>
          <a:ln w="9525">
            <a:solidFill>
              <a:srgbClr val="D8D5C7"/>
            </a:solidFill>
          </a:ln>
        </p:spPr>
      </p:sp>
      <p:sp>
        <p:nvSpPr>
          <p:cNvPr id="27" name=""/>
          <p:cNvSpPr/>
          <p:nvPr/>
        </p:nvSpPr>
        <p:spPr>
          <a:xfrm>
            <a:off x="3390900" y="3905250"/>
            <a:ext cx="57150" cy="1066800"/>
          </a:xfrm>
          <a:prstGeom prst="rect">
            <a:avLst/>
          </a:prstGeom>
          <a:solidFill>
            <a:srgbClr val="FDE725"/>
          </a:solidFill>
          <a:ln w="0">
            <a:noFill/>
          </a:ln>
        </p:spPr>
      </p:sp>
      <p:sp>
        <p:nvSpPr>
          <p:cNvPr id="28" name=""/>
          <p:cNvSpPr/>
          <p:nvPr/>
        </p:nvSpPr>
        <p:spPr>
          <a:xfrm>
            <a:off x="3600450" y="4076700"/>
            <a:ext cx="2095500" cy="304800"/>
          </a:xfrm>
          <a:prstGeom prst="rect">
            <a:avLst/>
          </a:prstGeom>
          <a:noFill/>
          <a:ln w="0">
            <a:noFill/>
          </a:ln>
        </p:spPr>
        <p:txBody>
          <a:bodyPr lIns="0" tIns="0" rIns="0" bIns="0" anchor="t" wrap="square"/>
          <a:lstStyle/>
          <a:p>
            <a:pPr algn="l">
              <a:defRPr sz="1275" b="1">
                <a:solidFill>
                  <a:srgbClr val="19152E"/>
                </a:solidFill>
                <a:latin typeface="Arial"/>
              </a:defRPr>
            </a:pPr>
            <a:r>
              <a:rPr sz="1275" b="1">
                <a:solidFill>
                  <a:srgbClr val="19152E"/>
                </a:solidFill>
                <a:latin typeface="Arial"/>
              </a:rPr>
              <a:t>Summary</a:t>
            </a:r>
          </a:p>
        </p:txBody>
      </p:sp>
      <p:sp>
        <p:nvSpPr>
          <p:cNvPr id="29" name=""/>
          <p:cNvSpPr/>
          <p:nvPr/>
        </p:nvSpPr>
        <p:spPr>
          <a:xfrm>
            <a:off x="3600450" y="4438650"/>
            <a:ext cx="2095500" cy="43815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Concise review summary</a:t>
            </a:r>
          </a:p>
        </p:txBody>
      </p:sp>
      <p:sp>
        <p:nvSpPr>
          <p:cNvPr id="30" name=""/>
          <p:cNvSpPr/>
          <p:nvPr/>
        </p:nvSpPr>
        <p:spPr>
          <a:xfrm>
            <a:off x="6229350" y="3905250"/>
            <a:ext cx="2514600" cy="1066800"/>
          </a:xfrm>
          <a:prstGeom prst="rect">
            <a:avLst/>
          </a:prstGeom>
          <a:solidFill>
            <a:srgbClr val="FFFFFF"/>
          </a:solidFill>
          <a:ln w="9525">
            <a:solidFill>
              <a:srgbClr val="D8D5C7"/>
            </a:solidFill>
          </a:ln>
        </p:spPr>
      </p:sp>
      <p:sp>
        <p:nvSpPr>
          <p:cNvPr id="31" name=""/>
          <p:cNvSpPr/>
          <p:nvPr/>
        </p:nvSpPr>
        <p:spPr>
          <a:xfrm>
            <a:off x="6229350" y="3905250"/>
            <a:ext cx="57150" cy="1066800"/>
          </a:xfrm>
          <a:prstGeom prst="rect">
            <a:avLst/>
          </a:prstGeom>
          <a:solidFill>
            <a:srgbClr val="21918C"/>
          </a:solidFill>
          <a:ln w="0">
            <a:noFill/>
          </a:ln>
        </p:spPr>
      </p:sp>
      <p:sp>
        <p:nvSpPr>
          <p:cNvPr id="32" name=""/>
          <p:cNvSpPr/>
          <p:nvPr/>
        </p:nvSpPr>
        <p:spPr>
          <a:xfrm>
            <a:off x="6438900" y="4076700"/>
            <a:ext cx="2095500" cy="304800"/>
          </a:xfrm>
          <a:prstGeom prst="rect">
            <a:avLst/>
          </a:prstGeom>
          <a:noFill/>
          <a:ln w="0">
            <a:noFill/>
          </a:ln>
        </p:spPr>
        <p:txBody>
          <a:bodyPr lIns="0" tIns="0" rIns="0" bIns="0" anchor="t" wrap="square"/>
          <a:lstStyle/>
          <a:p>
            <a:pPr algn="l">
              <a:defRPr sz="1275" b="1">
                <a:solidFill>
                  <a:srgbClr val="19152E"/>
                </a:solidFill>
                <a:latin typeface="Arial"/>
              </a:defRPr>
            </a:pPr>
            <a:r>
              <a:rPr sz="1275" b="1">
                <a:solidFill>
                  <a:srgbClr val="19152E"/>
                </a:solidFill>
                <a:latin typeface="Arial"/>
              </a:rPr>
              <a:t>Customer Message</a:t>
            </a:r>
          </a:p>
        </p:txBody>
      </p:sp>
      <p:sp>
        <p:nvSpPr>
          <p:cNvPr id="33" name=""/>
          <p:cNvSpPr/>
          <p:nvPr/>
        </p:nvSpPr>
        <p:spPr>
          <a:xfrm>
            <a:off x="6438900" y="4438650"/>
            <a:ext cx="2095500" cy="43815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Personalized response</a:t>
            </a:r>
          </a:p>
        </p:txBody>
      </p:sp>
      <p:sp>
        <p:nvSpPr>
          <p:cNvPr id="34" name=""/>
          <p:cNvSpPr/>
          <p:nvPr/>
        </p:nvSpPr>
        <p:spPr>
          <a:xfrm>
            <a:off x="9067800" y="3905250"/>
            <a:ext cx="2514600" cy="1066800"/>
          </a:xfrm>
          <a:prstGeom prst="rect">
            <a:avLst/>
          </a:prstGeom>
          <a:solidFill>
            <a:srgbClr val="FFFFFF"/>
          </a:solidFill>
          <a:ln w="9525">
            <a:solidFill>
              <a:srgbClr val="D8D5C7"/>
            </a:solidFill>
          </a:ln>
        </p:spPr>
      </p:sp>
      <p:sp>
        <p:nvSpPr>
          <p:cNvPr id="35" name=""/>
          <p:cNvSpPr/>
          <p:nvPr/>
        </p:nvSpPr>
        <p:spPr>
          <a:xfrm>
            <a:off x="9067800" y="3905250"/>
            <a:ext cx="57150" cy="1066800"/>
          </a:xfrm>
          <a:prstGeom prst="rect">
            <a:avLst/>
          </a:prstGeom>
          <a:solidFill>
            <a:srgbClr val="440154"/>
          </a:solidFill>
          <a:ln w="0">
            <a:noFill/>
          </a:ln>
        </p:spPr>
      </p:sp>
      <p:sp>
        <p:nvSpPr>
          <p:cNvPr id="36" name=""/>
          <p:cNvSpPr/>
          <p:nvPr/>
        </p:nvSpPr>
        <p:spPr>
          <a:xfrm>
            <a:off x="9277350" y="4076700"/>
            <a:ext cx="2095500" cy="304800"/>
          </a:xfrm>
          <a:prstGeom prst="rect">
            <a:avLst/>
          </a:prstGeom>
          <a:noFill/>
          <a:ln w="0">
            <a:noFill/>
          </a:ln>
        </p:spPr>
        <p:txBody>
          <a:bodyPr lIns="0" tIns="0" rIns="0" bIns="0" anchor="t" wrap="square"/>
          <a:lstStyle/>
          <a:p>
            <a:pPr algn="l">
              <a:defRPr sz="1275" b="1">
                <a:solidFill>
                  <a:srgbClr val="19152E"/>
                </a:solidFill>
                <a:latin typeface="Arial"/>
              </a:defRPr>
            </a:pPr>
            <a:r>
              <a:rPr sz="1275" b="1">
                <a:solidFill>
                  <a:srgbClr val="19152E"/>
                </a:solidFill>
                <a:latin typeface="Arial"/>
              </a:rPr>
              <a:t>Retail Insight</a:t>
            </a:r>
          </a:p>
        </p:txBody>
      </p:sp>
      <p:sp>
        <p:nvSpPr>
          <p:cNvPr id="37" name=""/>
          <p:cNvSpPr/>
          <p:nvPr/>
        </p:nvSpPr>
        <p:spPr>
          <a:xfrm>
            <a:off x="9277350" y="4438650"/>
            <a:ext cx="2095500" cy="43815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Recommended business action</a:t>
            </a:r>
          </a:p>
        </p:txBody>
      </p:sp>
      <p:sp>
        <p:nvSpPr>
          <p:cNvPr id="38" name=""/>
          <p:cNvSpPr/>
          <p:nvPr/>
        </p:nvSpPr>
        <p:spPr>
          <a:xfrm>
            <a:off x="2419350" y="5562600"/>
            <a:ext cx="7334250" cy="514350"/>
          </a:xfrm>
          <a:prstGeom prst="rect">
            <a:avLst/>
          </a:prstGeom>
          <a:solidFill>
            <a:srgbClr val="440154"/>
          </a:solidFill>
          <a:ln w="0">
            <a:noFill/>
          </a:ln>
        </p:spPr>
      </p:sp>
      <p:sp>
        <p:nvSpPr>
          <p:cNvPr id="39" name=""/>
          <p:cNvSpPr/>
          <p:nvPr/>
        </p:nvSpPr>
        <p:spPr>
          <a:xfrm>
            <a:off x="2686050" y="5695950"/>
            <a:ext cx="6858000" cy="266700"/>
          </a:xfrm>
          <a:prstGeom prst="rect">
            <a:avLst/>
          </a:prstGeom>
          <a:noFill/>
          <a:ln w="0">
            <a:noFill/>
          </a:ln>
        </p:spPr>
        <p:txBody>
          <a:bodyPr lIns="0" tIns="0" rIns="0" bIns="0" anchor="t" wrap="square"/>
          <a:lstStyle/>
          <a:p>
            <a:pPr algn="ctr">
              <a:defRPr sz="1500" b="1">
                <a:solidFill>
                  <a:srgbClr val="F8F7EF"/>
                </a:solidFill>
                <a:latin typeface="Arial"/>
              </a:defRPr>
            </a:pPr>
            <a:r>
              <a:rPr sz="1500" b="1">
                <a:solidFill>
                  <a:srgbClr val="F8F7EF"/>
                </a:solidFill>
                <a:latin typeface="Arial"/>
              </a:rPr>
              <a:t>Review text -&gt; structured fields -&gt; owner + action</a:t>
            </a:r>
          </a:p>
        </p:txBody>
      </p:sp>
      <p:sp>
        <p:nvSpPr>
          <p:cNvPr id="40"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7D817B"/>
                </a:solidFill>
                <a:latin typeface="Arial"/>
              </a:defRPr>
            </a:pPr>
            <a:r>
              <a:rPr sz="750">
                <a:solidFill>
                  <a:srgbClr val="7D817B"/>
                </a:solidFill>
                <a:latin typeface="Arial"/>
              </a:rPr>
              <a:t>Source: Final capstone notebook; Live Presentation Rubric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p:grpSpPr>
      <p:sp>
        <p:nvSpPr>
          <p:cNvPr id="2" name=""/>
          <p:cNvSpPr/>
          <p:nvPr/>
        </p:nvSpPr>
        <p:spPr>
          <a:xfrm>
            <a:off x="0" y="0"/>
            <a:ext cx="114300" cy="6858000"/>
          </a:xfrm>
          <a:prstGeom prst="rect">
            <a:avLst/>
          </a:prstGeom>
          <a:solidFill>
            <a:srgbClr val="440154"/>
          </a:solidFill>
          <a:ln w="0">
            <a:noFill/>
          </a:ln>
        </p:spPr>
      </p:sp>
      <p:sp>
        <p:nvSpPr>
          <p:cNvPr id="3" name=""/>
          <p:cNvSpPr/>
          <p:nvPr/>
        </p:nvSpPr>
        <p:spPr>
          <a:xfrm>
            <a:off x="114300" y="0"/>
            <a:ext cx="57150" cy="6858000"/>
          </a:xfrm>
          <a:prstGeom prst="rect">
            <a:avLst/>
          </a:prstGeom>
          <a:solidFill>
            <a:srgbClr val="21918C"/>
          </a:solidFill>
          <a:ln w="0">
            <a:noFill/>
          </a:ln>
        </p:spPr>
      </p:sp>
      <p:sp>
        <p:nvSpPr>
          <p:cNvPr id="4" name=""/>
          <p:cNvSpPr/>
          <p:nvPr/>
        </p:nvSpPr>
        <p:spPr>
          <a:xfrm>
            <a:off x="171450" y="0"/>
            <a:ext cx="38100" cy="6858000"/>
          </a:xfrm>
          <a:prstGeom prst="rect">
            <a:avLst/>
          </a:prstGeom>
          <a:solidFill>
            <a:srgbClr val="FDE725"/>
          </a:solidFill>
          <a:ln w="0">
            <a:noFill/>
          </a:ln>
        </p:spPr>
      </p:sp>
      <p:sp>
        <p:nvSpPr>
          <p:cNvPr id="5" name=""/>
          <p:cNvSpPr/>
          <p:nvPr/>
        </p:nvSpPr>
        <p:spPr>
          <a:xfrm>
            <a:off x="533400" y="390525"/>
            <a:ext cx="95250" cy="95250"/>
          </a:xfrm>
          <a:prstGeom prst="rect">
            <a:avLst/>
          </a:prstGeom>
          <a:solidFill>
            <a:srgbClr val="21918C"/>
          </a:solidFill>
          <a:ln w="0">
            <a:noFill/>
          </a:ln>
        </p:spPr>
      </p:sp>
      <p:sp>
        <p:nvSpPr>
          <p:cNvPr id="6" name=""/>
          <p:cNvSpPr/>
          <p:nvPr/>
        </p:nvSpPr>
        <p:spPr>
          <a:xfrm>
            <a:off x="723900" y="323850"/>
            <a:ext cx="4000500" cy="247650"/>
          </a:xfrm>
          <a:prstGeom prst="rect">
            <a:avLst/>
          </a:prstGeom>
          <a:noFill/>
          <a:ln w="0">
            <a:noFill/>
          </a:ln>
        </p:spPr>
        <p:txBody>
          <a:bodyPr lIns="0" tIns="0" rIns="0" bIns="0" anchor="mid" wrap="square"/>
          <a:lstStyle/>
          <a:p>
            <a:pPr algn="l">
              <a:defRPr sz="1050" b="1">
                <a:solidFill>
                  <a:srgbClr val="5B6370"/>
                </a:solidFill>
                <a:latin typeface="Arial"/>
              </a:defRPr>
            </a:pPr>
            <a:r>
              <a:rPr sz="1050" b="1">
                <a:solidFill>
                  <a:srgbClr val="5B6370"/>
                </a:solidFill>
                <a:latin typeface="Arial"/>
              </a:rPr>
              <a:t>KEY FINDINGS</a:t>
            </a:r>
          </a:p>
        </p:txBody>
      </p:sp>
      <p:sp>
        <p:nvSpPr>
          <p:cNvPr id="7" name=""/>
          <p:cNvSpPr/>
          <p:nvPr/>
        </p:nvSpPr>
        <p:spPr>
          <a:xfrm>
            <a:off x="10687050" y="323850"/>
            <a:ext cx="876300" cy="247650"/>
          </a:xfrm>
          <a:prstGeom prst="rect">
            <a:avLst/>
          </a:prstGeom>
          <a:noFill/>
          <a:ln w="0">
            <a:noFill/>
          </a:ln>
        </p:spPr>
        <p:txBody>
          <a:bodyPr lIns="0" tIns="0" rIns="0" bIns="0" anchor="mid" wrap="square"/>
          <a:lstStyle/>
          <a:p>
            <a:pPr algn="r">
              <a:defRPr sz="975" b="1">
                <a:solidFill>
                  <a:srgbClr val="5B6370"/>
                </a:solidFill>
                <a:latin typeface="Arial"/>
              </a:defRPr>
            </a:pPr>
            <a:r>
              <a:rPr sz="975" b="1">
                <a:solidFill>
                  <a:srgbClr val="5B6370"/>
                </a:solidFill>
                <a:latin typeface="Arial"/>
              </a:rPr>
              <a:t>05 / 09</a:t>
            </a:r>
          </a:p>
        </p:txBody>
      </p:sp>
      <p:sp>
        <p:nvSpPr>
          <p:cNvPr id="8" name=""/>
          <p:cNvSpPr/>
          <p:nvPr/>
        </p:nvSpPr>
        <p:spPr>
          <a:xfrm>
            <a:off x="533400" y="781050"/>
            <a:ext cx="8572500" cy="914400"/>
          </a:xfrm>
          <a:prstGeom prst="rect">
            <a:avLst/>
          </a:prstGeom>
          <a:noFill/>
          <a:ln w="0">
            <a:noFill/>
          </a:ln>
        </p:spPr>
        <p:txBody>
          <a:bodyPr lIns="0" tIns="0" rIns="0" bIns="0" anchor="t" wrap="square"/>
          <a:lstStyle/>
          <a:p>
            <a:pPr algn="l">
              <a:defRPr sz="3150" b="1">
                <a:solidFill>
                  <a:srgbClr val="19152E"/>
                </a:solidFill>
                <a:latin typeface="Arial"/>
              </a:defRPr>
            </a:pPr>
            <a:r>
              <a:rPr sz="3150" b="1">
                <a:solidFill>
                  <a:srgbClr val="19152E"/>
                </a:solidFill>
                <a:latin typeface="Arial"/>
              </a:rPr>
              <a:t>High satisfaction hides specific pain points.</a:t>
            </a:r>
          </a:p>
        </p:txBody>
      </p:sp>
      <p:sp>
        <p:nvSpPr>
          <p:cNvPr id="9" name=""/>
          <p:cNvSpPr/>
          <p:nvPr/>
        </p:nvSpPr>
        <p:spPr>
          <a:xfrm>
            <a:off x="552450" y="1695450"/>
            <a:ext cx="7810500" cy="514350"/>
          </a:xfrm>
          <a:prstGeom prst="rect">
            <a:avLst/>
          </a:prstGeom>
          <a:noFill/>
          <a:ln w="0">
            <a:noFill/>
          </a:ln>
        </p:spPr>
        <p:txBody>
          <a:bodyPr lIns="0" tIns="0" rIns="0" bIns="0" anchor="t" wrap="square"/>
          <a:lstStyle/>
          <a:p>
            <a:pPr algn="l">
              <a:defRPr sz="1500">
                <a:solidFill>
                  <a:srgbClr val="5B6370"/>
                </a:solidFill>
                <a:latin typeface="Arial"/>
              </a:defRPr>
            </a:pPr>
            <a:r>
              <a:rPr sz="1500">
                <a:solidFill>
                  <a:srgbClr val="5B6370"/>
                </a:solidFill>
                <a:latin typeface="Arial"/>
              </a:rPr>
              <a:t>Ratings are strong overall; repeated friction still points to fixable issues.</a:t>
            </a:r>
          </a:p>
        </p:txBody>
      </p:sp>
      <p:sp>
        <p:nvSpPr>
          <p:cNvPr id="10" name=""/>
          <p:cNvSpPr/>
          <p:nvPr/>
        </p:nvSpPr>
        <p:spPr>
          <a:xfrm>
            <a:off x="666750" y="2476500"/>
            <a:ext cx="4476750" cy="2667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Rating distribution across 22,641 usable reviews</a:t>
            </a:r>
          </a:p>
        </p:txBody>
      </p:sp>
      <p:sp>
        <p:nvSpPr>
          <p:cNvPr id="11" name=""/>
          <p:cNvSpPr/>
          <p:nvPr/>
        </p:nvSpPr>
        <p:spPr>
          <a:xfrm>
            <a:off x="838200" y="4895850"/>
            <a:ext cx="4038600" cy="9525"/>
          </a:xfrm>
          <a:prstGeom prst="rect">
            <a:avLst/>
          </a:prstGeom>
          <a:solidFill>
            <a:srgbClr val="D8D5C7"/>
          </a:solidFill>
          <a:ln w="0">
            <a:noFill/>
          </a:ln>
        </p:spPr>
      </p:sp>
      <p:sp>
        <p:nvSpPr>
          <p:cNvPr id="12" name=""/>
          <p:cNvSpPr/>
          <p:nvPr/>
        </p:nvSpPr>
        <p:spPr>
          <a:xfrm>
            <a:off x="838200" y="4786360"/>
            <a:ext cx="670560" cy="109490"/>
          </a:xfrm>
          <a:prstGeom prst="rect">
            <a:avLst/>
          </a:prstGeom>
          <a:solidFill>
            <a:srgbClr val="440154"/>
          </a:solidFill>
          <a:ln w="0">
            <a:noFill/>
          </a:ln>
        </p:spPr>
      </p:sp>
      <p:sp>
        <p:nvSpPr>
          <p:cNvPr id="13" name=""/>
          <p:cNvSpPr/>
          <p:nvPr/>
        </p:nvSpPr>
        <p:spPr>
          <a:xfrm>
            <a:off x="838200" y="5010150"/>
            <a:ext cx="670560" cy="228600"/>
          </a:xfrm>
          <a:prstGeom prst="rect">
            <a:avLst/>
          </a:prstGeom>
          <a:noFill/>
          <a:ln w="0">
            <a:noFill/>
          </a:ln>
        </p:spPr>
        <p:txBody>
          <a:bodyPr lIns="0" tIns="0" rIns="0" bIns="0" anchor="t" wrap="square"/>
          <a:lstStyle/>
          <a:p>
            <a:pPr algn="ctr">
              <a:defRPr sz="975" b="1">
                <a:solidFill>
                  <a:srgbClr val="5B6370"/>
                </a:solidFill>
                <a:latin typeface="Arial"/>
              </a:defRPr>
            </a:pPr>
            <a:r>
              <a:rPr sz="975" b="1">
                <a:solidFill>
                  <a:srgbClr val="5B6370"/>
                </a:solidFill>
                <a:latin typeface="Arial"/>
              </a:rPr>
              <a:t>1</a:t>
            </a:r>
          </a:p>
        </p:txBody>
      </p:sp>
      <p:sp>
        <p:nvSpPr>
          <p:cNvPr id="14" name=""/>
          <p:cNvSpPr/>
          <p:nvPr/>
        </p:nvSpPr>
        <p:spPr>
          <a:xfrm>
            <a:off x="762000" y="4519660"/>
            <a:ext cx="822960" cy="209550"/>
          </a:xfrm>
          <a:prstGeom prst="rect">
            <a:avLst/>
          </a:prstGeom>
          <a:noFill/>
          <a:ln w="0">
            <a:noFill/>
          </a:ln>
        </p:spPr>
        <p:txBody>
          <a:bodyPr lIns="0" tIns="0" rIns="0" bIns="0" anchor="t" wrap="square"/>
          <a:lstStyle/>
          <a:p>
            <a:pPr algn="ctr">
              <a:defRPr sz="975" b="1">
                <a:solidFill>
                  <a:srgbClr val="19152E"/>
                </a:solidFill>
                <a:latin typeface="Arial"/>
              </a:defRPr>
            </a:pPr>
            <a:r>
              <a:rPr sz="975" b="1">
                <a:solidFill>
                  <a:srgbClr val="19152E"/>
                </a:solidFill>
                <a:latin typeface="Arial"/>
              </a:rPr>
              <a:t>3.6%</a:t>
            </a:r>
          </a:p>
        </p:txBody>
      </p:sp>
      <p:sp>
        <p:nvSpPr>
          <p:cNvPr id="15" name=""/>
          <p:cNvSpPr/>
          <p:nvPr/>
        </p:nvSpPr>
        <p:spPr>
          <a:xfrm>
            <a:off x="1680210" y="4689538"/>
            <a:ext cx="670560" cy="206312"/>
          </a:xfrm>
          <a:prstGeom prst="rect">
            <a:avLst/>
          </a:prstGeom>
          <a:solidFill>
            <a:srgbClr val="3B528B"/>
          </a:solidFill>
          <a:ln w="0">
            <a:noFill/>
          </a:ln>
        </p:spPr>
      </p:sp>
      <p:sp>
        <p:nvSpPr>
          <p:cNvPr id="16" name=""/>
          <p:cNvSpPr/>
          <p:nvPr/>
        </p:nvSpPr>
        <p:spPr>
          <a:xfrm>
            <a:off x="1680210" y="5010150"/>
            <a:ext cx="670560" cy="228600"/>
          </a:xfrm>
          <a:prstGeom prst="rect">
            <a:avLst/>
          </a:prstGeom>
          <a:noFill/>
          <a:ln w="0">
            <a:noFill/>
          </a:ln>
        </p:spPr>
        <p:txBody>
          <a:bodyPr lIns="0" tIns="0" rIns="0" bIns="0" anchor="t" wrap="square"/>
          <a:lstStyle/>
          <a:p>
            <a:pPr algn="ctr">
              <a:defRPr sz="975" b="1">
                <a:solidFill>
                  <a:srgbClr val="5B6370"/>
                </a:solidFill>
                <a:latin typeface="Arial"/>
              </a:defRPr>
            </a:pPr>
            <a:r>
              <a:rPr sz="975" b="1">
                <a:solidFill>
                  <a:srgbClr val="5B6370"/>
                </a:solidFill>
                <a:latin typeface="Arial"/>
              </a:rPr>
              <a:t>2</a:t>
            </a:r>
          </a:p>
        </p:txBody>
      </p:sp>
      <p:sp>
        <p:nvSpPr>
          <p:cNvPr id="17" name=""/>
          <p:cNvSpPr/>
          <p:nvPr/>
        </p:nvSpPr>
        <p:spPr>
          <a:xfrm>
            <a:off x="1604010" y="4422838"/>
            <a:ext cx="822960" cy="209550"/>
          </a:xfrm>
          <a:prstGeom prst="rect">
            <a:avLst/>
          </a:prstGeom>
          <a:noFill/>
          <a:ln w="0">
            <a:noFill/>
          </a:ln>
        </p:spPr>
        <p:txBody>
          <a:bodyPr lIns="0" tIns="0" rIns="0" bIns="0" anchor="t" wrap="square"/>
          <a:lstStyle/>
          <a:p>
            <a:pPr algn="ctr">
              <a:defRPr sz="975" b="1">
                <a:solidFill>
                  <a:srgbClr val="19152E"/>
                </a:solidFill>
                <a:latin typeface="Arial"/>
              </a:defRPr>
            </a:pPr>
            <a:r>
              <a:rPr sz="975" b="1">
                <a:solidFill>
                  <a:srgbClr val="19152E"/>
                </a:solidFill>
                <a:latin typeface="Arial"/>
              </a:rPr>
              <a:t>6.8%</a:t>
            </a:r>
          </a:p>
        </p:txBody>
      </p:sp>
      <p:sp>
        <p:nvSpPr>
          <p:cNvPr id="18" name=""/>
          <p:cNvSpPr/>
          <p:nvPr/>
        </p:nvSpPr>
        <p:spPr>
          <a:xfrm>
            <a:off x="2522220" y="4519724"/>
            <a:ext cx="670560" cy="376126"/>
          </a:xfrm>
          <a:prstGeom prst="rect">
            <a:avLst/>
          </a:prstGeom>
          <a:solidFill>
            <a:srgbClr val="21918C"/>
          </a:solidFill>
          <a:ln w="0">
            <a:noFill/>
          </a:ln>
        </p:spPr>
      </p:sp>
      <p:sp>
        <p:nvSpPr>
          <p:cNvPr id="19" name=""/>
          <p:cNvSpPr/>
          <p:nvPr/>
        </p:nvSpPr>
        <p:spPr>
          <a:xfrm>
            <a:off x="2522220" y="5010150"/>
            <a:ext cx="670560" cy="228600"/>
          </a:xfrm>
          <a:prstGeom prst="rect">
            <a:avLst/>
          </a:prstGeom>
          <a:noFill/>
          <a:ln w="0">
            <a:noFill/>
          </a:ln>
        </p:spPr>
        <p:txBody>
          <a:bodyPr lIns="0" tIns="0" rIns="0" bIns="0" anchor="t" wrap="square"/>
          <a:lstStyle/>
          <a:p>
            <a:pPr algn="ctr">
              <a:defRPr sz="975" b="1">
                <a:solidFill>
                  <a:srgbClr val="5B6370"/>
                </a:solidFill>
                <a:latin typeface="Arial"/>
              </a:defRPr>
            </a:pPr>
            <a:r>
              <a:rPr sz="975" b="1">
                <a:solidFill>
                  <a:srgbClr val="5B6370"/>
                </a:solidFill>
                <a:latin typeface="Arial"/>
              </a:rPr>
              <a:t>3</a:t>
            </a:r>
          </a:p>
        </p:txBody>
      </p:sp>
      <p:sp>
        <p:nvSpPr>
          <p:cNvPr id="20" name=""/>
          <p:cNvSpPr/>
          <p:nvPr/>
        </p:nvSpPr>
        <p:spPr>
          <a:xfrm>
            <a:off x="2446020" y="4253024"/>
            <a:ext cx="822960" cy="209550"/>
          </a:xfrm>
          <a:prstGeom prst="rect">
            <a:avLst/>
          </a:prstGeom>
          <a:noFill/>
          <a:ln w="0">
            <a:noFill/>
          </a:ln>
        </p:spPr>
        <p:txBody>
          <a:bodyPr lIns="0" tIns="0" rIns="0" bIns="0" anchor="t" wrap="square"/>
          <a:lstStyle/>
          <a:p>
            <a:pPr algn="ctr">
              <a:defRPr sz="975" b="1">
                <a:solidFill>
                  <a:srgbClr val="19152E"/>
                </a:solidFill>
                <a:latin typeface="Arial"/>
              </a:defRPr>
            </a:pPr>
            <a:r>
              <a:rPr sz="975" b="1">
                <a:solidFill>
                  <a:srgbClr val="19152E"/>
                </a:solidFill>
                <a:latin typeface="Arial"/>
              </a:rPr>
              <a:t>12.5%</a:t>
            </a:r>
          </a:p>
        </p:txBody>
      </p:sp>
      <p:sp>
        <p:nvSpPr>
          <p:cNvPr id="21" name=""/>
          <p:cNvSpPr/>
          <p:nvPr/>
        </p:nvSpPr>
        <p:spPr>
          <a:xfrm>
            <a:off x="3364230" y="4241927"/>
            <a:ext cx="670560" cy="653923"/>
          </a:xfrm>
          <a:prstGeom prst="rect">
            <a:avLst/>
          </a:prstGeom>
          <a:solidFill>
            <a:srgbClr val="5EC962"/>
          </a:solidFill>
          <a:ln w="0">
            <a:noFill/>
          </a:ln>
        </p:spPr>
      </p:sp>
      <p:sp>
        <p:nvSpPr>
          <p:cNvPr id="22" name=""/>
          <p:cNvSpPr/>
          <p:nvPr/>
        </p:nvSpPr>
        <p:spPr>
          <a:xfrm>
            <a:off x="3364230" y="5010150"/>
            <a:ext cx="670560" cy="228600"/>
          </a:xfrm>
          <a:prstGeom prst="rect">
            <a:avLst/>
          </a:prstGeom>
          <a:noFill/>
          <a:ln w="0">
            <a:noFill/>
          </a:ln>
        </p:spPr>
        <p:txBody>
          <a:bodyPr lIns="0" tIns="0" rIns="0" bIns="0" anchor="t" wrap="square"/>
          <a:lstStyle/>
          <a:p>
            <a:pPr algn="ctr">
              <a:defRPr sz="975" b="1">
                <a:solidFill>
                  <a:srgbClr val="5B6370"/>
                </a:solidFill>
                <a:latin typeface="Arial"/>
              </a:defRPr>
            </a:pPr>
            <a:r>
              <a:rPr sz="975" b="1">
                <a:solidFill>
                  <a:srgbClr val="5B6370"/>
                </a:solidFill>
                <a:latin typeface="Arial"/>
              </a:rPr>
              <a:t>4</a:t>
            </a:r>
          </a:p>
        </p:txBody>
      </p:sp>
      <p:sp>
        <p:nvSpPr>
          <p:cNvPr id="23" name=""/>
          <p:cNvSpPr/>
          <p:nvPr/>
        </p:nvSpPr>
        <p:spPr>
          <a:xfrm>
            <a:off x="3288030" y="3975227"/>
            <a:ext cx="822960" cy="209550"/>
          </a:xfrm>
          <a:prstGeom prst="rect">
            <a:avLst/>
          </a:prstGeom>
          <a:noFill/>
          <a:ln w="0">
            <a:noFill/>
          </a:ln>
        </p:spPr>
        <p:txBody>
          <a:bodyPr lIns="0" tIns="0" rIns="0" bIns="0" anchor="t" wrap="square"/>
          <a:lstStyle/>
          <a:p>
            <a:pPr algn="ctr">
              <a:defRPr sz="975" b="1">
                <a:solidFill>
                  <a:srgbClr val="19152E"/>
                </a:solidFill>
                <a:latin typeface="Arial"/>
              </a:defRPr>
            </a:pPr>
            <a:r>
              <a:rPr sz="975" b="1">
                <a:solidFill>
                  <a:srgbClr val="19152E"/>
                </a:solidFill>
                <a:latin typeface="Arial"/>
              </a:rPr>
              <a:t>21.7%</a:t>
            </a:r>
          </a:p>
        </p:txBody>
      </p:sp>
      <p:sp>
        <p:nvSpPr>
          <p:cNvPr id="24" name=""/>
          <p:cNvSpPr/>
          <p:nvPr/>
        </p:nvSpPr>
        <p:spPr>
          <a:xfrm>
            <a:off x="4206240" y="3225149"/>
            <a:ext cx="670560" cy="1670701"/>
          </a:xfrm>
          <a:prstGeom prst="rect">
            <a:avLst/>
          </a:prstGeom>
          <a:solidFill>
            <a:srgbClr val="FDE725"/>
          </a:solidFill>
          <a:ln w="0">
            <a:noFill/>
          </a:ln>
        </p:spPr>
      </p:sp>
      <p:sp>
        <p:nvSpPr>
          <p:cNvPr id="25" name=""/>
          <p:cNvSpPr/>
          <p:nvPr/>
        </p:nvSpPr>
        <p:spPr>
          <a:xfrm>
            <a:off x="4206240" y="5010150"/>
            <a:ext cx="670560" cy="228600"/>
          </a:xfrm>
          <a:prstGeom prst="rect">
            <a:avLst/>
          </a:prstGeom>
          <a:noFill/>
          <a:ln w="0">
            <a:noFill/>
          </a:ln>
        </p:spPr>
        <p:txBody>
          <a:bodyPr lIns="0" tIns="0" rIns="0" bIns="0" anchor="t" wrap="square"/>
          <a:lstStyle/>
          <a:p>
            <a:pPr algn="ctr">
              <a:defRPr sz="975" b="1">
                <a:solidFill>
                  <a:srgbClr val="5B6370"/>
                </a:solidFill>
                <a:latin typeface="Arial"/>
              </a:defRPr>
            </a:pPr>
            <a:r>
              <a:rPr sz="975" b="1">
                <a:solidFill>
                  <a:srgbClr val="5B6370"/>
                </a:solidFill>
                <a:latin typeface="Arial"/>
              </a:rPr>
              <a:t>5</a:t>
            </a:r>
          </a:p>
        </p:txBody>
      </p:sp>
      <p:sp>
        <p:nvSpPr>
          <p:cNvPr id="26" name=""/>
          <p:cNvSpPr/>
          <p:nvPr/>
        </p:nvSpPr>
        <p:spPr>
          <a:xfrm>
            <a:off x="4130040" y="2958449"/>
            <a:ext cx="822960" cy="209550"/>
          </a:xfrm>
          <a:prstGeom prst="rect">
            <a:avLst/>
          </a:prstGeom>
          <a:noFill/>
          <a:ln w="0">
            <a:noFill/>
          </a:ln>
        </p:spPr>
        <p:txBody>
          <a:bodyPr lIns="0" tIns="0" rIns="0" bIns="0" anchor="t" wrap="square"/>
          <a:lstStyle/>
          <a:p>
            <a:pPr algn="ctr">
              <a:defRPr sz="975" b="1">
                <a:solidFill>
                  <a:srgbClr val="19152E"/>
                </a:solidFill>
                <a:latin typeface="Arial"/>
              </a:defRPr>
            </a:pPr>
            <a:r>
              <a:rPr sz="975" b="1">
                <a:solidFill>
                  <a:srgbClr val="19152E"/>
                </a:solidFill>
                <a:latin typeface="Arial"/>
              </a:rPr>
              <a:t>55.4%</a:t>
            </a:r>
          </a:p>
        </p:txBody>
      </p:sp>
      <p:sp>
        <p:nvSpPr>
          <p:cNvPr id="27" name=""/>
          <p:cNvSpPr/>
          <p:nvPr/>
        </p:nvSpPr>
        <p:spPr>
          <a:xfrm>
            <a:off x="838200" y="5219700"/>
            <a:ext cx="4038600" cy="190500"/>
          </a:xfrm>
          <a:prstGeom prst="rect">
            <a:avLst/>
          </a:prstGeom>
          <a:noFill/>
          <a:ln w="0">
            <a:noFill/>
          </a:ln>
        </p:spPr>
        <p:txBody>
          <a:bodyPr lIns="0" tIns="0" rIns="0" bIns="0" anchor="t" wrap="square"/>
          <a:lstStyle/>
          <a:p>
            <a:pPr algn="ctr">
              <a:defRPr sz="825">
                <a:solidFill>
                  <a:srgbClr val="5B6370"/>
                </a:solidFill>
                <a:latin typeface="Arial"/>
              </a:defRPr>
            </a:pPr>
            <a:r>
              <a:rPr sz="825">
                <a:solidFill>
                  <a:srgbClr val="5B6370"/>
                </a:solidFill>
                <a:latin typeface="Arial"/>
              </a:rPr>
              <a:t>1 star      2 stars      3 stars      4 stars      5 stars</a:t>
            </a:r>
          </a:p>
        </p:txBody>
      </p:sp>
      <p:sp>
        <p:nvSpPr>
          <p:cNvPr id="28" name=""/>
          <p:cNvSpPr/>
          <p:nvPr/>
        </p:nvSpPr>
        <p:spPr>
          <a:xfrm>
            <a:off x="5562600" y="2476500"/>
            <a:ext cx="1695450" cy="1066800"/>
          </a:xfrm>
          <a:prstGeom prst="rect">
            <a:avLst/>
          </a:prstGeom>
          <a:solidFill>
            <a:srgbClr val="FFFFFF"/>
          </a:solidFill>
          <a:ln w="9525">
            <a:solidFill>
              <a:srgbClr val="D8D5C7"/>
            </a:solidFill>
          </a:ln>
        </p:spPr>
      </p:sp>
      <p:sp>
        <p:nvSpPr>
          <p:cNvPr id="29" name=""/>
          <p:cNvSpPr/>
          <p:nvPr/>
        </p:nvSpPr>
        <p:spPr>
          <a:xfrm>
            <a:off x="5734050" y="2628900"/>
            <a:ext cx="1352550" cy="419100"/>
          </a:xfrm>
          <a:prstGeom prst="rect">
            <a:avLst/>
          </a:prstGeom>
          <a:noFill/>
          <a:ln w="0">
            <a:noFill/>
          </a:ln>
        </p:spPr>
        <p:txBody>
          <a:bodyPr lIns="0" tIns="0" rIns="0" bIns="0" anchor="t" wrap="square"/>
          <a:lstStyle/>
          <a:p>
            <a:pPr algn="l">
              <a:defRPr sz="2550" b="1">
                <a:solidFill>
                  <a:srgbClr val="21918C"/>
                </a:solidFill>
                <a:latin typeface="Arial"/>
              </a:defRPr>
            </a:pPr>
            <a:r>
              <a:rPr sz="2550" b="1">
                <a:solidFill>
                  <a:srgbClr val="21918C"/>
                </a:solidFill>
                <a:latin typeface="Arial"/>
              </a:rPr>
              <a:t>4.18</a:t>
            </a:r>
          </a:p>
        </p:txBody>
      </p:sp>
      <p:sp>
        <p:nvSpPr>
          <p:cNvPr id="30" name=""/>
          <p:cNvSpPr/>
          <p:nvPr/>
        </p:nvSpPr>
        <p:spPr>
          <a:xfrm>
            <a:off x="5734050" y="3067050"/>
            <a:ext cx="1352550" cy="3810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average product rating</a:t>
            </a:r>
          </a:p>
        </p:txBody>
      </p:sp>
      <p:sp>
        <p:nvSpPr>
          <p:cNvPr id="31" name=""/>
          <p:cNvSpPr/>
          <p:nvPr/>
        </p:nvSpPr>
        <p:spPr>
          <a:xfrm>
            <a:off x="7429500" y="2476500"/>
            <a:ext cx="1695450" cy="1066800"/>
          </a:xfrm>
          <a:prstGeom prst="rect">
            <a:avLst/>
          </a:prstGeom>
          <a:solidFill>
            <a:srgbClr val="FFFFFF"/>
          </a:solidFill>
          <a:ln w="9525">
            <a:solidFill>
              <a:srgbClr val="D8D5C7"/>
            </a:solidFill>
          </a:ln>
        </p:spPr>
      </p:sp>
      <p:sp>
        <p:nvSpPr>
          <p:cNvPr id="32" name=""/>
          <p:cNvSpPr/>
          <p:nvPr/>
        </p:nvSpPr>
        <p:spPr>
          <a:xfrm>
            <a:off x="7600950" y="2628900"/>
            <a:ext cx="1352550" cy="419100"/>
          </a:xfrm>
          <a:prstGeom prst="rect">
            <a:avLst/>
          </a:prstGeom>
          <a:noFill/>
          <a:ln w="0">
            <a:noFill/>
          </a:ln>
        </p:spPr>
        <p:txBody>
          <a:bodyPr lIns="0" tIns="0" rIns="0" bIns="0" anchor="t" wrap="square"/>
          <a:lstStyle/>
          <a:p>
            <a:pPr algn="l">
              <a:defRPr sz="2550" b="1">
                <a:solidFill>
                  <a:srgbClr val="5EC962"/>
                </a:solidFill>
                <a:latin typeface="Arial"/>
              </a:defRPr>
            </a:pPr>
            <a:r>
              <a:rPr sz="2550" b="1">
                <a:solidFill>
                  <a:srgbClr val="5EC962"/>
                </a:solidFill>
                <a:latin typeface="Arial"/>
              </a:rPr>
              <a:t>77.1%</a:t>
            </a:r>
          </a:p>
        </p:txBody>
      </p:sp>
      <p:sp>
        <p:nvSpPr>
          <p:cNvPr id="33" name=""/>
          <p:cNvSpPr/>
          <p:nvPr/>
        </p:nvSpPr>
        <p:spPr>
          <a:xfrm>
            <a:off x="7600950" y="3067050"/>
            <a:ext cx="1352550" cy="3810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4 or 5-star reviews</a:t>
            </a:r>
          </a:p>
        </p:txBody>
      </p:sp>
      <p:sp>
        <p:nvSpPr>
          <p:cNvPr id="34" name=""/>
          <p:cNvSpPr/>
          <p:nvPr/>
        </p:nvSpPr>
        <p:spPr>
          <a:xfrm>
            <a:off x="9296400" y="2476500"/>
            <a:ext cx="1695450" cy="1066800"/>
          </a:xfrm>
          <a:prstGeom prst="rect">
            <a:avLst/>
          </a:prstGeom>
          <a:solidFill>
            <a:srgbClr val="FFFFFF"/>
          </a:solidFill>
          <a:ln w="9525">
            <a:solidFill>
              <a:srgbClr val="D8D5C7"/>
            </a:solidFill>
          </a:ln>
        </p:spPr>
      </p:sp>
      <p:sp>
        <p:nvSpPr>
          <p:cNvPr id="35" name=""/>
          <p:cNvSpPr/>
          <p:nvPr/>
        </p:nvSpPr>
        <p:spPr>
          <a:xfrm>
            <a:off x="9467850" y="2628900"/>
            <a:ext cx="1352550" cy="419100"/>
          </a:xfrm>
          <a:prstGeom prst="rect">
            <a:avLst/>
          </a:prstGeom>
          <a:noFill/>
          <a:ln w="0">
            <a:noFill/>
          </a:ln>
        </p:spPr>
        <p:txBody>
          <a:bodyPr lIns="0" tIns="0" rIns="0" bIns="0" anchor="t" wrap="square"/>
          <a:lstStyle/>
          <a:p>
            <a:pPr algn="l">
              <a:defRPr sz="2550" b="1">
                <a:solidFill>
                  <a:srgbClr val="440154"/>
                </a:solidFill>
                <a:latin typeface="Arial"/>
              </a:defRPr>
            </a:pPr>
            <a:r>
              <a:rPr sz="2550" b="1">
                <a:solidFill>
                  <a:srgbClr val="440154"/>
                </a:solidFill>
                <a:latin typeface="Arial"/>
              </a:rPr>
              <a:t>10.5%</a:t>
            </a:r>
          </a:p>
        </p:txBody>
      </p:sp>
      <p:sp>
        <p:nvSpPr>
          <p:cNvPr id="36" name=""/>
          <p:cNvSpPr/>
          <p:nvPr/>
        </p:nvSpPr>
        <p:spPr>
          <a:xfrm>
            <a:off x="9467850" y="3067050"/>
            <a:ext cx="1352550" cy="3810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1 or 2-star reviews</a:t>
            </a:r>
          </a:p>
        </p:txBody>
      </p:sp>
      <p:sp>
        <p:nvSpPr>
          <p:cNvPr id="37" name=""/>
          <p:cNvSpPr/>
          <p:nvPr/>
        </p:nvSpPr>
        <p:spPr>
          <a:xfrm>
            <a:off x="5619750" y="4000500"/>
            <a:ext cx="3333750" cy="24765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Average rating by department</a:t>
            </a:r>
          </a:p>
        </p:txBody>
      </p:sp>
      <p:sp>
        <p:nvSpPr>
          <p:cNvPr id="38" name=""/>
          <p:cNvSpPr/>
          <p:nvPr/>
        </p:nvSpPr>
        <p:spPr>
          <a:xfrm>
            <a:off x="5619750" y="4381500"/>
            <a:ext cx="838200" cy="20955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Bottoms</a:t>
            </a:r>
          </a:p>
        </p:txBody>
      </p:sp>
      <p:sp>
        <p:nvSpPr>
          <p:cNvPr id="39" name=""/>
          <p:cNvSpPr/>
          <p:nvPr/>
        </p:nvSpPr>
        <p:spPr>
          <a:xfrm>
            <a:off x="6457950" y="4476750"/>
            <a:ext cx="4152900" cy="57150"/>
          </a:xfrm>
          <a:prstGeom prst="rect">
            <a:avLst/>
          </a:prstGeom>
          <a:solidFill>
            <a:srgbClr val="E8E6DD"/>
          </a:solidFill>
          <a:ln w="0">
            <a:noFill/>
          </a:ln>
        </p:spPr>
      </p:sp>
      <p:sp>
        <p:nvSpPr>
          <p:cNvPr id="40" name=""/>
          <p:cNvSpPr/>
          <p:nvPr/>
        </p:nvSpPr>
        <p:spPr>
          <a:xfrm>
            <a:off x="6457950" y="4476750"/>
            <a:ext cx="3554882" cy="57150"/>
          </a:xfrm>
          <a:prstGeom prst="rect">
            <a:avLst/>
          </a:prstGeom>
          <a:solidFill>
            <a:srgbClr val="FDE725"/>
          </a:solidFill>
          <a:ln w="0">
            <a:noFill/>
          </a:ln>
        </p:spPr>
      </p:sp>
      <p:sp>
        <p:nvSpPr>
          <p:cNvPr id="41" name=""/>
          <p:cNvSpPr/>
          <p:nvPr/>
        </p:nvSpPr>
        <p:spPr>
          <a:xfrm>
            <a:off x="10089032" y="4391025"/>
            <a:ext cx="704850" cy="20955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4.28</a:t>
            </a:r>
          </a:p>
        </p:txBody>
      </p:sp>
      <p:sp>
        <p:nvSpPr>
          <p:cNvPr id="42" name=""/>
          <p:cNvSpPr/>
          <p:nvPr/>
        </p:nvSpPr>
        <p:spPr>
          <a:xfrm>
            <a:off x="5619750" y="4667250"/>
            <a:ext cx="838200" cy="20955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Intimate</a:t>
            </a:r>
          </a:p>
        </p:txBody>
      </p:sp>
      <p:sp>
        <p:nvSpPr>
          <p:cNvPr id="43" name=""/>
          <p:cNvSpPr/>
          <p:nvPr/>
        </p:nvSpPr>
        <p:spPr>
          <a:xfrm>
            <a:off x="6457950" y="4762500"/>
            <a:ext cx="4152900" cy="57150"/>
          </a:xfrm>
          <a:prstGeom prst="rect">
            <a:avLst/>
          </a:prstGeom>
          <a:solidFill>
            <a:srgbClr val="E8E6DD"/>
          </a:solidFill>
          <a:ln w="0">
            <a:noFill/>
          </a:ln>
        </p:spPr>
      </p:sp>
      <p:sp>
        <p:nvSpPr>
          <p:cNvPr id="44" name=""/>
          <p:cNvSpPr/>
          <p:nvPr/>
        </p:nvSpPr>
        <p:spPr>
          <a:xfrm>
            <a:off x="6457950" y="4762500"/>
            <a:ext cx="3546577" cy="57150"/>
          </a:xfrm>
          <a:prstGeom prst="rect">
            <a:avLst/>
          </a:prstGeom>
          <a:solidFill>
            <a:srgbClr val="5EC962"/>
          </a:solidFill>
          <a:ln w="0">
            <a:noFill/>
          </a:ln>
        </p:spPr>
      </p:sp>
      <p:sp>
        <p:nvSpPr>
          <p:cNvPr id="45" name=""/>
          <p:cNvSpPr/>
          <p:nvPr/>
        </p:nvSpPr>
        <p:spPr>
          <a:xfrm>
            <a:off x="10080727" y="4676775"/>
            <a:ext cx="704850" cy="20955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4.27</a:t>
            </a:r>
          </a:p>
        </p:txBody>
      </p:sp>
      <p:sp>
        <p:nvSpPr>
          <p:cNvPr id="46" name=""/>
          <p:cNvSpPr/>
          <p:nvPr/>
        </p:nvSpPr>
        <p:spPr>
          <a:xfrm>
            <a:off x="5619750" y="4953000"/>
            <a:ext cx="838200" cy="20955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Jackets</a:t>
            </a:r>
          </a:p>
        </p:txBody>
      </p:sp>
      <p:sp>
        <p:nvSpPr>
          <p:cNvPr id="47" name=""/>
          <p:cNvSpPr/>
          <p:nvPr/>
        </p:nvSpPr>
        <p:spPr>
          <a:xfrm>
            <a:off x="6457950" y="5048250"/>
            <a:ext cx="4152900" cy="57150"/>
          </a:xfrm>
          <a:prstGeom prst="rect">
            <a:avLst/>
          </a:prstGeom>
          <a:solidFill>
            <a:srgbClr val="E8E6DD"/>
          </a:solidFill>
          <a:ln w="0">
            <a:noFill/>
          </a:ln>
        </p:spPr>
      </p:sp>
      <p:sp>
        <p:nvSpPr>
          <p:cNvPr id="48" name=""/>
          <p:cNvSpPr/>
          <p:nvPr/>
        </p:nvSpPr>
        <p:spPr>
          <a:xfrm>
            <a:off x="6457950" y="5048250"/>
            <a:ext cx="3529965" cy="57150"/>
          </a:xfrm>
          <a:prstGeom prst="rect">
            <a:avLst/>
          </a:prstGeom>
          <a:solidFill>
            <a:srgbClr val="21918C"/>
          </a:solidFill>
          <a:ln w="0">
            <a:noFill/>
          </a:ln>
        </p:spPr>
      </p:sp>
      <p:sp>
        <p:nvSpPr>
          <p:cNvPr id="49" name=""/>
          <p:cNvSpPr/>
          <p:nvPr/>
        </p:nvSpPr>
        <p:spPr>
          <a:xfrm>
            <a:off x="10064115" y="4962525"/>
            <a:ext cx="704850" cy="20955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4.25</a:t>
            </a:r>
          </a:p>
        </p:txBody>
      </p:sp>
      <p:sp>
        <p:nvSpPr>
          <p:cNvPr id="50" name=""/>
          <p:cNvSpPr/>
          <p:nvPr/>
        </p:nvSpPr>
        <p:spPr>
          <a:xfrm>
            <a:off x="5619750" y="5238750"/>
            <a:ext cx="838200" cy="20955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Tops</a:t>
            </a:r>
          </a:p>
        </p:txBody>
      </p:sp>
      <p:sp>
        <p:nvSpPr>
          <p:cNvPr id="51" name=""/>
          <p:cNvSpPr/>
          <p:nvPr/>
        </p:nvSpPr>
        <p:spPr>
          <a:xfrm>
            <a:off x="6457950" y="5334000"/>
            <a:ext cx="4152900" cy="57150"/>
          </a:xfrm>
          <a:prstGeom prst="rect">
            <a:avLst/>
          </a:prstGeom>
          <a:solidFill>
            <a:srgbClr val="E8E6DD"/>
          </a:solidFill>
          <a:ln w="0">
            <a:noFill/>
          </a:ln>
        </p:spPr>
      </p:sp>
      <p:sp>
        <p:nvSpPr>
          <p:cNvPr id="52" name=""/>
          <p:cNvSpPr/>
          <p:nvPr/>
        </p:nvSpPr>
        <p:spPr>
          <a:xfrm>
            <a:off x="6457950" y="5334000"/>
            <a:ext cx="3455213" cy="57150"/>
          </a:xfrm>
          <a:prstGeom prst="rect">
            <a:avLst/>
          </a:prstGeom>
          <a:solidFill>
            <a:srgbClr val="3B528B"/>
          </a:solidFill>
          <a:ln w="0">
            <a:noFill/>
          </a:ln>
        </p:spPr>
      </p:sp>
      <p:sp>
        <p:nvSpPr>
          <p:cNvPr id="53" name=""/>
          <p:cNvSpPr/>
          <p:nvPr/>
        </p:nvSpPr>
        <p:spPr>
          <a:xfrm>
            <a:off x="9989363" y="5248275"/>
            <a:ext cx="704850" cy="20955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4.16</a:t>
            </a:r>
          </a:p>
        </p:txBody>
      </p:sp>
      <p:sp>
        <p:nvSpPr>
          <p:cNvPr id="54" name=""/>
          <p:cNvSpPr/>
          <p:nvPr/>
        </p:nvSpPr>
        <p:spPr>
          <a:xfrm>
            <a:off x="5619750" y="5524500"/>
            <a:ext cx="838200" cy="20955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Dresses</a:t>
            </a:r>
          </a:p>
        </p:txBody>
      </p:sp>
      <p:sp>
        <p:nvSpPr>
          <p:cNvPr id="55" name=""/>
          <p:cNvSpPr/>
          <p:nvPr/>
        </p:nvSpPr>
        <p:spPr>
          <a:xfrm>
            <a:off x="6457950" y="5619750"/>
            <a:ext cx="4152900" cy="57150"/>
          </a:xfrm>
          <a:prstGeom prst="rect">
            <a:avLst/>
          </a:prstGeom>
          <a:solidFill>
            <a:srgbClr val="E8E6DD"/>
          </a:solidFill>
          <a:ln w="0">
            <a:noFill/>
          </a:ln>
        </p:spPr>
      </p:sp>
      <p:sp>
        <p:nvSpPr>
          <p:cNvPr id="56" name=""/>
          <p:cNvSpPr/>
          <p:nvPr/>
        </p:nvSpPr>
        <p:spPr>
          <a:xfrm>
            <a:off x="6457950" y="5619750"/>
            <a:ext cx="3438601" cy="57150"/>
          </a:xfrm>
          <a:prstGeom prst="rect">
            <a:avLst/>
          </a:prstGeom>
          <a:solidFill>
            <a:srgbClr val="3B528B"/>
          </a:solidFill>
          <a:ln w="0">
            <a:noFill/>
          </a:ln>
        </p:spPr>
      </p:sp>
      <p:sp>
        <p:nvSpPr>
          <p:cNvPr id="57" name=""/>
          <p:cNvSpPr/>
          <p:nvPr/>
        </p:nvSpPr>
        <p:spPr>
          <a:xfrm>
            <a:off x="9972751" y="5534025"/>
            <a:ext cx="704850" cy="20955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4.14</a:t>
            </a:r>
          </a:p>
        </p:txBody>
      </p:sp>
      <p:sp>
        <p:nvSpPr>
          <p:cNvPr id="58" name=""/>
          <p:cNvSpPr/>
          <p:nvPr/>
        </p:nvSpPr>
        <p:spPr>
          <a:xfrm>
            <a:off x="5619750" y="5810250"/>
            <a:ext cx="838200" cy="20955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Trend</a:t>
            </a:r>
          </a:p>
        </p:txBody>
      </p:sp>
      <p:sp>
        <p:nvSpPr>
          <p:cNvPr id="59" name=""/>
          <p:cNvSpPr/>
          <p:nvPr/>
        </p:nvSpPr>
        <p:spPr>
          <a:xfrm>
            <a:off x="6457950" y="5905500"/>
            <a:ext cx="4152900" cy="57150"/>
          </a:xfrm>
          <a:prstGeom prst="rect">
            <a:avLst/>
          </a:prstGeom>
          <a:solidFill>
            <a:srgbClr val="E8E6DD"/>
          </a:solidFill>
          <a:ln w="0">
            <a:noFill/>
          </a:ln>
        </p:spPr>
      </p:sp>
      <p:sp>
        <p:nvSpPr>
          <p:cNvPr id="60" name=""/>
          <p:cNvSpPr/>
          <p:nvPr/>
        </p:nvSpPr>
        <p:spPr>
          <a:xfrm>
            <a:off x="6457950" y="5905500"/>
            <a:ext cx="3189427" cy="57150"/>
          </a:xfrm>
          <a:prstGeom prst="rect">
            <a:avLst/>
          </a:prstGeom>
          <a:solidFill>
            <a:srgbClr val="440154"/>
          </a:solidFill>
          <a:ln w="0">
            <a:noFill/>
          </a:ln>
        </p:spPr>
      </p:sp>
      <p:sp>
        <p:nvSpPr>
          <p:cNvPr id="61" name=""/>
          <p:cNvSpPr/>
          <p:nvPr/>
        </p:nvSpPr>
        <p:spPr>
          <a:xfrm>
            <a:off x="9723577" y="5819775"/>
            <a:ext cx="704850" cy="20955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3.84</a:t>
            </a:r>
          </a:p>
        </p:txBody>
      </p:sp>
      <p:sp>
        <p:nvSpPr>
          <p:cNvPr id="62" name=""/>
          <p:cNvSpPr/>
          <p:nvPr/>
        </p:nvSpPr>
        <p:spPr>
          <a:xfrm>
            <a:off x="704850" y="5886450"/>
            <a:ext cx="10191750" cy="323850"/>
          </a:xfrm>
          <a:prstGeom prst="rect">
            <a:avLst/>
          </a:prstGeom>
          <a:noFill/>
          <a:ln w="0">
            <a:noFill/>
          </a:ln>
        </p:spPr>
        <p:txBody>
          <a:bodyPr lIns="0" tIns="0" rIns="0" bIns="0" anchor="t" wrap="square"/>
          <a:lstStyle/>
          <a:p>
            <a:pPr algn="l">
              <a:defRPr sz="1350" b="1">
                <a:solidFill>
                  <a:srgbClr val="19152E"/>
                </a:solidFill>
                <a:latin typeface="Arial"/>
              </a:defRPr>
            </a:pPr>
            <a:r>
              <a:rPr sz="1350" b="1">
                <a:solidFill>
                  <a:srgbClr val="19152E"/>
                </a:solidFill>
                <a:latin typeface="Arial"/>
              </a:rPr>
              <a:t>Business read: monitor where expectation gaps repeat.</a:t>
            </a:r>
          </a:p>
        </p:txBody>
      </p:sp>
      <p:sp>
        <p:nvSpPr>
          <p:cNvPr id="63"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7D817B"/>
                </a:solidFill>
                <a:latin typeface="Arial"/>
              </a:defRPr>
            </a:pPr>
            <a:r>
              <a:rPr sz="750">
                <a:solidFill>
                  <a:srgbClr val="7D817B"/>
                </a:solidFill>
                <a:latin typeface="Arial"/>
              </a:rPr>
              <a:t>Source: Final capstone notebook; Live Presentation Rubric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p:grpSpPr>
      <p:sp>
        <p:nvSpPr>
          <p:cNvPr id="2" name=""/>
          <p:cNvSpPr/>
          <p:nvPr/>
        </p:nvSpPr>
        <p:spPr>
          <a:xfrm>
            <a:off x="0" y="0"/>
            <a:ext cx="114300" cy="6858000"/>
          </a:xfrm>
          <a:prstGeom prst="rect">
            <a:avLst/>
          </a:prstGeom>
          <a:solidFill>
            <a:srgbClr val="440154"/>
          </a:solidFill>
          <a:ln w="0">
            <a:noFill/>
          </a:ln>
        </p:spPr>
      </p:sp>
      <p:sp>
        <p:nvSpPr>
          <p:cNvPr id="3" name=""/>
          <p:cNvSpPr/>
          <p:nvPr/>
        </p:nvSpPr>
        <p:spPr>
          <a:xfrm>
            <a:off x="114300" y="0"/>
            <a:ext cx="57150" cy="6858000"/>
          </a:xfrm>
          <a:prstGeom prst="rect">
            <a:avLst/>
          </a:prstGeom>
          <a:solidFill>
            <a:srgbClr val="21918C"/>
          </a:solidFill>
          <a:ln w="0">
            <a:noFill/>
          </a:ln>
        </p:spPr>
      </p:sp>
      <p:sp>
        <p:nvSpPr>
          <p:cNvPr id="4" name=""/>
          <p:cNvSpPr/>
          <p:nvPr/>
        </p:nvSpPr>
        <p:spPr>
          <a:xfrm>
            <a:off x="171450" y="0"/>
            <a:ext cx="38100" cy="6858000"/>
          </a:xfrm>
          <a:prstGeom prst="rect">
            <a:avLst/>
          </a:prstGeom>
          <a:solidFill>
            <a:srgbClr val="FDE725"/>
          </a:solidFill>
          <a:ln w="0">
            <a:noFill/>
          </a:ln>
        </p:spPr>
      </p:sp>
      <p:sp>
        <p:nvSpPr>
          <p:cNvPr id="5" name=""/>
          <p:cNvSpPr/>
          <p:nvPr/>
        </p:nvSpPr>
        <p:spPr>
          <a:xfrm>
            <a:off x="533400" y="390525"/>
            <a:ext cx="95250" cy="95250"/>
          </a:xfrm>
          <a:prstGeom prst="rect">
            <a:avLst/>
          </a:prstGeom>
          <a:solidFill>
            <a:srgbClr val="21918C"/>
          </a:solidFill>
          <a:ln w="0">
            <a:noFill/>
          </a:ln>
        </p:spPr>
      </p:sp>
      <p:sp>
        <p:nvSpPr>
          <p:cNvPr id="6" name=""/>
          <p:cNvSpPr/>
          <p:nvPr/>
        </p:nvSpPr>
        <p:spPr>
          <a:xfrm>
            <a:off x="723900" y="323850"/>
            <a:ext cx="4000500" cy="247650"/>
          </a:xfrm>
          <a:prstGeom prst="rect">
            <a:avLst/>
          </a:prstGeom>
          <a:noFill/>
          <a:ln w="0">
            <a:noFill/>
          </a:ln>
        </p:spPr>
        <p:txBody>
          <a:bodyPr lIns="0" tIns="0" rIns="0" bIns="0" anchor="mid" wrap="square"/>
          <a:lstStyle/>
          <a:p>
            <a:pPr algn="l">
              <a:defRPr sz="1050" b="1">
                <a:solidFill>
                  <a:srgbClr val="5B6370"/>
                </a:solidFill>
                <a:latin typeface="Arial"/>
              </a:defRPr>
            </a:pPr>
            <a:r>
              <a:rPr sz="1050" b="1">
                <a:solidFill>
                  <a:srgbClr val="5B6370"/>
                </a:solidFill>
                <a:latin typeface="Arial"/>
              </a:rPr>
              <a:t>MODEL FINDINGS</a:t>
            </a:r>
          </a:p>
        </p:txBody>
      </p:sp>
      <p:sp>
        <p:nvSpPr>
          <p:cNvPr id="7" name=""/>
          <p:cNvSpPr/>
          <p:nvPr/>
        </p:nvSpPr>
        <p:spPr>
          <a:xfrm>
            <a:off x="10687050" y="323850"/>
            <a:ext cx="876300" cy="247650"/>
          </a:xfrm>
          <a:prstGeom prst="rect">
            <a:avLst/>
          </a:prstGeom>
          <a:noFill/>
          <a:ln w="0">
            <a:noFill/>
          </a:ln>
        </p:spPr>
        <p:txBody>
          <a:bodyPr lIns="0" tIns="0" rIns="0" bIns="0" anchor="mid" wrap="square"/>
          <a:lstStyle/>
          <a:p>
            <a:pPr algn="r">
              <a:defRPr sz="975" b="1">
                <a:solidFill>
                  <a:srgbClr val="5B6370"/>
                </a:solidFill>
                <a:latin typeface="Arial"/>
              </a:defRPr>
            </a:pPr>
            <a:r>
              <a:rPr sz="975" b="1">
                <a:solidFill>
                  <a:srgbClr val="5B6370"/>
                </a:solidFill>
                <a:latin typeface="Arial"/>
              </a:rPr>
              <a:t>06 / 09</a:t>
            </a:r>
          </a:p>
        </p:txBody>
      </p:sp>
      <p:sp>
        <p:nvSpPr>
          <p:cNvPr id="8" name=""/>
          <p:cNvSpPr/>
          <p:nvPr/>
        </p:nvSpPr>
        <p:spPr>
          <a:xfrm>
            <a:off x="533400" y="781050"/>
            <a:ext cx="8572500" cy="914400"/>
          </a:xfrm>
          <a:prstGeom prst="rect">
            <a:avLst/>
          </a:prstGeom>
          <a:noFill/>
          <a:ln w="0">
            <a:noFill/>
          </a:ln>
        </p:spPr>
        <p:txBody>
          <a:bodyPr lIns="0" tIns="0" rIns="0" bIns="0" anchor="t" wrap="square"/>
          <a:lstStyle/>
          <a:p>
            <a:pPr algn="l">
              <a:defRPr sz="3150" b="1">
                <a:solidFill>
                  <a:srgbClr val="19152E"/>
                </a:solidFill>
                <a:latin typeface="Arial"/>
              </a:defRPr>
            </a:pPr>
            <a:r>
              <a:rPr sz="3150" b="1">
                <a:solidFill>
                  <a:srgbClr val="19152E"/>
                </a:solidFill>
                <a:latin typeface="Arial"/>
              </a:rPr>
              <a:t>CoT V2 and Few-Shot V2 tie at 0.92.</a:t>
            </a:r>
          </a:p>
        </p:txBody>
      </p:sp>
      <p:sp>
        <p:nvSpPr>
          <p:cNvPr id="9" name=""/>
          <p:cNvSpPr/>
          <p:nvPr/>
        </p:nvSpPr>
        <p:spPr>
          <a:xfrm>
            <a:off x="552450" y="1695450"/>
            <a:ext cx="7810500" cy="514350"/>
          </a:xfrm>
          <a:prstGeom prst="rect">
            <a:avLst/>
          </a:prstGeom>
          <a:noFill/>
          <a:ln w="0">
            <a:noFill/>
          </a:ln>
        </p:spPr>
        <p:txBody>
          <a:bodyPr lIns="0" tIns="0" rIns="0" bIns="0" anchor="t" wrap="square"/>
          <a:lstStyle/>
          <a:p>
            <a:pPr algn="l">
              <a:defRPr sz="1500">
                <a:solidFill>
                  <a:srgbClr val="5B6370"/>
                </a:solidFill>
                <a:latin typeface="Arial"/>
              </a:defRPr>
            </a:pPr>
            <a:r>
              <a:rPr sz="1500">
                <a:solidFill>
                  <a:srgbClr val="5B6370"/>
                </a:solidFill>
                <a:latin typeface="Arial"/>
              </a:rPr>
              <a:t>LLM-as-Judge uses one scoring rubric across prompt outputs.</a:t>
            </a:r>
          </a:p>
        </p:txBody>
      </p:sp>
      <p:sp>
        <p:nvSpPr>
          <p:cNvPr id="10" name=""/>
          <p:cNvSpPr/>
          <p:nvPr/>
        </p:nvSpPr>
        <p:spPr>
          <a:xfrm>
            <a:off x="666750" y="2438400"/>
            <a:ext cx="4000500" cy="2667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Average judge score, 0 to 1 scale</a:t>
            </a:r>
          </a:p>
        </p:txBody>
      </p:sp>
      <p:sp>
        <p:nvSpPr>
          <p:cNvPr id="11" name=""/>
          <p:cNvSpPr/>
          <p:nvPr/>
        </p:nvSpPr>
        <p:spPr>
          <a:xfrm>
            <a:off x="666750" y="2857500"/>
            <a:ext cx="781050" cy="26670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CoT V2</a:t>
            </a:r>
          </a:p>
        </p:txBody>
      </p:sp>
      <p:sp>
        <p:nvSpPr>
          <p:cNvPr id="12" name=""/>
          <p:cNvSpPr/>
          <p:nvPr/>
        </p:nvSpPr>
        <p:spPr>
          <a:xfrm>
            <a:off x="1447800" y="2952750"/>
            <a:ext cx="3905250" cy="114300"/>
          </a:xfrm>
          <a:prstGeom prst="rect">
            <a:avLst/>
          </a:prstGeom>
          <a:solidFill>
            <a:srgbClr val="E8E6DD"/>
          </a:solidFill>
          <a:ln w="0">
            <a:noFill/>
          </a:ln>
        </p:spPr>
      </p:sp>
      <p:sp>
        <p:nvSpPr>
          <p:cNvPr id="13" name=""/>
          <p:cNvSpPr/>
          <p:nvPr/>
        </p:nvSpPr>
        <p:spPr>
          <a:xfrm>
            <a:off x="1447800" y="2952750"/>
            <a:ext cx="3592830" cy="114300"/>
          </a:xfrm>
          <a:prstGeom prst="rect">
            <a:avLst/>
          </a:prstGeom>
          <a:solidFill>
            <a:srgbClr val="21918C"/>
          </a:solidFill>
          <a:ln w="0">
            <a:noFill/>
          </a:ln>
        </p:spPr>
      </p:sp>
      <p:sp>
        <p:nvSpPr>
          <p:cNvPr id="14" name=""/>
          <p:cNvSpPr/>
          <p:nvPr/>
        </p:nvSpPr>
        <p:spPr>
          <a:xfrm>
            <a:off x="5116830" y="2867025"/>
            <a:ext cx="704850" cy="26670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0.92</a:t>
            </a:r>
          </a:p>
        </p:txBody>
      </p:sp>
      <p:sp>
        <p:nvSpPr>
          <p:cNvPr id="15" name=""/>
          <p:cNvSpPr/>
          <p:nvPr/>
        </p:nvSpPr>
        <p:spPr>
          <a:xfrm>
            <a:off x="666750" y="3238500"/>
            <a:ext cx="781050" cy="26670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FS V2</a:t>
            </a:r>
          </a:p>
        </p:txBody>
      </p:sp>
      <p:sp>
        <p:nvSpPr>
          <p:cNvPr id="16" name=""/>
          <p:cNvSpPr/>
          <p:nvPr/>
        </p:nvSpPr>
        <p:spPr>
          <a:xfrm>
            <a:off x="1447800" y="3333750"/>
            <a:ext cx="3905250" cy="114300"/>
          </a:xfrm>
          <a:prstGeom prst="rect">
            <a:avLst/>
          </a:prstGeom>
          <a:solidFill>
            <a:srgbClr val="E8E6DD"/>
          </a:solidFill>
          <a:ln w="0">
            <a:noFill/>
          </a:ln>
        </p:spPr>
      </p:sp>
      <p:sp>
        <p:nvSpPr>
          <p:cNvPr id="17" name=""/>
          <p:cNvSpPr/>
          <p:nvPr/>
        </p:nvSpPr>
        <p:spPr>
          <a:xfrm>
            <a:off x="1447800" y="3333750"/>
            <a:ext cx="3592830" cy="114300"/>
          </a:xfrm>
          <a:prstGeom prst="rect">
            <a:avLst/>
          </a:prstGeom>
          <a:solidFill>
            <a:srgbClr val="5EC962"/>
          </a:solidFill>
          <a:ln w="0">
            <a:noFill/>
          </a:ln>
        </p:spPr>
      </p:sp>
      <p:sp>
        <p:nvSpPr>
          <p:cNvPr id="18" name=""/>
          <p:cNvSpPr/>
          <p:nvPr/>
        </p:nvSpPr>
        <p:spPr>
          <a:xfrm>
            <a:off x="5116830" y="3248025"/>
            <a:ext cx="704850" cy="26670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0.92</a:t>
            </a:r>
          </a:p>
        </p:txBody>
      </p:sp>
      <p:sp>
        <p:nvSpPr>
          <p:cNvPr id="19" name=""/>
          <p:cNvSpPr/>
          <p:nvPr/>
        </p:nvSpPr>
        <p:spPr>
          <a:xfrm>
            <a:off x="666750" y="3619500"/>
            <a:ext cx="781050" cy="26670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ZS V1</a:t>
            </a:r>
          </a:p>
        </p:txBody>
      </p:sp>
      <p:sp>
        <p:nvSpPr>
          <p:cNvPr id="20" name=""/>
          <p:cNvSpPr/>
          <p:nvPr/>
        </p:nvSpPr>
        <p:spPr>
          <a:xfrm>
            <a:off x="1447800" y="3714750"/>
            <a:ext cx="3905250" cy="114300"/>
          </a:xfrm>
          <a:prstGeom prst="rect">
            <a:avLst/>
          </a:prstGeom>
          <a:solidFill>
            <a:srgbClr val="E8E6DD"/>
          </a:solidFill>
          <a:ln w="0">
            <a:noFill/>
          </a:ln>
        </p:spPr>
      </p:sp>
      <p:sp>
        <p:nvSpPr>
          <p:cNvPr id="21" name=""/>
          <p:cNvSpPr/>
          <p:nvPr/>
        </p:nvSpPr>
        <p:spPr>
          <a:xfrm>
            <a:off x="1447800" y="3714750"/>
            <a:ext cx="3553778" cy="114300"/>
          </a:xfrm>
          <a:prstGeom prst="rect">
            <a:avLst/>
          </a:prstGeom>
          <a:solidFill>
            <a:srgbClr val="FDE725"/>
          </a:solidFill>
          <a:ln w="0">
            <a:noFill/>
          </a:ln>
        </p:spPr>
      </p:sp>
      <p:sp>
        <p:nvSpPr>
          <p:cNvPr id="22" name=""/>
          <p:cNvSpPr/>
          <p:nvPr/>
        </p:nvSpPr>
        <p:spPr>
          <a:xfrm>
            <a:off x="5077778" y="3629025"/>
            <a:ext cx="704850" cy="26670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0.91</a:t>
            </a:r>
          </a:p>
        </p:txBody>
      </p:sp>
      <p:sp>
        <p:nvSpPr>
          <p:cNvPr id="23" name=""/>
          <p:cNvSpPr/>
          <p:nvPr/>
        </p:nvSpPr>
        <p:spPr>
          <a:xfrm>
            <a:off x="666750" y="4000500"/>
            <a:ext cx="781050" cy="26670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CoT V1</a:t>
            </a:r>
          </a:p>
        </p:txBody>
      </p:sp>
      <p:sp>
        <p:nvSpPr>
          <p:cNvPr id="24" name=""/>
          <p:cNvSpPr/>
          <p:nvPr/>
        </p:nvSpPr>
        <p:spPr>
          <a:xfrm>
            <a:off x="1447800" y="4095750"/>
            <a:ext cx="3905250" cy="114300"/>
          </a:xfrm>
          <a:prstGeom prst="rect">
            <a:avLst/>
          </a:prstGeom>
          <a:solidFill>
            <a:srgbClr val="E8E6DD"/>
          </a:solidFill>
          <a:ln w="0">
            <a:noFill/>
          </a:ln>
        </p:spPr>
      </p:sp>
      <p:sp>
        <p:nvSpPr>
          <p:cNvPr id="25" name=""/>
          <p:cNvSpPr/>
          <p:nvPr/>
        </p:nvSpPr>
        <p:spPr>
          <a:xfrm>
            <a:off x="1447800" y="4095750"/>
            <a:ext cx="3514725" cy="114300"/>
          </a:xfrm>
          <a:prstGeom prst="rect">
            <a:avLst/>
          </a:prstGeom>
          <a:solidFill>
            <a:srgbClr val="3B528B"/>
          </a:solidFill>
          <a:ln w="0">
            <a:noFill/>
          </a:ln>
        </p:spPr>
      </p:sp>
      <p:sp>
        <p:nvSpPr>
          <p:cNvPr id="26" name=""/>
          <p:cNvSpPr/>
          <p:nvPr/>
        </p:nvSpPr>
        <p:spPr>
          <a:xfrm>
            <a:off x="5038725" y="4010025"/>
            <a:ext cx="704850" cy="26670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0.90</a:t>
            </a:r>
          </a:p>
        </p:txBody>
      </p:sp>
      <p:sp>
        <p:nvSpPr>
          <p:cNvPr id="27" name=""/>
          <p:cNvSpPr/>
          <p:nvPr/>
        </p:nvSpPr>
        <p:spPr>
          <a:xfrm>
            <a:off x="666750" y="4381500"/>
            <a:ext cx="781050" cy="26670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ZS V2</a:t>
            </a:r>
          </a:p>
        </p:txBody>
      </p:sp>
      <p:sp>
        <p:nvSpPr>
          <p:cNvPr id="28" name=""/>
          <p:cNvSpPr/>
          <p:nvPr/>
        </p:nvSpPr>
        <p:spPr>
          <a:xfrm>
            <a:off x="1447800" y="4476750"/>
            <a:ext cx="3905250" cy="114300"/>
          </a:xfrm>
          <a:prstGeom prst="rect">
            <a:avLst/>
          </a:prstGeom>
          <a:solidFill>
            <a:srgbClr val="E8E6DD"/>
          </a:solidFill>
          <a:ln w="0">
            <a:noFill/>
          </a:ln>
        </p:spPr>
      </p:sp>
      <p:sp>
        <p:nvSpPr>
          <p:cNvPr id="29" name=""/>
          <p:cNvSpPr/>
          <p:nvPr/>
        </p:nvSpPr>
        <p:spPr>
          <a:xfrm>
            <a:off x="1447800" y="4476750"/>
            <a:ext cx="3514725" cy="114300"/>
          </a:xfrm>
          <a:prstGeom prst="rect">
            <a:avLst/>
          </a:prstGeom>
          <a:solidFill>
            <a:srgbClr val="3B528B"/>
          </a:solidFill>
          <a:ln w="0">
            <a:noFill/>
          </a:ln>
        </p:spPr>
      </p:sp>
      <p:sp>
        <p:nvSpPr>
          <p:cNvPr id="30" name=""/>
          <p:cNvSpPr/>
          <p:nvPr/>
        </p:nvSpPr>
        <p:spPr>
          <a:xfrm>
            <a:off x="5038725" y="4391025"/>
            <a:ext cx="704850" cy="26670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0.90</a:t>
            </a:r>
          </a:p>
        </p:txBody>
      </p:sp>
      <p:sp>
        <p:nvSpPr>
          <p:cNvPr id="31" name=""/>
          <p:cNvSpPr/>
          <p:nvPr/>
        </p:nvSpPr>
        <p:spPr>
          <a:xfrm>
            <a:off x="666750" y="4762500"/>
            <a:ext cx="781050" cy="266700"/>
          </a:xfrm>
          <a:prstGeom prst="rect">
            <a:avLst/>
          </a:prstGeom>
          <a:noFill/>
          <a:ln w="0">
            <a:noFill/>
          </a:ln>
        </p:spPr>
        <p:txBody>
          <a:bodyPr lIns="0" tIns="0" rIns="0" bIns="0" anchor="mid" wrap="square"/>
          <a:lstStyle/>
          <a:p>
            <a:pPr algn="l">
              <a:defRPr sz="1050" b="1">
                <a:solidFill>
                  <a:srgbClr val="19152E"/>
                </a:solidFill>
                <a:latin typeface="Arial"/>
              </a:defRPr>
            </a:pPr>
            <a:r>
              <a:rPr sz="1050" b="1">
                <a:solidFill>
                  <a:srgbClr val="19152E"/>
                </a:solidFill>
                <a:latin typeface="Arial"/>
              </a:rPr>
              <a:t>FS V1</a:t>
            </a:r>
          </a:p>
        </p:txBody>
      </p:sp>
      <p:sp>
        <p:nvSpPr>
          <p:cNvPr id="32" name=""/>
          <p:cNvSpPr/>
          <p:nvPr/>
        </p:nvSpPr>
        <p:spPr>
          <a:xfrm>
            <a:off x="1447800" y="4857750"/>
            <a:ext cx="3905250" cy="114300"/>
          </a:xfrm>
          <a:prstGeom prst="rect">
            <a:avLst/>
          </a:prstGeom>
          <a:solidFill>
            <a:srgbClr val="E8E6DD"/>
          </a:solidFill>
          <a:ln w="0">
            <a:noFill/>
          </a:ln>
        </p:spPr>
      </p:sp>
      <p:sp>
        <p:nvSpPr>
          <p:cNvPr id="33" name=""/>
          <p:cNvSpPr/>
          <p:nvPr/>
        </p:nvSpPr>
        <p:spPr>
          <a:xfrm>
            <a:off x="1447800" y="4857750"/>
            <a:ext cx="3514725" cy="114300"/>
          </a:xfrm>
          <a:prstGeom prst="rect">
            <a:avLst/>
          </a:prstGeom>
          <a:solidFill>
            <a:srgbClr val="440154"/>
          </a:solidFill>
          <a:ln w="0">
            <a:noFill/>
          </a:ln>
        </p:spPr>
      </p:sp>
      <p:sp>
        <p:nvSpPr>
          <p:cNvPr id="34" name=""/>
          <p:cNvSpPr/>
          <p:nvPr/>
        </p:nvSpPr>
        <p:spPr>
          <a:xfrm>
            <a:off x="5038725" y="4772025"/>
            <a:ext cx="704850" cy="266700"/>
          </a:xfrm>
          <a:prstGeom prst="rect">
            <a:avLst/>
          </a:prstGeom>
          <a:noFill/>
          <a:ln w="0">
            <a:noFill/>
          </a:ln>
        </p:spPr>
        <p:txBody>
          <a:bodyPr lIns="0" tIns="0" rIns="0" bIns="0" anchor="mid" wrap="square"/>
          <a:lstStyle/>
          <a:p>
            <a:pPr algn="l">
              <a:defRPr sz="975" b="1">
                <a:solidFill>
                  <a:srgbClr val="5B6370"/>
                </a:solidFill>
                <a:latin typeface="Arial"/>
              </a:defRPr>
            </a:pPr>
            <a:r>
              <a:rPr sz="975" b="1">
                <a:solidFill>
                  <a:srgbClr val="5B6370"/>
                </a:solidFill>
                <a:latin typeface="Arial"/>
              </a:rPr>
              <a:t>0.90</a:t>
            </a:r>
          </a:p>
        </p:txBody>
      </p:sp>
      <p:sp>
        <p:nvSpPr>
          <p:cNvPr id="35" name=""/>
          <p:cNvSpPr/>
          <p:nvPr/>
        </p:nvSpPr>
        <p:spPr>
          <a:xfrm>
            <a:off x="685800" y="5715000"/>
            <a:ext cx="4762500" cy="41910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All six versions parsed successfully; usefulness drove the final choice.</a:t>
            </a:r>
          </a:p>
        </p:txBody>
      </p:sp>
      <p:sp>
        <p:nvSpPr>
          <p:cNvPr id="36" name=""/>
          <p:cNvSpPr/>
          <p:nvPr/>
        </p:nvSpPr>
        <p:spPr>
          <a:xfrm>
            <a:off x="6191250" y="2438400"/>
            <a:ext cx="4000500" cy="2667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Recommendation-intent check</a:t>
            </a:r>
          </a:p>
        </p:txBody>
      </p:sp>
      <p:sp>
        <p:nvSpPr>
          <p:cNvPr id="37" name=""/>
          <p:cNvSpPr/>
          <p:nvPr/>
        </p:nvSpPr>
        <p:spPr>
          <a:xfrm>
            <a:off x="6191250" y="2857500"/>
            <a:ext cx="1638300" cy="914400"/>
          </a:xfrm>
          <a:prstGeom prst="rect">
            <a:avLst/>
          </a:prstGeom>
          <a:solidFill>
            <a:srgbClr val="FFFFFF"/>
          </a:solidFill>
          <a:ln w="9525">
            <a:solidFill>
              <a:srgbClr val="D8D5C7"/>
            </a:solidFill>
          </a:ln>
        </p:spPr>
      </p:sp>
      <p:sp>
        <p:nvSpPr>
          <p:cNvPr id="38" name=""/>
          <p:cNvSpPr/>
          <p:nvPr/>
        </p:nvSpPr>
        <p:spPr>
          <a:xfrm>
            <a:off x="6362700" y="3009900"/>
            <a:ext cx="1295400" cy="419100"/>
          </a:xfrm>
          <a:prstGeom prst="rect">
            <a:avLst/>
          </a:prstGeom>
          <a:noFill/>
          <a:ln w="0">
            <a:noFill/>
          </a:ln>
        </p:spPr>
        <p:txBody>
          <a:bodyPr lIns="0" tIns="0" rIns="0" bIns="0" anchor="t" wrap="square"/>
          <a:lstStyle/>
          <a:p>
            <a:pPr algn="l">
              <a:defRPr sz="2250" b="1">
                <a:solidFill>
                  <a:srgbClr val="21918C"/>
                </a:solidFill>
                <a:latin typeface="Arial"/>
              </a:defRPr>
            </a:pPr>
            <a:r>
              <a:rPr sz="2250" b="1">
                <a:solidFill>
                  <a:srgbClr val="21918C"/>
                </a:solidFill>
                <a:latin typeface="Arial"/>
              </a:rPr>
              <a:t>80%</a:t>
            </a:r>
          </a:p>
        </p:txBody>
      </p:sp>
      <p:sp>
        <p:nvSpPr>
          <p:cNvPr id="39" name=""/>
          <p:cNvSpPr/>
          <p:nvPr/>
        </p:nvSpPr>
        <p:spPr>
          <a:xfrm>
            <a:off x="6362700" y="3448050"/>
            <a:ext cx="1295400" cy="2286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overall accuracy on the 50-review sample</a:t>
            </a:r>
          </a:p>
        </p:txBody>
      </p:sp>
      <p:sp>
        <p:nvSpPr>
          <p:cNvPr id="40" name=""/>
          <p:cNvSpPr/>
          <p:nvPr/>
        </p:nvSpPr>
        <p:spPr>
          <a:xfrm>
            <a:off x="8058150" y="2857500"/>
            <a:ext cx="1638300" cy="914400"/>
          </a:xfrm>
          <a:prstGeom prst="rect">
            <a:avLst/>
          </a:prstGeom>
          <a:solidFill>
            <a:srgbClr val="FFFFFF"/>
          </a:solidFill>
          <a:ln w="9525">
            <a:solidFill>
              <a:srgbClr val="D8D5C7"/>
            </a:solidFill>
          </a:ln>
        </p:spPr>
      </p:sp>
      <p:sp>
        <p:nvSpPr>
          <p:cNvPr id="41" name=""/>
          <p:cNvSpPr/>
          <p:nvPr/>
        </p:nvSpPr>
        <p:spPr>
          <a:xfrm>
            <a:off x="8229600" y="3009900"/>
            <a:ext cx="1295400" cy="419100"/>
          </a:xfrm>
          <a:prstGeom prst="rect">
            <a:avLst/>
          </a:prstGeom>
          <a:noFill/>
          <a:ln w="0">
            <a:noFill/>
          </a:ln>
        </p:spPr>
        <p:txBody>
          <a:bodyPr lIns="0" tIns="0" rIns="0" bIns="0" anchor="t" wrap="square"/>
          <a:lstStyle/>
          <a:p>
            <a:pPr algn="l">
              <a:defRPr sz="2250" b="1">
                <a:solidFill>
                  <a:srgbClr val="440154"/>
                </a:solidFill>
                <a:latin typeface="Arial"/>
              </a:defRPr>
            </a:pPr>
            <a:r>
              <a:rPr sz="2250" b="1">
                <a:solidFill>
                  <a:srgbClr val="440154"/>
                </a:solidFill>
                <a:latin typeface="Arial"/>
              </a:rPr>
              <a:t>12/12</a:t>
            </a:r>
          </a:p>
        </p:txBody>
      </p:sp>
      <p:sp>
        <p:nvSpPr>
          <p:cNvPr id="42" name=""/>
          <p:cNvSpPr/>
          <p:nvPr/>
        </p:nvSpPr>
        <p:spPr>
          <a:xfrm>
            <a:off x="8229600" y="3448050"/>
            <a:ext cx="1295400" cy="2286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not-recommended cases caught</a:t>
            </a:r>
          </a:p>
        </p:txBody>
      </p:sp>
      <p:sp>
        <p:nvSpPr>
          <p:cNvPr id="43" name=""/>
          <p:cNvSpPr/>
          <p:nvPr/>
        </p:nvSpPr>
        <p:spPr>
          <a:xfrm>
            <a:off x="9925050" y="2857500"/>
            <a:ext cx="1638300" cy="914400"/>
          </a:xfrm>
          <a:prstGeom prst="rect">
            <a:avLst/>
          </a:prstGeom>
          <a:solidFill>
            <a:srgbClr val="FFFFFF"/>
          </a:solidFill>
          <a:ln w="9525">
            <a:solidFill>
              <a:srgbClr val="D8D5C7"/>
            </a:solidFill>
          </a:ln>
        </p:spPr>
      </p:sp>
      <p:sp>
        <p:nvSpPr>
          <p:cNvPr id="44" name=""/>
          <p:cNvSpPr/>
          <p:nvPr/>
        </p:nvSpPr>
        <p:spPr>
          <a:xfrm>
            <a:off x="10096500" y="3009900"/>
            <a:ext cx="1295400" cy="419100"/>
          </a:xfrm>
          <a:prstGeom prst="rect">
            <a:avLst/>
          </a:prstGeom>
          <a:noFill/>
          <a:ln w="0">
            <a:noFill/>
          </a:ln>
        </p:spPr>
        <p:txBody>
          <a:bodyPr lIns="0" tIns="0" rIns="0" bIns="0" anchor="t" wrap="square"/>
          <a:lstStyle/>
          <a:p>
            <a:pPr algn="l">
              <a:defRPr sz="2250" b="1">
                <a:solidFill>
                  <a:srgbClr val="5EC962"/>
                </a:solidFill>
                <a:latin typeface="Arial"/>
              </a:defRPr>
            </a:pPr>
            <a:r>
              <a:rPr sz="2250" b="1">
                <a:solidFill>
                  <a:srgbClr val="5EC962"/>
                </a:solidFill>
                <a:latin typeface="Arial"/>
              </a:rPr>
              <a:t>28/38</a:t>
            </a:r>
          </a:p>
        </p:txBody>
      </p:sp>
      <p:sp>
        <p:nvSpPr>
          <p:cNvPr id="45" name=""/>
          <p:cNvSpPr/>
          <p:nvPr/>
        </p:nvSpPr>
        <p:spPr>
          <a:xfrm>
            <a:off x="10096500" y="3448050"/>
            <a:ext cx="1295400" cy="228600"/>
          </a:xfrm>
          <a:prstGeom prst="rect">
            <a:avLst/>
          </a:prstGeom>
          <a:noFill/>
          <a:ln w="0">
            <a:noFill/>
          </a:ln>
        </p:spPr>
        <p:txBody>
          <a:bodyPr lIns="0" tIns="0" rIns="0" bIns="0" anchor="t" wrap="square"/>
          <a:lstStyle/>
          <a:p>
            <a:pPr algn="l">
              <a:defRPr sz="1050">
                <a:solidFill>
                  <a:srgbClr val="5B6370"/>
                </a:solidFill>
                <a:latin typeface="Arial"/>
              </a:defRPr>
            </a:pPr>
            <a:r>
              <a:rPr sz="1050">
                <a:solidFill>
                  <a:srgbClr val="5B6370"/>
                </a:solidFill>
                <a:latin typeface="Arial"/>
              </a:rPr>
              <a:t>recommended cases caught</a:t>
            </a:r>
          </a:p>
        </p:txBody>
      </p:sp>
      <p:sp>
        <p:nvSpPr>
          <p:cNvPr id="46" name=""/>
          <p:cNvSpPr/>
          <p:nvPr/>
        </p:nvSpPr>
        <p:spPr>
          <a:xfrm>
            <a:off x="6191250" y="4095750"/>
            <a:ext cx="3429000" cy="228600"/>
          </a:xfrm>
          <a:prstGeom prst="rect">
            <a:avLst/>
          </a:prstGeom>
          <a:noFill/>
          <a:ln w="0">
            <a:noFill/>
          </a:ln>
        </p:spPr>
        <p:txBody>
          <a:bodyPr lIns="0" tIns="0" rIns="0" bIns="0" anchor="t" wrap="square"/>
          <a:lstStyle/>
          <a:p>
            <a:pPr algn="l">
              <a:defRPr sz="1125" b="1">
                <a:solidFill>
                  <a:srgbClr val="5B6370"/>
                </a:solidFill>
                <a:latin typeface="Arial"/>
              </a:defRPr>
            </a:pPr>
            <a:r>
              <a:rPr sz="1125" b="1">
                <a:solidFill>
                  <a:srgbClr val="5B6370"/>
                </a:solidFill>
                <a:latin typeface="Arial"/>
              </a:rPr>
              <a:t>Confusion matrix in plain English</a:t>
            </a:r>
          </a:p>
        </p:txBody>
      </p:sp>
      <p:sp>
        <p:nvSpPr>
          <p:cNvPr id="47" name=""/>
          <p:cNvSpPr/>
          <p:nvPr/>
        </p:nvSpPr>
        <p:spPr>
          <a:xfrm>
            <a:off x="6191250" y="4438650"/>
            <a:ext cx="1390650" cy="552450"/>
          </a:xfrm>
          <a:prstGeom prst="rect">
            <a:avLst/>
          </a:prstGeom>
          <a:solidFill>
            <a:srgbClr val="440154"/>
          </a:solidFill>
          <a:ln w="19050">
            <a:solidFill>
              <a:srgbClr val="FBFAF4"/>
            </a:solidFill>
          </a:ln>
        </p:spPr>
      </p:sp>
      <p:sp>
        <p:nvSpPr>
          <p:cNvPr id="48" name=""/>
          <p:cNvSpPr/>
          <p:nvPr/>
        </p:nvSpPr>
        <p:spPr>
          <a:xfrm>
            <a:off x="6267450" y="4533900"/>
            <a:ext cx="1238250" cy="381000"/>
          </a:xfrm>
          <a:prstGeom prst="rect">
            <a:avLst/>
          </a:prstGeom>
          <a:noFill/>
          <a:ln w="0">
            <a:noFill/>
          </a:ln>
        </p:spPr>
        <p:txBody>
          <a:bodyPr lIns="0" tIns="0" rIns="0" bIns="0" anchor="mid" wrap="square"/>
          <a:lstStyle/>
          <a:p>
            <a:pPr algn="ctr">
              <a:defRPr sz="1200" b="1">
                <a:solidFill>
                  <a:srgbClr val="FFFFFF"/>
                </a:solidFill>
                <a:latin typeface="Arial"/>
              </a:defRPr>
            </a:pPr>
            <a:r>
              <a:rPr sz="1200" b="1">
                <a:solidFill>
                  <a:srgbClr val="FFFFFF"/>
                </a:solidFill>
                <a:latin typeface="Arial"/>
              </a:rPr>
              <a:t>Correct risk flags</a:t>
            </a:r>
          </a:p>
          <a:p>
            <a:pPr algn="ctr">
              <a:defRPr sz="1200" b="1">
                <a:solidFill>
                  <a:srgbClr val="FFFFFF"/>
                </a:solidFill>
                <a:latin typeface="Arial"/>
              </a:defRPr>
            </a:pPr>
            <a:r>
              <a:rPr sz="1200" b="1">
                <a:solidFill>
                  <a:srgbClr val="FFFFFF"/>
                </a:solidFill>
                <a:latin typeface="Arial"/>
              </a:rPr>
              <a:t>12</a:t>
            </a:r>
          </a:p>
        </p:txBody>
      </p:sp>
      <p:sp>
        <p:nvSpPr>
          <p:cNvPr id="49" name=""/>
          <p:cNvSpPr/>
          <p:nvPr/>
        </p:nvSpPr>
        <p:spPr>
          <a:xfrm>
            <a:off x="7600950" y="4438650"/>
            <a:ext cx="1390650" cy="552450"/>
          </a:xfrm>
          <a:prstGeom prst="rect">
            <a:avLst/>
          </a:prstGeom>
          <a:solidFill>
            <a:srgbClr val="E8E6DD"/>
          </a:solidFill>
          <a:ln w="19050">
            <a:solidFill>
              <a:srgbClr val="FBFAF4"/>
            </a:solidFill>
          </a:ln>
        </p:spPr>
      </p:sp>
      <p:sp>
        <p:nvSpPr>
          <p:cNvPr id="50" name=""/>
          <p:cNvSpPr/>
          <p:nvPr/>
        </p:nvSpPr>
        <p:spPr>
          <a:xfrm>
            <a:off x="7677150" y="4533900"/>
            <a:ext cx="1238250" cy="381000"/>
          </a:xfrm>
          <a:prstGeom prst="rect">
            <a:avLst/>
          </a:prstGeom>
          <a:noFill/>
          <a:ln w="0">
            <a:noFill/>
          </a:ln>
        </p:spPr>
        <p:txBody>
          <a:bodyPr lIns="0" tIns="0" rIns="0" bIns="0" anchor="mid" wrap="square"/>
          <a:lstStyle/>
          <a:p>
            <a:pPr algn="ctr">
              <a:defRPr sz="1200" b="1">
                <a:solidFill>
                  <a:srgbClr val="19152E"/>
                </a:solidFill>
                <a:latin typeface="Arial"/>
              </a:defRPr>
            </a:pPr>
            <a:r>
              <a:rPr sz="1200" b="1">
                <a:solidFill>
                  <a:srgbClr val="19152E"/>
                </a:solidFill>
                <a:latin typeface="Arial"/>
              </a:rPr>
              <a:t>Missed risk</a:t>
            </a:r>
          </a:p>
          <a:p>
            <a:pPr algn="ctr">
              <a:defRPr sz="1200" b="1">
                <a:solidFill>
                  <a:srgbClr val="19152E"/>
                </a:solidFill>
                <a:latin typeface="Arial"/>
              </a:defRPr>
            </a:pPr>
            <a:r>
              <a:rPr sz="1200" b="1">
                <a:solidFill>
                  <a:srgbClr val="19152E"/>
                </a:solidFill>
                <a:latin typeface="Arial"/>
              </a:rPr>
              <a:t>0</a:t>
            </a:r>
          </a:p>
        </p:txBody>
      </p:sp>
      <p:sp>
        <p:nvSpPr>
          <p:cNvPr id="51" name=""/>
          <p:cNvSpPr/>
          <p:nvPr/>
        </p:nvSpPr>
        <p:spPr>
          <a:xfrm>
            <a:off x="6191250" y="5010150"/>
            <a:ext cx="1390650" cy="552450"/>
          </a:xfrm>
          <a:prstGeom prst="rect">
            <a:avLst/>
          </a:prstGeom>
          <a:solidFill>
            <a:srgbClr val="3B528B"/>
          </a:solidFill>
          <a:ln w="19050">
            <a:solidFill>
              <a:srgbClr val="FBFAF4"/>
            </a:solidFill>
          </a:ln>
        </p:spPr>
      </p:sp>
      <p:sp>
        <p:nvSpPr>
          <p:cNvPr id="52" name=""/>
          <p:cNvSpPr/>
          <p:nvPr/>
        </p:nvSpPr>
        <p:spPr>
          <a:xfrm>
            <a:off x="6267450" y="5105400"/>
            <a:ext cx="1238250" cy="381000"/>
          </a:xfrm>
          <a:prstGeom prst="rect">
            <a:avLst/>
          </a:prstGeom>
          <a:noFill/>
          <a:ln w="0">
            <a:noFill/>
          </a:ln>
        </p:spPr>
        <p:txBody>
          <a:bodyPr lIns="0" tIns="0" rIns="0" bIns="0" anchor="mid" wrap="square"/>
          <a:lstStyle/>
          <a:p>
            <a:pPr algn="ctr">
              <a:defRPr sz="1200" b="1">
                <a:solidFill>
                  <a:srgbClr val="FFFFFF"/>
                </a:solidFill>
                <a:latin typeface="Arial"/>
              </a:defRPr>
            </a:pPr>
            <a:r>
              <a:rPr sz="1200" b="1">
                <a:solidFill>
                  <a:srgbClr val="FFFFFF"/>
                </a:solidFill>
                <a:latin typeface="Arial"/>
              </a:rPr>
              <a:t>Too cautious</a:t>
            </a:r>
          </a:p>
          <a:p>
            <a:pPr algn="ctr">
              <a:defRPr sz="1200" b="1">
                <a:solidFill>
                  <a:srgbClr val="FFFFFF"/>
                </a:solidFill>
                <a:latin typeface="Arial"/>
              </a:defRPr>
            </a:pPr>
            <a:r>
              <a:rPr sz="1200" b="1">
                <a:solidFill>
                  <a:srgbClr val="FFFFFF"/>
                </a:solidFill>
                <a:latin typeface="Arial"/>
              </a:rPr>
              <a:t>10</a:t>
            </a:r>
          </a:p>
        </p:txBody>
      </p:sp>
      <p:sp>
        <p:nvSpPr>
          <p:cNvPr id="53" name=""/>
          <p:cNvSpPr/>
          <p:nvPr/>
        </p:nvSpPr>
        <p:spPr>
          <a:xfrm>
            <a:off x="7600950" y="5010150"/>
            <a:ext cx="1390650" cy="552450"/>
          </a:xfrm>
          <a:prstGeom prst="rect">
            <a:avLst/>
          </a:prstGeom>
          <a:solidFill>
            <a:srgbClr val="5EC962"/>
          </a:solidFill>
          <a:ln w="19050">
            <a:solidFill>
              <a:srgbClr val="FBFAF4"/>
            </a:solidFill>
          </a:ln>
        </p:spPr>
      </p:sp>
      <p:sp>
        <p:nvSpPr>
          <p:cNvPr id="54" name=""/>
          <p:cNvSpPr/>
          <p:nvPr/>
        </p:nvSpPr>
        <p:spPr>
          <a:xfrm>
            <a:off x="7677150" y="5105400"/>
            <a:ext cx="1238250" cy="381000"/>
          </a:xfrm>
          <a:prstGeom prst="rect">
            <a:avLst/>
          </a:prstGeom>
          <a:noFill/>
          <a:ln w="0">
            <a:noFill/>
          </a:ln>
        </p:spPr>
        <p:txBody>
          <a:bodyPr lIns="0" tIns="0" rIns="0" bIns="0" anchor="mid" wrap="square"/>
          <a:lstStyle/>
          <a:p>
            <a:pPr algn="ctr">
              <a:defRPr sz="1200" b="1">
                <a:solidFill>
                  <a:srgbClr val="19152E"/>
                </a:solidFill>
                <a:latin typeface="Arial"/>
              </a:defRPr>
            </a:pPr>
            <a:r>
              <a:rPr sz="1200" b="1">
                <a:solidFill>
                  <a:srgbClr val="19152E"/>
                </a:solidFill>
                <a:latin typeface="Arial"/>
              </a:rPr>
              <a:t>Correct positives</a:t>
            </a:r>
          </a:p>
          <a:p>
            <a:pPr algn="ctr">
              <a:defRPr sz="1200" b="1">
                <a:solidFill>
                  <a:srgbClr val="19152E"/>
                </a:solidFill>
                <a:latin typeface="Arial"/>
              </a:defRPr>
            </a:pPr>
            <a:r>
              <a:rPr sz="1200" b="1">
                <a:solidFill>
                  <a:srgbClr val="19152E"/>
                </a:solidFill>
                <a:latin typeface="Arial"/>
              </a:rPr>
              <a:t>28</a:t>
            </a:r>
          </a:p>
        </p:txBody>
      </p:sp>
      <p:sp>
        <p:nvSpPr>
          <p:cNvPr id="55" name=""/>
          <p:cNvSpPr/>
          <p:nvPr/>
        </p:nvSpPr>
        <p:spPr>
          <a:xfrm>
            <a:off x="9258300" y="4457700"/>
            <a:ext cx="2228850" cy="110490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Useful for risk triage; conservative on positive recommendations.</a:t>
            </a:r>
          </a:p>
        </p:txBody>
      </p:sp>
      <p:sp>
        <p:nvSpPr>
          <p:cNvPr id="56"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7D817B"/>
                </a:solidFill>
                <a:latin typeface="Arial"/>
              </a:defRPr>
            </a:pPr>
            <a:r>
              <a:rPr sz="750">
                <a:solidFill>
                  <a:srgbClr val="7D817B"/>
                </a:solidFill>
                <a:latin typeface="Arial"/>
              </a:rPr>
              <a:t>Source: Final capstone notebook; Live Presentation Rubric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p:grpSpPr>
      <p:sp>
        <p:nvSpPr>
          <p:cNvPr id="2" name=""/>
          <p:cNvSpPr/>
          <p:nvPr/>
        </p:nvSpPr>
        <p:spPr>
          <a:xfrm>
            <a:off x="0" y="0"/>
            <a:ext cx="114300" cy="6858000"/>
          </a:xfrm>
          <a:prstGeom prst="rect">
            <a:avLst/>
          </a:prstGeom>
          <a:solidFill>
            <a:srgbClr val="440154"/>
          </a:solidFill>
          <a:ln w="0">
            <a:noFill/>
          </a:ln>
        </p:spPr>
      </p:sp>
      <p:sp>
        <p:nvSpPr>
          <p:cNvPr id="3" name=""/>
          <p:cNvSpPr/>
          <p:nvPr/>
        </p:nvSpPr>
        <p:spPr>
          <a:xfrm>
            <a:off x="114300" y="0"/>
            <a:ext cx="57150" cy="6858000"/>
          </a:xfrm>
          <a:prstGeom prst="rect">
            <a:avLst/>
          </a:prstGeom>
          <a:solidFill>
            <a:srgbClr val="21918C"/>
          </a:solidFill>
          <a:ln w="0">
            <a:noFill/>
          </a:ln>
        </p:spPr>
      </p:sp>
      <p:sp>
        <p:nvSpPr>
          <p:cNvPr id="4" name=""/>
          <p:cNvSpPr/>
          <p:nvPr/>
        </p:nvSpPr>
        <p:spPr>
          <a:xfrm>
            <a:off x="171450" y="0"/>
            <a:ext cx="38100" cy="6858000"/>
          </a:xfrm>
          <a:prstGeom prst="rect">
            <a:avLst/>
          </a:prstGeom>
          <a:solidFill>
            <a:srgbClr val="FDE725"/>
          </a:solidFill>
          <a:ln w="0">
            <a:noFill/>
          </a:ln>
        </p:spPr>
      </p:sp>
      <p:sp>
        <p:nvSpPr>
          <p:cNvPr id="5" name=""/>
          <p:cNvSpPr/>
          <p:nvPr/>
        </p:nvSpPr>
        <p:spPr>
          <a:xfrm>
            <a:off x="533400" y="390525"/>
            <a:ext cx="95250" cy="95250"/>
          </a:xfrm>
          <a:prstGeom prst="rect">
            <a:avLst/>
          </a:prstGeom>
          <a:solidFill>
            <a:srgbClr val="21918C"/>
          </a:solidFill>
          <a:ln w="0">
            <a:noFill/>
          </a:ln>
        </p:spPr>
      </p:sp>
      <p:sp>
        <p:nvSpPr>
          <p:cNvPr id="6" name=""/>
          <p:cNvSpPr/>
          <p:nvPr/>
        </p:nvSpPr>
        <p:spPr>
          <a:xfrm>
            <a:off x="723900" y="323850"/>
            <a:ext cx="4000500" cy="247650"/>
          </a:xfrm>
          <a:prstGeom prst="rect">
            <a:avLst/>
          </a:prstGeom>
          <a:noFill/>
          <a:ln w="0">
            <a:noFill/>
          </a:ln>
        </p:spPr>
        <p:txBody>
          <a:bodyPr lIns="0" tIns="0" rIns="0" bIns="0" anchor="mid" wrap="square"/>
          <a:lstStyle/>
          <a:p>
            <a:pPr algn="l">
              <a:defRPr sz="1050" b="1">
                <a:solidFill>
                  <a:srgbClr val="5B6370"/>
                </a:solidFill>
                <a:latin typeface="Arial"/>
              </a:defRPr>
            </a:pPr>
            <a:r>
              <a:rPr sz="1050" b="1">
                <a:solidFill>
                  <a:srgbClr val="5B6370"/>
                </a:solidFill>
                <a:latin typeface="Arial"/>
              </a:rPr>
              <a:t>CUSTOMER INSIGHTS</a:t>
            </a:r>
          </a:p>
        </p:txBody>
      </p:sp>
      <p:sp>
        <p:nvSpPr>
          <p:cNvPr id="7" name=""/>
          <p:cNvSpPr/>
          <p:nvPr/>
        </p:nvSpPr>
        <p:spPr>
          <a:xfrm>
            <a:off x="10687050" y="323850"/>
            <a:ext cx="876300" cy="247650"/>
          </a:xfrm>
          <a:prstGeom prst="rect">
            <a:avLst/>
          </a:prstGeom>
          <a:noFill/>
          <a:ln w="0">
            <a:noFill/>
          </a:ln>
        </p:spPr>
        <p:txBody>
          <a:bodyPr lIns="0" tIns="0" rIns="0" bIns="0" anchor="mid" wrap="square"/>
          <a:lstStyle/>
          <a:p>
            <a:pPr algn="r">
              <a:defRPr sz="975" b="1">
                <a:solidFill>
                  <a:srgbClr val="5B6370"/>
                </a:solidFill>
                <a:latin typeface="Arial"/>
              </a:defRPr>
            </a:pPr>
            <a:r>
              <a:rPr sz="975" b="1">
                <a:solidFill>
                  <a:srgbClr val="5B6370"/>
                </a:solidFill>
                <a:latin typeface="Arial"/>
              </a:rPr>
              <a:t>07 / 09</a:t>
            </a:r>
          </a:p>
        </p:txBody>
      </p:sp>
      <p:sp>
        <p:nvSpPr>
          <p:cNvPr id="8" name=""/>
          <p:cNvSpPr/>
          <p:nvPr/>
        </p:nvSpPr>
        <p:spPr>
          <a:xfrm>
            <a:off x="533400" y="781050"/>
            <a:ext cx="8572500" cy="914400"/>
          </a:xfrm>
          <a:prstGeom prst="rect">
            <a:avLst/>
          </a:prstGeom>
          <a:noFill/>
          <a:ln w="0">
            <a:noFill/>
          </a:ln>
        </p:spPr>
        <p:txBody>
          <a:bodyPr lIns="0" tIns="0" rIns="0" bIns="0" anchor="t" wrap="square"/>
          <a:lstStyle/>
          <a:p>
            <a:pPr algn="l">
              <a:defRPr sz="3150" b="1">
                <a:solidFill>
                  <a:srgbClr val="19152E"/>
                </a:solidFill>
                <a:latin typeface="Arial"/>
              </a:defRPr>
            </a:pPr>
            <a:r>
              <a:rPr sz="3150" b="1">
                <a:solidFill>
                  <a:srgbClr val="19152E"/>
                </a:solidFill>
                <a:latin typeface="Arial"/>
              </a:rPr>
              <a:t>Four themes explain most action.</a:t>
            </a:r>
          </a:p>
        </p:txBody>
      </p:sp>
      <p:sp>
        <p:nvSpPr>
          <p:cNvPr id="9" name=""/>
          <p:cNvSpPr/>
          <p:nvPr/>
        </p:nvSpPr>
        <p:spPr>
          <a:xfrm>
            <a:off x="552450" y="1695450"/>
            <a:ext cx="7810500" cy="514350"/>
          </a:xfrm>
          <a:prstGeom prst="rect">
            <a:avLst/>
          </a:prstGeom>
          <a:noFill/>
          <a:ln w="0">
            <a:noFill/>
          </a:ln>
        </p:spPr>
        <p:txBody>
          <a:bodyPr lIns="0" tIns="0" rIns="0" bIns="0" anchor="t" wrap="square"/>
          <a:lstStyle/>
          <a:p>
            <a:pPr algn="l">
              <a:defRPr sz="1500">
                <a:solidFill>
                  <a:srgbClr val="5B6370"/>
                </a:solidFill>
                <a:latin typeface="Arial"/>
              </a:defRPr>
            </a:pPr>
            <a:r>
              <a:rPr sz="1500">
                <a:solidFill>
                  <a:srgbClr val="5B6370"/>
                </a:solidFill>
                <a:latin typeface="Arial"/>
              </a:rPr>
              <a:t>Each theme maps to a business lever.</a:t>
            </a:r>
          </a:p>
        </p:txBody>
      </p:sp>
      <p:sp>
        <p:nvSpPr>
          <p:cNvPr id="10" name=""/>
          <p:cNvSpPr/>
          <p:nvPr/>
        </p:nvSpPr>
        <p:spPr>
          <a:xfrm>
            <a:off x="609600" y="2495550"/>
            <a:ext cx="2476500" cy="1943100"/>
          </a:xfrm>
          <a:prstGeom prst="rect">
            <a:avLst/>
          </a:prstGeom>
          <a:solidFill>
            <a:srgbClr val="FFFFFF"/>
          </a:solidFill>
          <a:ln w="9525">
            <a:solidFill>
              <a:srgbClr val="D8D5C7"/>
            </a:solidFill>
          </a:ln>
        </p:spPr>
      </p:sp>
      <p:sp>
        <p:nvSpPr>
          <p:cNvPr id="11" name=""/>
          <p:cNvSpPr/>
          <p:nvPr/>
        </p:nvSpPr>
        <p:spPr>
          <a:xfrm>
            <a:off x="609600" y="2495550"/>
            <a:ext cx="57150" cy="1943100"/>
          </a:xfrm>
          <a:prstGeom prst="rect">
            <a:avLst/>
          </a:prstGeom>
          <a:solidFill>
            <a:srgbClr val="440154"/>
          </a:solidFill>
          <a:ln w="0">
            <a:noFill/>
          </a:ln>
        </p:spPr>
      </p:sp>
      <p:sp>
        <p:nvSpPr>
          <p:cNvPr id="12" name=""/>
          <p:cNvSpPr/>
          <p:nvPr/>
        </p:nvSpPr>
        <p:spPr>
          <a:xfrm>
            <a:off x="819150" y="2667000"/>
            <a:ext cx="2057400" cy="304800"/>
          </a:xfrm>
          <a:prstGeom prst="rect">
            <a:avLst/>
          </a:prstGeom>
          <a:noFill/>
          <a:ln w="0">
            <a:noFill/>
          </a:ln>
        </p:spPr>
        <p:txBody>
          <a:bodyPr lIns="0" tIns="0" rIns="0" bIns="0" anchor="t" wrap="square"/>
          <a:lstStyle/>
          <a:p>
            <a:pPr algn="l">
              <a:defRPr sz="1500" b="1">
                <a:solidFill>
                  <a:srgbClr val="19152E"/>
                </a:solidFill>
                <a:latin typeface="Arial"/>
              </a:defRPr>
            </a:pPr>
            <a:r>
              <a:rPr sz="1500" b="1">
                <a:solidFill>
                  <a:srgbClr val="19152E"/>
                </a:solidFill>
                <a:latin typeface="Arial"/>
              </a:rPr>
              <a:t>Fit and sizing</a:t>
            </a:r>
          </a:p>
        </p:txBody>
      </p:sp>
      <p:sp>
        <p:nvSpPr>
          <p:cNvPr id="13" name=""/>
          <p:cNvSpPr/>
          <p:nvPr/>
        </p:nvSpPr>
        <p:spPr>
          <a:xfrm>
            <a:off x="819150" y="3028950"/>
            <a:ext cx="2057400" cy="131445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Sleeves, bust, waist, drape, true-to-size expectations.</a:t>
            </a:r>
          </a:p>
        </p:txBody>
      </p:sp>
      <p:sp>
        <p:nvSpPr>
          <p:cNvPr id="14" name=""/>
          <p:cNvSpPr/>
          <p:nvPr/>
        </p:nvSpPr>
        <p:spPr>
          <a:xfrm>
            <a:off x="3409950" y="2495550"/>
            <a:ext cx="2476500" cy="1943100"/>
          </a:xfrm>
          <a:prstGeom prst="rect">
            <a:avLst/>
          </a:prstGeom>
          <a:solidFill>
            <a:srgbClr val="FFFFFF"/>
          </a:solidFill>
          <a:ln w="9525">
            <a:solidFill>
              <a:srgbClr val="D8D5C7"/>
            </a:solidFill>
          </a:ln>
        </p:spPr>
      </p:sp>
      <p:sp>
        <p:nvSpPr>
          <p:cNvPr id="15" name=""/>
          <p:cNvSpPr/>
          <p:nvPr/>
        </p:nvSpPr>
        <p:spPr>
          <a:xfrm>
            <a:off x="3409950" y="2495550"/>
            <a:ext cx="57150" cy="1943100"/>
          </a:xfrm>
          <a:prstGeom prst="rect">
            <a:avLst/>
          </a:prstGeom>
          <a:solidFill>
            <a:srgbClr val="3B528B"/>
          </a:solidFill>
          <a:ln w="0">
            <a:noFill/>
          </a:ln>
        </p:spPr>
      </p:sp>
      <p:sp>
        <p:nvSpPr>
          <p:cNvPr id="16" name=""/>
          <p:cNvSpPr/>
          <p:nvPr/>
        </p:nvSpPr>
        <p:spPr>
          <a:xfrm>
            <a:off x="3619500" y="2667000"/>
            <a:ext cx="2057400" cy="304800"/>
          </a:xfrm>
          <a:prstGeom prst="rect">
            <a:avLst/>
          </a:prstGeom>
          <a:noFill/>
          <a:ln w="0">
            <a:noFill/>
          </a:ln>
        </p:spPr>
        <p:txBody>
          <a:bodyPr lIns="0" tIns="0" rIns="0" bIns="0" anchor="t" wrap="square"/>
          <a:lstStyle/>
          <a:p>
            <a:pPr algn="l">
              <a:defRPr sz="1500" b="1">
                <a:solidFill>
                  <a:srgbClr val="19152E"/>
                </a:solidFill>
                <a:latin typeface="Arial"/>
              </a:defRPr>
            </a:pPr>
            <a:r>
              <a:rPr sz="1500" b="1">
                <a:solidFill>
                  <a:srgbClr val="19152E"/>
                </a:solidFill>
                <a:latin typeface="Arial"/>
              </a:rPr>
              <a:t>Fabric and quality</a:t>
            </a:r>
          </a:p>
        </p:txBody>
      </p:sp>
      <p:sp>
        <p:nvSpPr>
          <p:cNvPr id="17" name=""/>
          <p:cNvSpPr/>
          <p:nvPr/>
        </p:nvSpPr>
        <p:spPr>
          <a:xfrm>
            <a:off x="3619500" y="3028950"/>
            <a:ext cx="2057400" cy="131445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Material, transparency, durability, construction.</a:t>
            </a:r>
          </a:p>
        </p:txBody>
      </p:sp>
      <p:sp>
        <p:nvSpPr>
          <p:cNvPr id="18" name=""/>
          <p:cNvSpPr/>
          <p:nvPr/>
        </p:nvSpPr>
        <p:spPr>
          <a:xfrm>
            <a:off x="6210300" y="2495550"/>
            <a:ext cx="2476500" cy="1943100"/>
          </a:xfrm>
          <a:prstGeom prst="rect">
            <a:avLst/>
          </a:prstGeom>
          <a:solidFill>
            <a:srgbClr val="FFFFFF"/>
          </a:solidFill>
          <a:ln w="9525">
            <a:solidFill>
              <a:srgbClr val="D8D5C7"/>
            </a:solidFill>
          </a:ln>
        </p:spPr>
      </p:sp>
      <p:sp>
        <p:nvSpPr>
          <p:cNvPr id="19" name=""/>
          <p:cNvSpPr/>
          <p:nvPr/>
        </p:nvSpPr>
        <p:spPr>
          <a:xfrm>
            <a:off x="6210300" y="2495550"/>
            <a:ext cx="57150" cy="1943100"/>
          </a:xfrm>
          <a:prstGeom prst="rect">
            <a:avLst/>
          </a:prstGeom>
          <a:solidFill>
            <a:srgbClr val="21918C"/>
          </a:solidFill>
          <a:ln w="0">
            <a:noFill/>
          </a:ln>
        </p:spPr>
      </p:sp>
      <p:sp>
        <p:nvSpPr>
          <p:cNvPr id="20" name=""/>
          <p:cNvSpPr/>
          <p:nvPr/>
        </p:nvSpPr>
        <p:spPr>
          <a:xfrm>
            <a:off x="6419850" y="2667000"/>
            <a:ext cx="2057400" cy="304800"/>
          </a:xfrm>
          <a:prstGeom prst="rect">
            <a:avLst/>
          </a:prstGeom>
          <a:noFill/>
          <a:ln w="0">
            <a:noFill/>
          </a:ln>
        </p:spPr>
        <p:txBody>
          <a:bodyPr lIns="0" tIns="0" rIns="0" bIns="0" anchor="t" wrap="square"/>
          <a:lstStyle/>
          <a:p>
            <a:pPr algn="l">
              <a:defRPr sz="1500" b="1">
                <a:solidFill>
                  <a:srgbClr val="19152E"/>
                </a:solidFill>
                <a:latin typeface="Arial"/>
              </a:defRPr>
            </a:pPr>
            <a:r>
              <a:rPr sz="1500" b="1">
                <a:solidFill>
                  <a:srgbClr val="19152E"/>
                </a:solidFill>
                <a:latin typeface="Arial"/>
              </a:rPr>
              <a:t>Image and color accuracy</a:t>
            </a:r>
          </a:p>
        </p:txBody>
      </p:sp>
      <p:sp>
        <p:nvSpPr>
          <p:cNvPr id="21" name=""/>
          <p:cNvSpPr/>
          <p:nvPr/>
        </p:nvSpPr>
        <p:spPr>
          <a:xfrm>
            <a:off x="6419850" y="3028950"/>
            <a:ext cx="2057400" cy="131445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Photo, color, texture, and silhouette mismatch.</a:t>
            </a:r>
          </a:p>
        </p:txBody>
      </p:sp>
      <p:sp>
        <p:nvSpPr>
          <p:cNvPr id="22" name=""/>
          <p:cNvSpPr/>
          <p:nvPr/>
        </p:nvSpPr>
        <p:spPr>
          <a:xfrm>
            <a:off x="9010650" y="2495550"/>
            <a:ext cx="2476500" cy="1943100"/>
          </a:xfrm>
          <a:prstGeom prst="rect">
            <a:avLst/>
          </a:prstGeom>
          <a:solidFill>
            <a:srgbClr val="FFFFFF"/>
          </a:solidFill>
          <a:ln w="9525">
            <a:solidFill>
              <a:srgbClr val="D8D5C7"/>
            </a:solidFill>
          </a:ln>
        </p:spPr>
      </p:sp>
      <p:sp>
        <p:nvSpPr>
          <p:cNvPr id="23" name=""/>
          <p:cNvSpPr/>
          <p:nvPr/>
        </p:nvSpPr>
        <p:spPr>
          <a:xfrm>
            <a:off x="9010650" y="2495550"/>
            <a:ext cx="57150" cy="1943100"/>
          </a:xfrm>
          <a:prstGeom prst="rect">
            <a:avLst/>
          </a:prstGeom>
          <a:solidFill>
            <a:srgbClr val="5EC962"/>
          </a:solidFill>
          <a:ln w="0">
            <a:noFill/>
          </a:ln>
        </p:spPr>
      </p:sp>
      <p:sp>
        <p:nvSpPr>
          <p:cNvPr id="24" name=""/>
          <p:cNvSpPr/>
          <p:nvPr/>
        </p:nvSpPr>
        <p:spPr>
          <a:xfrm>
            <a:off x="9220200" y="2667000"/>
            <a:ext cx="2057400" cy="304800"/>
          </a:xfrm>
          <a:prstGeom prst="rect">
            <a:avLst/>
          </a:prstGeom>
          <a:noFill/>
          <a:ln w="0">
            <a:noFill/>
          </a:ln>
        </p:spPr>
        <p:txBody>
          <a:bodyPr lIns="0" tIns="0" rIns="0" bIns="0" anchor="t" wrap="square"/>
          <a:lstStyle/>
          <a:p>
            <a:pPr algn="l">
              <a:defRPr sz="1500" b="1">
                <a:solidFill>
                  <a:srgbClr val="19152E"/>
                </a:solidFill>
                <a:latin typeface="Arial"/>
              </a:defRPr>
            </a:pPr>
            <a:r>
              <a:rPr sz="1500" b="1">
                <a:solidFill>
                  <a:srgbClr val="19152E"/>
                </a:solidFill>
                <a:latin typeface="Arial"/>
              </a:rPr>
              <a:t>Comfort and style</a:t>
            </a:r>
          </a:p>
        </p:txBody>
      </p:sp>
      <p:sp>
        <p:nvSpPr>
          <p:cNvPr id="25" name=""/>
          <p:cNvSpPr/>
          <p:nvPr/>
        </p:nvSpPr>
        <p:spPr>
          <a:xfrm>
            <a:off x="9220200" y="3028950"/>
            <a:ext cx="2057400" cy="1314450"/>
          </a:xfrm>
          <a:prstGeom prst="rect">
            <a:avLst/>
          </a:prstGeom>
          <a:noFill/>
          <a:ln w="0">
            <a:noFill/>
          </a:ln>
        </p:spPr>
        <p:txBody>
          <a:bodyPr lIns="0" tIns="0" rIns="0" bIns="0" anchor="t" wrap="square"/>
          <a:lstStyle/>
          <a:p>
            <a:pPr algn="l">
              <a:defRPr sz="1125">
                <a:solidFill>
                  <a:srgbClr val="5B6370"/>
                </a:solidFill>
                <a:latin typeface="Arial"/>
              </a:defRPr>
            </a:pPr>
            <a:r>
              <a:rPr sz="1125">
                <a:solidFill>
                  <a:srgbClr val="5B6370"/>
                </a:solidFill>
                <a:latin typeface="Arial"/>
              </a:rPr>
              <a:t>Flattering design, softness, versatility, ease of wear.</a:t>
            </a:r>
          </a:p>
        </p:txBody>
      </p:sp>
      <p:sp>
        <p:nvSpPr>
          <p:cNvPr id="26" name=""/>
          <p:cNvSpPr/>
          <p:nvPr/>
        </p:nvSpPr>
        <p:spPr>
          <a:xfrm>
            <a:off x="1066800" y="5029200"/>
            <a:ext cx="9620250" cy="704850"/>
          </a:xfrm>
          <a:prstGeom prst="rect">
            <a:avLst/>
          </a:prstGeom>
          <a:solidFill>
            <a:srgbClr val="440154"/>
          </a:solidFill>
          <a:ln w="0">
            <a:noFill/>
          </a:ln>
        </p:spPr>
      </p:sp>
      <p:sp>
        <p:nvSpPr>
          <p:cNvPr id="27" name=""/>
          <p:cNvSpPr/>
          <p:nvPr/>
        </p:nvSpPr>
        <p:spPr>
          <a:xfrm>
            <a:off x="1257300" y="5238750"/>
            <a:ext cx="857250" cy="19050"/>
          </a:xfrm>
          <a:prstGeom prst="rect">
            <a:avLst/>
          </a:prstGeom>
          <a:solidFill>
            <a:srgbClr val="FDE725"/>
          </a:solidFill>
          <a:ln w="0">
            <a:noFill/>
          </a:ln>
        </p:spPr>
      </p:sp>
      <p:sp>
        <p:nvSpPr>
          <p:cNvPr id="28" name=""/>
          <p:cNvSpPr/>
          <p:nvPr/>
        </p:nvSpPr>
        <p:spPr>
          <a:xfrm>
            <a:off x="2343150" y="5172075"/>
            <a:ext cx="1809750" cy="266700"/>
          </a:xfrm>
          <a:prstGeom prst="rect">
            <a:avLst/>
          </a:prstGeom>
          <a:noFill/>
          <a:ln w="0">
            <a:noFill/>
          </a:ln>
        </p:spPr>
        <p:txBody>
          <a:bodyPr lIns="0" tIns="0" rIns="0" bIns="0" anchor="t" wrap="square"/>
          <a:lstStyle/>
          <a:p>
            <a:pPr algn="l">
              <a:defRPr sz="1350" b="1">
                <a:solidFill>
                  <a:srgbClr val="FDE725"/>
                </a:solidFill>
                <a:latin typeface="Arial"/>
              </a:defRPr>
            </a:pPr>
            <a:r>
              <a:rPr sz="1350" b="1">
                <a:solidFill>
                  <a:srgbClr val="FDE725"/>
                </a:solidFill>
                <a:latin typeface="Arial"/>
              </a:rPr>
              <a:t>Insight for leaders</a:t>
            </a:r>
          </a:p>
        </p:txBody>
      </p:sp>
      <p:sp>
        <p:nvSpPr>
          <p:cNvPr id="29" name=""/>
          <p:cNvSpPr/>
          <p:nvPr/>
        </p:nvSpPr>
        <p:spPr>
          <a:xfrm>
            <a:off x="4267200" y="5143500"/>
            <a:ext cx="6096000" cy="381000"/>
          </a:xfrm>
          <a:prstGeom prst="rect">
            <a:avLst/>
          </a:prstGeom>
          <a:noFill/>
          <a:ln w="0">
            <a:noFill/>
          </a:ln>
        </p:spPr>
        <p:txBody>
          <a:bodyPr lIns="0" tIns="0" rIns="0" bIns="0" anchor="t" wrap="square"/>
          <a:lstStyle/>
          <a:p>
            <a:pPr algn="l">
              <a:defRPr sz="1200">
                <a:solidFill>
                  <a:srgbClr val="F8F7EF"/>
                </a:solidFill>
                <a:latin typeface="Arial"/>
              </a:defRPr>
            </a:pPr>
            <a:r>
              <a:rPr sz="1200">
                <a:solidFill>
                  <a:srgbClr val="F8F7EF"/>
                </a:solidFill>
                <a:latin typeface="Arial"/>
              </a:rPr>
              <a:t>Convert repeated review language into page updates, product QA, and fit guidance.</a:t>
            </a:r>
          </a:p>
        </p:txBody>
      </p:sp>
      <p:sp>
        <p:nvSpPr>
          <p:cNvPr id="30"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7D817B"/>
                </a:solidFill>
                <a:latin typeface="Arial"/>
              </a:defRPr>
            </a:pPr>
            <a:r>
              <a:rPr sz="750">
                <a:solidFill>
                  <a:srgbClr val="7D817B"/>
                </a:solidFill>
                <a:latin typeface="Arial"/>
              </a:rPr>
              <a:t>Source: Final capstone notebook; Live Presentation Rubric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p:grpSpPr>
      <p:sp>
        <p:nvSpPr>
          <p:cNvPr id="2" name=""/>
          <p:cNvSpPr/>
          <p:nvPr/>
        </p:nvSpPr>
        <p:spPr>
          <a:xfrm>
            <a:off x="0" y="0"/>
            <a:ext cx="114300" cy="6858000"/>
          </a:xfrm>
          <a:prstGeom prst="rect">
            <a:avLst/>
          </a:prstGeom>
          <a:solidFill>
            <a:srgbClr val="440154"/>
          </a:solidFill>
          <a:ln w="0">
            <a:noFill/>
          </a:ln>
        </p:spPr>
      </p:sp>
      <p:sp>
        <p:nvSpPr>
          <p:cNvPr id="3" name=""/>
          <p:cNvSpPr/>
          <p:nvPr/>
        </p:nvSpPr>
        <p:spPr>
          <a:xfrm>
            <a:off x="114300" y="0"/>
            <a:ext cx="57150" cy="6858000"/>
          </a:xfrm>
          <a:prstGeom prst="rect">
            <a:avLst/>
          </a:prstGeom>
          <a:solidFill>
            <a:srgbClr val="21918C"/>
          </a:solidFill>
          <a:ln w="0">
            <a:noFill/>
          </a:ln>
        </p:spPr>
      </p:sp>
      <p:sp>
        <p:nvSpPr>
          <p:cNvPr id="4" name=""/>
          <p:cNvSpPr/>
          <p:nvPr/>
        </p:nvSpPr>
        <p:spPr>
          <a:xfrm>
            <a:off x="171450" y="0"/>
            <a:ext cx="38100" cy="6858000"/>
          </a:xfrm>
          <a:prstGeom prst="rect">
            <a:avLst/>
          </a:prstGeom>
          <a:solidFill>
            <a:srgbClr val="FDE725"/>
          </a:solidFill>
          <a:ln w="0">
            <a:noFill/>
          </a:ln>
        </p:spPr>
      </p:sp>
      <p:sp>
        <p:nvSpPr>
          <p:cNvPr id="5" name=""/>
          <p:cNvSpPr/>
          <p:nvPr/>
        </p:nvSpPr>
        <p:spPr>
          <a:xfrm>
            <a:off x="533400" y="390525"/>
            <a:ext cx="95250" cy="95250"/>
          </a:xfrm>
          <a:prstGeom prst="rect">
            <a:avLst/>
          </a:prstGeom>
          <a:solidFill>
            <a:srgbClr val="21918C"/>
          </a:solidFill>
          <a:ln w="0">
            <a:noFill/>
          </a:ln>
        </p:spPr>
      </p:sp>
      <p:sp>
        <p:nvSpPr>
          <p:cNvPr id="6" name=""/>
          <p:cNvSpPr/>
          <p:nvPr/>
        </p:nvSpPr>
        <p:spPr>
          <a:xfrm>
            <a:off x="723900" y="323850"/>
            <a:ext cx="4000500" cy="247650"/>
          </a:xfrm>
          <a:prstGeom prst="rect">
            <a:avLst/>
          </a:prstGeom>
          <a:noFill/>
          <a:ln w="0">
            <a:noFill/>
          </a:ln>
        </p:spPr>
        <p:txBody>
          <a:bodyPr lIns="0" tIns="0" rIns="0" bIns="0" anchor="mid" wrap="square"/>
          <a:lstStyle/>
          <a:p>
            <a:pPr algn="l">
              <a:defRPr sz="1050" b="1">
                <a:solidFill>
                  <a:srgbClr val="5B6370"/>
                </a:solidFill>
                <a:latin typeface="Arial"/>
              </a:defRPr>
            </a:pPr>
            <a:r>
              <a:rPr sz="1050" b="1">
                <a:solidFill>
                  <a:srgbClr val="5B6370"/>
                </a:solidFill>
                <a:latin typeface="Arial"/>
              </a:rPr>
              <a:t>RECOMMENDATIONS</a:t>
            </a:r>
          </a:p>
        </p:txBody>
      </p:sp>
      <p:sp>
        <p:nvSpPr>
          <p:cNvPr id="7" name=""/>
          <p:cNvSpPr/>
          <p:nvPr/>
        </p:nvSpPr>
        <p:spPr>
          <a:xfrm>
            <a:off x="10687050" y="323850"/>
            <a:ext cx="876300" cy="247650"/>
          </a:xfrm>
          <a:prstGeom prst="rect">
            <a:avLst/>
          </a:prstGeom>
          <a:noFill/>
          <a:ln w="0">
            <a:noFill/>
          </a:ln>
        </p:spPr>
        <p:txBody>
          <a:bodyPr lIns="0" tIns="0" rIns="0" bIns="0" anchor="mid" wrap="square"/>
          <a:lstStyle/>
          <a:p>
            <a:pPr algn="r">
              <a:defRPr sz="975" b="1">
                <a:solidFill>
                  <a:srgbClr val="5B6370"/>
                </a:solidFill>
                <a:latin typeface="Arial"/>
              </a:defRPr>
            </a:pPr>
            <a:r>
              <a:rPr sz="975" b="1">
                <a:solidFill>
                  <a:srgbClr val="5B6370"/>
                </a:solidFill>
                <a:latin typeface="Arial"/>
              </a:rPr>
              <a:t>08 / 09</a:t>
            </a:r>
          </a:p>
        </p:txBody>
      </p:sp>
      <p:sp>
        <p:nvSpPr>
          <p:cNvPr id="8" name=""/>
          <p:cNvSpPr/>
          <p:nvPr/>
        </p:nvSpPr>
        <p:spPr>
          <a:xfrm>
            <a:off x="533400" y="781050"/>
            <a:ext cx="8572500" cy="914400"/>
          </a:xfrm>
          <a:prstGeom prst="rect">
            <a:avLst/>
          </a:prstGeom>
          <a:noFill/>
          <a:ln w="0">
            <a:noFill/>
          </a:ln>
        </p:spPr>
        <p:txBody>
          <a:bodyPr lIns="0" tIns="0" rIns="0" bIns="0" anchor="t" wrap="square"/>
          <a:lstStyle/>
          <a:p>
            <a:pPr algn="l">
              <a:defRPr sz="3150" b="1">
                <a:solidFill>
                  <a:srgbClr val="19152E"/>
                </a:solidFill>
                <a:latin typeface="Arial"/>
              </a:defRPr>
            </a:pPr>
            <a:r>
              <a:rPr sz="3150" b="1">
                <a:solidFill>
                  <a:srgbClr val="19152E"/>
                </a:solidFill>
                <a:latin typeface="Arial"/>
              </a:rPr>
              <a:t>Fix product pages now; build fit intelligence next.</a:t>
            </a:r>
          </a:p>
        </p:txBody>
      </p:sp>
      <p:sp>
        <p:nvSpPr>
          <p:cNvPr id="9" name=""/>
          <p:cNvSpPr/>
          <p:nvPr/>
        </p:nvSpPr>
        <p:spPr>
          <a:xfrm>
            <a:off x="552450" y="1695450"/>
            <a:ext cx="7810500" cy="514350"/>
          </a:xfrm>
          <a:prstGeom prst="rect">
            <a:avLst/>
          </a:prstGeom>
          <a:noFill/>
          <a:ln w="0">
            <a:noFill/>
          </a:ln>
        </p:spPr>
        <p:txBody>
          <a:bodyPr lIns="0" tIns="0" rIns="0" bIns="0" anchor="t" wrap="square"/>
          <a:lstStyle/>
          <a:p>
            <a:pPr algn="l">
              <a:defRPr sz="1500">
                <a:solidFill>
                  <a:srgbClr val="5B6370"/>
                </a:solidFill>
                <a:latin typeface="Arial"/>
              </a:defRPr>
            </a:pPr>
            <a:r>
              <a:rPr sz="1500">
                <a:solidFill>
                  <a:srgbClr val="5B6370"/>
                </a:solidFill>
                <a:latin typeface="Arial"/>
              </a:rPr>
              <a:t>Focus on operating value; financial inputs were not available.</a:t>
            </a:r>
          </a:p>
        </p:txBody>
      </p:sp>
      <p:sp>
        <p:nvSpPr>
          <p:cNvPr id="10" name=""/>
          <p:cNvSpPr/>
          <p:nvPr/>
        </p:nvSpPr>
        <p:spPr>
          <a:xfrm>
            <a:off x="742950" y="2476500"/>
            <a:ext cx="3429000" cy="323850"/>
          </a:xfrm>
          <a:prstGeom prst="rect">
            <a:avLst/>
          </a:prstGeom>
          <a:noFill/>
          <a:ln w="0">
            <a:noFill/>
          </a:ln>
        </p:spPr>
        <p:txBody>
          <a:bodyPr lIns="0" tIns="0" rIns="0" bIns="0" anchor="t" wrap="square"/>
          <a:lstStyle/>
          <a:p>
            <a:pPr algn="l">
              <a:defRPr sz="1800" b="1">
                <a:solidFill>
                  <a:srgbClr val="19152E"/>
                </a:solidFill>
                <a:latin typeface="Arial"/>
              </a:defRPr>
            </a:pPr>
            <a:r>
              <a:rPr sz="1800" b="1">
                <a:solidFill>
                  <a:srgbClr val="19152E"/>
                </a:solidFill>
                <a:latin typeface="Arial"/>
              </a:rPr>
              <a:t>Next 3-6 months</a:t>
            </a:r>
          </a:p>
        </p:txBody>
      </p:sp>
      <p:sp>
        <p:nvSpPr>
          <p:cNvPr id="11" name=""/>
          <p:cNvSpPr/>
          <p:nvPr/>
        </p:nvSpPr>
        <p:spPr>
          <a:xfrm>
            <a:off x="742950" y="2990850"/>
            <a:ext cx="4629150" cy="723900"/>
          </a:xfrm>
          <a:prstGeom prst="rect">
            <a:avLst/>
          </a:prstGeom>
          <a:solidFill>
            <a:srgbClr val="FFFFFF"/>
          </a:solidFill>
          <a:ln w="9525">
            <a:solidFill>
              <a:srgbClr val="D8D5C7"/>
            </a:solidFill>
          </a:ln>
        </p:spPr>
      </p:sp>
      <p:sp>
        <p:nvSpPr>
          <p:cNvPr id="12" name=""/>
          <p:cNvSpPr/>
          <p:nvPr/>
        </p:nvSpPr>
        <p:spPr>
          <a:xfrm>
            <a:off x="742950" y="2990850"/>
            <a:ext cx="57150" cy="723900"/>
          </a:xfrm>
          <a:prstGeom prst="rect">
            <a:avLst/>
          </a:prstGeom>
          <a:solidFill>
            <a:srgbClr val="440154"/>
          </a:solidFill>
          <a:ln w="0">
            <a:noFill/>
          </a:ln>
        </p:spPr>
      </p:sp>
      <p:sp>
        <p:nvSpPr>
          <p:cNvPr id="13" name=""/>
          <p:cNvSpPr/>
          <p:nvPr/>
        </p:nvSpPr>
        <p:spPr>
          <a:xfrm>
            <a:off x="952500" y="3162300"/>
            <a:ext cx="4210050" cy="3048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Revise sizing guidance</a:t>
            </a:r>
          </a:p>
        </p:txBody>
      </p:sp>
      <p:sp>
        <p:nvSpPr>
          <p:cNvPr id="14" name=""/>
          <p:cNvSpPr/>
          <p:nvPr/>
        </p:nvSpPr>
        <p:spPr>
          <a:xfrm>
            <a:off x="952500" y="3524250"/>
            <a:ext cx="4210050" cy="95250"/>
          </a:xfrm>
          <a:prstGeom prst="rect">
            <a:avLst/>
          </a:prstGeom>
          <a:noFill/>
          <a:ln w="0">
            <a:noFill/>
          </a:ln>
        </p:spPr>
        <p:txBody>
          <a:bodyPr lIns="0" tIns="0" rIns="0" bIns="0" anchor="t" wrap="square"/>
          <a:lstStyle/>
          <a:p>
            <a:pPr algn="l">
              <a:defRPr sz="975">
                <a:solidFill>
                  <a:srgbClr val="5B6370"/>
                </a:solidFill>
                <a:latin typeface="Arial"/>
              </a:defRPr>
            </a:pPr>
            <a:r>
              <a:rPr sz="975">
                <a:solidFill>
                  <a:srgbClr val="5B6370"/>
                </a:solidFill>
                <a:latin typeface="Arial"/>
              </a:rPr>
              <a:t>Prioritize repeated fit and sizing complaints.</a:t>
            </a:r>
          </a:p>
        </p:txBody>
      </p:sp>
      <p:sp>
        <p:nvSpPr>
          <p:cNvPr id="15" name=""/>
          <p:cNvSpPr/>
          <p:nvPr/>
        </p:nvSpPr>
        <p:spPr>
          <a:xfrm>
            <a:off x="742950" y="3886200"/>
            <a:ext cx="4629150" cy="723900"/>
          </a:xfrm>
          <a:prstGeom prst="rect">
            <a:avLst/>
          </a:prstGeom>
          <a:solidFill>
            <a:srgbClr val="FFFFFF"/>
          </a:solidFill>
          <a:ln w="9525">
            <a:solidFill>
              <a:srgbClr val="D8D5C7"/>
            </a:solidFill>
          </a:ln>
        </p:spPr>
      </p:sp>
      <p:sp>
        <p:nvSpPr>
          <p:cNvPr id="16" name=""/>
          <p:cNvSpPr/>
          <p:nvPr/>
        </p:nvSpPr>
        <p:spPr>
          <a:xfrm>
            <a:off x="742950" y="3886200"/>
            <a:ext cx="57150" cy="723900"/>
          </a:xfrm>
          <a:prstGeom prst="rect">
            <a:avLst/>
          </a:prstGeom>
          <a:solidFill>
            <a:srgbClr val="21918C"/>
          </a:solidFill>
          <a:ln w="0">
            <a:noFill/>
          </a:ln>
        </p:spPr>
      </p:sp>
      <p:sp>
        <p:nvSpPr>
          <p:cNvPr id="17" name=""/>
          <p:cNvSpPr/>
          <p:nvPr/>
        </p:nvSpPr>
        <p:spPr>
          <a:xfrm>
            <a:off x="952500" y="4057650"/>
            <a:ext cx="4210050" cy="3048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Improve product imagery</a:t>
            </a:r>
          </a:p>
        </p:txBody>
      </p:sp>
      <p:sp>
        <p:nvSpPr>
          <p:cNvPr id="18" name=""/>
          <p:cNvSpPr/>
          <p:nvPr/>
        </p:nvSpPr>
        <p:spPr>
          <a:xfrm>
            <a:off x="952500" y="4419600"/>
            <a:ext cx="4210050" cy="95250"/>
          </a:xfrm>
          <a:prstGeom prst="rect">
            <a:avLst/>
          </a:prstGeom>
          <a:noFill/>
          <a:ln w="0">
            <a:noFill/>
          </a:ln>
        </p:spPr>
        <p:txBody>
          <a:bodyPr lIns="0" tIns="0" rIns="0" bIns="0" anchor="t" wrap="square"/>
          <a:lstStyle/>
          <a:p>
            <a:pPr algn="l">
              <a:defRPr sz="975">
                <a:solidFill>
                  <a:srgbClr val="5B6370"/>
                </a:solidFill>
                <a:latin typeface="Arial"/>
              </a:defRPr>
            </a:pPr>
            <a:r>
              <a:rPr sz="975">
                <a:solidFill>
                  <a:srgbClr val="5B6370"/>
                </a:solidFill>
                <a:latin typeface="Arial"/>
              </a:rPr>
              <a:t>Clarify color, fabric, and real-fit expectations.</a:t>
            </a:r>
          </a:p>
        </p:txBody>
      </p:sp>
      <p:sp>
        <p:nvSpPr>
          <p:cNvPr id="19" name=""/>
          <p:cNvSpPr/>
          <p:nvPr/>
        </p:nvSpPr>
        <p:spPr>
          <a:xfrm>
            <a:off x="742950" y="4781550"/>
            <a:ext cx="4629150" cy="723900"/>
          </a:xfrm>
          <a:prstGeom prst="rect">
            <a:avLst/>
          </a:prstGeom>
          <a:solidFill>
            <a:srgbClr val="FFFFFF"/>
          </a:solidFill>
          <a:ln w="9525">
            <a:solidFill>
              <a:srgbClr val="D8D5C7"/>
            </a:solidFill>
          </a:ln>
        </p:spPr>
      </p:sp>
      <p:sp>
        <p:nvSpPr>
          <p:cNvPr id="20" name=""/>
          <p:cNvSpPr/>
          <p:nvPr/>
        </p:nvSpPr>
        <p:spPr>
          <a:xfrm>
            <a:off x="742950" y="4781550"/>
            <a:ext cx="57150" cy="723900"/>
          </a:xfrm>
          <a:prstGeom prst="rect">
            <a:avLst/>
          </a:prstGeom>
          <a:solidFill>
            <a:srgbClr val="5EC962"/>
          </a:solidFill>
          <a:ln w="0">
            <a:noFill/>
          </a:ln>
        </p:spPr>
      </p:sp>
      <p:sp>
        <p:nvSpPr>
          <p:cNvPr id="21" name=""/>
          <p:cNvSpPr/>
          <p:nvPr/>
        </p:nvSpPr>
        <p:spPr>
          <a:xfrm>
            <a:off x="952500" y="4953000"/>
            <a:ext cx="4210050" cy="3048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Route urgent feedback</a:t>
            </a:r>
          </a:p>
        </p:txBody>
      </p:sp>
      <p:sp>
        <p:nvSpPr>
          <p:cNvPr id="22" name=""/>
          <p:cNvSpPr/>
          <p:nvPr/>
        </p:nvSpPr>
        <p:spPr>
          <a:xfrm>
            <a:off x="952500" y="5314950"/>
            <a:ext cx="4210050" cy="95250"/>
          </a:xfrm>
          <a:prstGeom prst="rect">
            <a:avLst/>
          </a:prstGeom>
          <a:noFill/>
          <a:ln w="0">
            <a:noFill/>
          </a:ln>
        </p:spPr>
        <p:txBody>
          <a:bodyPr lIns="0" tIns="0" rIns="0" bIns="0" anchor="t" wrap="square"/>
          <a:lstStyle/>
          <a:p>
            <a:pPr algn="l">
              <a:defRPr sz="975">
                <a:solidFill>
                  <a:srgbClr val="5B6370"/>
                </a:solidFill>
                <a:latin typeface="Arial"/>
              </a:defRPr>
            </a:pPr>
            <a:r>
              <a:rPr sz="975">
                <a:solidFill>
                  <a:srgbClr val="5B6370"/>
                </a:solidFill>
                <a:latin typeface="Arial"/>
              </a:rPr>
              <a:t>Send high-urgency and mixed issues to owners.</a:t>
            </a:r>
          </a:p>
        </p:txBody>
      </p:sp>
      <p:sp>
        <p:nvSpPr>
          <p:cNvPr id="23" name=""/>
          <p:cNvSpPr/>
          <p:nvPr/>
        </p:nvSpPr>
        <p:spPr>
          <a:xfrm>
            <a:off x="6743700" y="2476500"/>
            <a:ext cx="3429000" cy="323850"/>
          </a:xfrm>
          <a:prstGeom prst="rect">
            <a:avLst/>
          </a:prstGeom>
          <a:noFill/>
          <a:ln w="0">
            <a:noFill/>
          </a:ln>
        </p:spPr>
        <p:txBody>
          <a:bodyPr lIns="0" tIns="0" rIns="0" bIns="0" anchor="t" wrap="square"/>
          <a:lstStyle/>
          <a:p>
            <a:pPr algn="l">
              <a:defRPr sz="1800" b="1">
                <a:solidFill>
                  <a:srgbClr val="19152E"/>
                </a:solidFill>
                <a:latin typeface="Arial"/>
              </a:defRPr>
            </a:pPr>
            <a:r>
              <a:rPr sz="1800" b="1">
                <a:solidFill>
                  <a:srgbClr val="19152E"/>
                </a:solidFill>
                <a:latin typeface="Arial"/>
              </a:rPr>
              <a:t>Next 6-12 months</a:t>
            </a:r>
          </a:p>
        </p:txBody>
      </p:sp>
      <p:sp>
        <p:nvSpPr>
          <p:cNvPr id="24" name=""/>
          <p:cNvSpPr/>
          <p:nvPr/>
        </p:nvSpPr>
        <p:spPr>
          <a:xfrm>
            <a:off x="6743700" y="2990850"/>
            <a:ext cx="4629150" cy="723900"/>
          </a:xfrm>
          <a:prstGeom prst="rect">
            <a:avLst/>
          </a:prstGeom>
          <a:solidFill>
            <a:srgbClr val="FFFFFF"/>
          </a:solidFill>
          <a:ln w="9525">
            <a:solidFill>
              <a:srgbClr val="D8D5C7"/>
            </a:solidFill>
          </a:ln>
        </p:spPr>
      </p:sp>
      <p:sp>
        <p:nvSpPr>
          <p:cNvPr id="25" name=""/>
          <p:cNvSpPr/>
          <p:nvPr/>
        </p:nvSpPr>
        <p:spPr>
          <a:xfrm>
            <a:off x="6743700" y="2990850"/>
            <a:ext cx="57150" cy="723900"/>
          </a:xfrm>
          <a:prstGeom prst="rect">
            <a:avLst/>
          </a:prstGeom>
          <a:solidFill>
            <a:srgbClr val="3B528B"/>
          </a:solidFill>
          <a:ln w="0">
            <a:noFill/>
          </a:ln>
        </p:spPr>
      </p:sp>
      <p:sp>
        <p:nvSpPr>
          <p:cNvPr id="26" name=""/>
          <p:cNvSpPr/>
          <p:nvPr/>
        </p:nvSpPr>
        <p:spPr>
          <a:xfrm>
            <a:off x="6953250" y="3162300"/>
            <a:ext cx="4210050" cy="3048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Standardize sizing logic</a:t>
            </a:r>
          </a:p>
        </p:txBody>
      </p:sp>
      <p:sp>
        <p:nvSpPr>
          <p:cNvPr id="27" name=""/>
          <p:cNvSpPr/>
          <p:nvPr/>
        </p:nvSpPr>
        <p:spPr>
          <a:xfrm>
            <a:off x="6953250" y="3524250"/>
            <a:ext cx="4210050" cy="95250"/>
          </a:xfrm>
          <a:prstGeom prst="rect">
            <a:avLst/>
          </a:prstGeom>
          <a:noFill/>
          <a:ln w="0">
            <a:noFill/>
          </a:ln>
        </p:spPr>
        <p:txBody>
          <a:bodyPr lIns="0" tIns="0" rIns="0" bIns="0" anchor="t" wrap="square"/>
          <a:lstStyle/>
          <a:p>
            <a:pPr algn="l">
              <a:defRPr sz="975">
                <a:solidFill>
                  <a:srgbClr val="5B6370"/>
                </a:solidFill>
                <a:latin typeface="Arial"/>
              </a:defRPr>
            </a:pPr>
            <a:r>
              <a:rPr sz="975">
                <a:solidFill>
                  <a:srgbClr val="5B6370"/>
                </a:solidFill>
                <a:latin typeface="Arial"/>
              </a:rPr>
              <a:t>Find where fit varies by collection or class.</a:t>
            </a:r>
          </a:p>
        </p:txBody>
      </p:sp>
      <p:sp>
        <p:nvSpPr>
          <p:cNvPr id="28" name=""/>
          <p:cNvSpPr/>
          <p:nvPr/>
        </p:nvSpPr>
        <p:spPr>
          <a:xfrm>
            <a:off x="6743700" y="3886200"/>
            <a:ext cx="4629150" cy="723900"/>
          </a:xfrm>
          <a:prstGeom prst="rect">
            <a:avLst/>
          </a:prstGeom>
          <a:solidFill>
            <a:srgbClr val="FFFFFF"/>
          </a:solidFill>
          <a:ln w="9525">
            <a:solidFill>
              <a:srgbClr val="D8D5C7"/>
            </a:solidFill>
          </a:ln>
        </p:spPr>
      </p:sp>
      <p:sp>
        <p:nvSpPr>
          <p:cNvPr id="29" name=""/>
          <p:cNvSpPr/>
          <p:nvPr/>
        </p:nvSpPr>
        <p:spPr>
          <a:xfrm>
            <a:off x="6743700" y="3886200"/>
            <a:ext cx="57150" cy="723900"/>
          </a:xfrm>
          <a:prstGeom prst="rect">
            <a:avLst/>
          </a:prstGeom>
          <a:solidFill>
            <a:srgbClr val="21918C"/>
          </a:solidFill>
          <a:ln w="0">
            <a:noFill/>
          </a:ln>
        </p:spPr>
      </p:sp>
      <p:sp>
        <p:nvSpPr>
          <p:cNvPr id="30" name=""/>
          <p:cNvSpPr/>
          <p:nvPr/>
        </p:nvSpPr>
        <p:spPr>
          <a:xfrm>
            <a:off x="6953250" y="4057650"/>
            <a:ext cx="4210050" cy="3048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Evaluate fit predictor</a:t>
            </a:r>
          </a:p>
        </p:txBody>
      </p:sp>
      <p:sp>
        <p:nvSpPr>
          <p:cNvPr id="31" name=""/>
          <p:cNvSpPr/>
          <p:nvPr/>
        </p:nvSpPr>
        <p:spPr>
          <a:xfrm>
            <a:off x="6953250" y="4419600"/>
            <a:ext cx="4210050" cy="95250"/>
          </a:xfrm>
          <a:prstGeom prst="rect">
            <a:avLst/>
          </a:prstGeom>
          <a:noFill/>
          <a:ln w="0">
            <a:noFill/>
          </a:ln>
        </p:spPr>
        <p:txBody>
          <a:bodyPr lIns="0" tIns="0" rIns="0" bIns="0" anchor="t" wrap="square"/>
          <a:lstStyle/>
          <a:p>
            <a:pPr algn="l">
              <a:defRPr sz="975">
                <a:solidFill>
                  <a:srgbClr val="5B6370"/>
                </a:solidFill>
                <a:latin typeface="Arial"/>
              </a:defRPr>
            </a:pPr>
            <a:r>
              <a:rPr sz="975">
                <a:solidFill>
                  <a:srgbClr val="5B6370"/>
                </a:solidFill>
                <a:latin typeface="Arial"/>
              </a:rPr>
              <a:t>Test after larger validation.</a:t>
            </a:r>
          </a:p>
        </p:txBody>
      </p:sp>
      <p:sp>
        <p:nvSpPr>
          <p:cNvPr id="32" name=""/>
          <p:cNvSpPr/>
          <p:nvPr/>
        </p:nvSpPr>
        <p:spPr>
          <a:xfrm>
            <a:off x="6743700" y="4781550"/>
            <a:ext cx="4629150" cy="723900"/>
          </a:xfrm>
          <a:prstGeom prst="rect">
            <a:avLst/>
          </a:prstGeom>
          <a:solidFill>
            <a:srgbClr val="FFFFFF"/>
          </a:solidFill>
          <a:ln w="9525">
            <a:solidFill>
              <a:srgbClr val="D8D5C7"/>
            </a:solidFill>
          </a:ln>
        </p:spPr>
      </p:sp>
      <p:sp>
        <p:nvSpPr>
          <p:cNvPr id="33" name=""/>
          <p:cNvSpPr/>
          <p:nvPr/>
        </p:nvSpPr>
        <p:spPr>
          <a:xfrm>
            <a:off x="6743700" y="4781550"/>
            <a:ext cx="57150" cy="723900"/>
          </a:xfrm>
          <a:prstGeom prst="rect">
            <a:avLst/>
          </a:prstGeom>
          <a:solidFill>
            <a:srgbClr val="FDE725"/>
          </a:solidFill>
          <a:ln w="0">
            <a:noFill/>
          </a:ln>
        </p:spPr>
      </p:sp>
      <p:sp>
        <p:nvSpPr>
          <p:cNvPr id="34" name=""/>
          <p:cNvSpPr/>
          <p:nvPr/>
        </p:nvSpPr>
        <p:spPr>
          <a:xfrm>
            <a:off x="6953250" y="4953000"/>
            <a:ext cx="4210050" cy="304800"/>
          </a:xfrm>
          <a:prstGeom prst="rect">
            <a:avLst/>
          </a:prstGeom>
          <a:noFill/>
          <a:ln w="0">
            <a:noFill/>
          </a:ln>
        </p:spPr>
        <p:txBody>
          <a:bodyPr lIns="0" tIns="0" rIns="0" bIns="0" anchor="t" wrap="square"/>
          <a:lstStyle/>
          <a:p>
            <a:pPr algn="l">
              <a:defRPr sz="1200" b="1">
                <a:solidFill>
                  <a:srgbClr val="19152E"/>
                </a:solidFill>
                <a:latin typeface="Arial"/>
              </a:defRPr>
            </a:pPr>
            <a:r>
              <a:rPr sz="1200" b="1">
                <a:solidFill>
                  <a:srgbClr val="19152E"/>
                </a:solidFill>
                <a:latin typeface="Arial"/>
              </a:rPr>
              <a:t>Strengthen QA feedback</a:t>
            </a:r>
          </a:p>
        </p:txBody>
      </p:sp>
      <p:sp>
        <p:nvSpPr>
          <p:cNvPr id="35" name=""/>
          <p:cNvSpPr/>
          <p:nvPr/>
        </p:nvSpPr>
        <p:spPr>
          <a:xfrm>
            <a:off x="6953250" y="5314950"/>
            <a:ext cx="4210050" cy="95250"/>
          </a:xfrm>
          <a:prstGeom prst="rect">
            <a:avLst/>
          </a:prstGeom>
          <a:noFill/>
          <a:ln w="0">
            <a:noFill/>
          </a:ln>
        </p:spPr>
        <p:txBody>
          <a:bodyPr lIns="0" tIns="0" rIns="0" bIns="0" anchor="t" wrap="square"/>
          <a:lstStyle/>
          <a:p>
            <a:pPr algn="l">
              <a:defRPr sz="975">
                <a:solidFill>
                  <a:srgbClr val="5B6370"/>
                </a:solidFill>
                <a:latin typeface="Arial"/>
              </a:defRPr>
            </a:pPr>
            <a:r>
              <a:rPr sz="975">
                <a:solidFill>
                  <a:srgbClr val="5B6370"/>
                </a:solidFill>
                <a:latin typeface="Arial"/>
              </a:rPr>
              <a:t>Review fabric, durability, and construction themes.</a:t>
            </a:r>
          </a:p>
        </p:txBody>
      </p:sp>
      <p:sp>
        <p:nvSpPr>
          <p:cNvPr id="36" name=""/>
          <p:cNvSpPr/>
          <p:nvPr/>
        </p:nvSpPr>
        <p:spPr>
          <a:xfrm>
            <a:off x="5791200" y="2781300"/>
            <a:ext cx="19050" cy="2933700"/>
          </a:xfrm>
          <a:prstGeom prst="rect">
            <a:avLst/>
          </a:prstGeom>
          <a:solidFill>
            <a:srgbClr val="D8D5C7"/>
          </a:solidFill>
          <a:ln w="0">
            <a:noFill/>
          </a:ln>
        </p:spPr>
      </p:sp>
      <p:sp>
        <p:nvSpPr>
          <p:cNvPr id="37"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7D817B"/>
                </a:solidFill>
                <a:latin typeface="Arial"/>
              </a:defRPr>
            </a:pPr>
            <a:r>
              <a:rPr sz="750">
                <a:solidFill>
                  <a:srgbClr val="7D817B"/>
                </a:solidFill>
                <a:latin typeface="Arial"/>
              </a:rPr>
              <a:t>Source: Final capstone notebook; Live Presentation Rubric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0154"/>
        </a:solidFill>
        <a:effectLst/>
      </p:bgPr>
    </p:bg>
    <p:spTree>
      <p:nvGrpSpPr>
        <p:cNvPr id="1" name=""/>
        <p:cNvGrpSpPr/>
        <p:nvPr/>
      </p:nvGrpSpPr>
      <p:grpSpPr>
        <a:xfrm/>
      </p:grpSpPr>
      <p:sp>
        <p:nvSpPr>
          <p:cNvPr id="2" name=""/>
          <p:cNvSpPr/>
          <p:nvPr/>
        </p:nvSpPr>
        <p:spPr>
          <a:xfrm>
            <a:off x="8896350" y="0"/>
            <a:ext cx="3295650" cy="6858000"/>
          </a:xfrm>
          <a:prstGeom prst="rect">
            <a:avLst/>
          </a:prstGeom>
          <a:solidFill>
            <a:srgbClr val="3B528B"/>
          </a:solidFill>
          <a:ln w="0">
            <a:noFill/>
          </a:ln>
        </p:spPr>
      </p:sp>
      <p:sp>
        <p:nvSpPr>
          <p:cNvPr id="3" name=""/>
          <p:cNvSpPr/>
          <p:nvPr/>
        </p:nvSpPr>
        <p:spPr>
          <a:xfrm>
            <a:off x="9525000" y="0"/>
            <a:ext cx="2667000" cy="6858000"/>
          </a:xfrm>
          <a:prstGeom prst="rect">
            <a:avLst/>
          </a:prstGeom>
          <a:solidFill>
            <a:srgbClr val="21918C"/>
          </a:solidFill>
          <a:ln w="0">
            <a:noFill/>
          </a:ln>
        </p:spPr>
      </p:sp>
      <p:sp>
        <p:nvSpPr>
          <p:cNvPr id="4" name=""/>
          <p:cNvSpPr/>
          <p:nvPr/>
        </p:nvSpPr>
        <p:spPr>
          <a:xfrm>
            <a:off x="10610850" y="0"/>
            <a:ext cx="1581150" cy="6858000"/>
          </a:xfrm>
          <a:prstGeom prst="rect">
            <a:avLst/>
          </a:prstGeom>
          <a:solidFill>
            <a:srgbClr val="5EC962"/>
          </a:solidFill>
          <a:ln w="0">
            <a:noFill/>
          </a:ln>
        </p:spPr>
      </p:sp>
      <p:sp>
        <p:nvSpPr>
          <p:cNvPr id="5" name=""/>
          <p:cNvSpPr/>
          <p:nvPr/>
        </p:nvSpPr>
        <p:spPr>
          <a:xfrm>
            <a:off x="11563350" y="0"/>
            <a:ext cx="628650" cy="6858000"/>
          </a:xfrm>
          <a:prstGeom prst="rect">
            <a:avLst/>
          </a:prstGeom>
          <a:solidFill>
            <a:srgbClr val="FDE725"/>
          </a:solidFill>
          <a:ln w="0">
            <a:noFill/>
          </a:ln>
        </p:spPr>
      </p:sp>
      <p:sp>
        <p:nvSpPr>
          <p:cNvPr id="6" name=""/>
          <p:cNvSpPr/>
          <p:nvPr/>
        </p:nvSpPr>
        <p:spPr>
          <a:xfrm>
            <a:off x="533400" y="390525"/>
            <a:ext cx="95250" cy="95250"/>
          </a:xfrm>
          <a:prstGeom prst="rect">
            <a:avLst/>
          </a:prstGeom>
          <a:solidFill>
            <a:srgbClr val="FDE725"/>
          </a:solidFill>
          <a:ln w="0">
            <a:noFill/>
          </a:ln>
        </p:spPr>
      </p:sp>
      <p:sp>
        <p:nvSpPr>
          <p:cNvPr id="7" name=""/>
          <p:cNvSpPr/>
          <p:nvPr/>
        </p:nvSpPr>
        <p:spPr>
          <a:xfrm>
            <a:off x="723900" y="323850"/>
            <a:ext cx="4000500" cy="247650"/>
          </a:xfrm>
          <a:prstGeom prst="rect">
            <a:avLst/>
          </a:prstGeom>
          <a:noFill/>
          <a:ln w="0">
            <a:noFill/>
          </a:ln>
        </p:spPr>
        <p:txBody>
          <a:bodyPr lIns="0" tIns="0" rIns="0" bIns="0" anchor="mid" wrap="square"/>
          <a:lstStyle/>
          <a:p>
            <a:pPr algn="l">
              <a:defRPr sz="1050" b="1">
                <a:solidFill>
                  <a:srgbClr val="F8F7EF"/>
                </a:solidFill>
                <a:latin typeface="Arial"/>
              </a:defRPr>
            </a:pPr>
            <a:r>
              <a:rPr sz="1050" b="1">
                <a:solidFill>
                  <a:srgbClr val="F8F7EF"/>
                </a:solidFill>
                <a:latin typeface="Arial"/>
              </a:rPr>
              <a:t>NEXT STEPS</a:t>
            </a:r>
          </a:p>
        </p:txBody>
      </p:sp>
      <p:sp>
        <p:nvSpPr>
          <p:cNvPr id="8" name=""/>
          <p:cNvSpPr/>
          <p:nvPr/>
        </p:nvSpPr>
        <p:spPr>
          <a:xfrm>
            <a:off x="10687050" y="323850"/>
            <a:ext cx="876300" cy="247650"/>
          </a:xfrm>
          <a:prstGeom prst="rect">
            <a:avLst/>
          </a:prstGeom>
          <a:noFill/>
          <a:ln w="0">
            <a:noFill/>
          </a:ln>
        </p:spPr>
        <p:txBody>
          <a:bodyPr lIns="0" tIns="0" rIns="0" bIns="0" anchor="mid" wrap="square"/>
          <a:lstStyle/>
          <a:p>
            <a:pPr algn="r">
              <a:defRPr sz="975" b="1">
                <a:solidFill>
                  <a:srgbClr val="F8F7EF"/>
                </a:solidFill>
                <a:latin typeface="Arial"/>
              </a:defRPr>
            </a:pPr>
            <a:r>
              <a:rPr sz="975" b="1">
                <a:solidFill>
                  <a:srgbClr val="F8F7EF"/>
                </a:solidFill>
                <a:latin typeface="Arial"/>
              </a:rPr>
              <a:t>09 / 09</a:t>
            </a:r>
          </a:p>
        </p:txBody>
      </p:sp>
      <p:sp>
        <p:nvSpPr>
          <p:cNvPr id="9" name=""/>
          <p:cNvSpPr/>
          <p:nvPr/>
        </p:nvSpPr>
        <p:spPr>
          <a:xfrm>
            <a:off x="533400" y="781050"/>
            <a:ext cx="7429500" cy="914400"/>
          </a:xfrm>
          <a:prstGeom prst="rect">
            <a:avLst/>
          </a:prstGeom>
          <a:noFill/>
          <a:ln w="0">
            <a:noFill/>
          </a:ln>
        </p:spPr>
        <p:txBody>
          <a:bodyPr lIns="0" tIns="0" rIns="0" bIns="0" anchor="t" wrap="square"/>
          <a:lstStyle/>
          <a:p>
            <a:pPr algn="l">
              <a:defRPr sz="3300" b="1">
                <a:solidFill>
                  <a:srgbClr val="F8F7EF"/>
                </a:solidFill>
                <a:latin typeface="Arial"/>
              </a:defRPr>
            </a:pPr>
            <a:r>
              <a:rPr sz="3300" b="1">
                <a:solidFill>
                  <a:srgbClr val="F8F7EF"/>
                </a:solidFill>
                <a:latin typeface="Arial"/>
              </a:rPr>
              <a:t>Decision: pilot CoT V2 with human guardrails.</a:t>
            </a:r>
          </a:p>
        </p:txBody>
      </p:sp>
      <p:sp>
        <p:nvSpPr>
          <p:cNvPr id="10" name=""/>
          <p:cNvSpPr/>
          <p:nvPr/>
        </p:nvSpPr>
        <p:spPr>
          <a:xfrm>
            <a:off x="552450" y="1695450"/>
            <a:ext cx="7239000" cy="514350"/>
          </a:xfrm>
          <a:prstGeom prst="rect">
            <a:avLst/>
          </a:prstGeom>
          <a:noFill/>
          <a:ln w="0">
            <a:noFill/>
          </a:ln>
        </p:spPr>
        <p:txBody>
          <a:bodyPr lIns="0" tIns="0" rIns="0" bIns="0" anchor="t" wrap="square"/>
          <a:lstStyle/>
          <a:p>
            <a:pPr algn="l">
              <a:defRPr sz="1500">
                <a:solidFill>
                  <a:srgbClr val="E9E6F6"/>
                </a:solidFill>
                <a:latin typeface="Arial"/>
              </a:defRPr>
            </a:pPr>
            <a:r>
              <a:rPr sz="1500">
                <a:solidFill>
                  <a:srgbClr val="E9E6F6"/>
                </a:solidFill>
                <a:latin typeface="Arial"/>
              </a:rPr>
              <a:t>Use Few-Shot V2 as the validation prompt.</a:t>
            </a:r>
          </a:p>
        </p:txBody>
      </p:sp>
      <p:sp>
        <p:nvSpPr>
          <p:cNvPr id="11" name=""/>
          <p:cNvSpPr/>
          <p:nvPr/>
        </p:nvSpPr>
        <p:spPr>
          <a:xfrm>
            <a:off x="666750" y="2743200"/>
            <a:ext cx="3143250" cy="1428750"/>
          </a:xfrm>
          <a:prstGeom prst="rect">
            <a:avLst/>
          </a:prstGeom>
          <a:solidFill>
            <a:srgbClr val="2A2149"/>
          </a:solidFill>
          <a:ln w="9525">
            <a:solidFill>
              <a:srgbClr val="5D5275"/>
            </a:solidFill>
          </a:ln>
        </p:spPr>
      </p:sp>
      <p:sp>
        <p:nvSpPr>
          <p:cNvPr id="12" name=""/>
          <p:cNvSpPr/>
          <p:nvPr/>
        </p:nvSpPr>
        <p:spPr>
          <a:xfrm>
            <a:off x="666750" y="2743200"/>
            <a:ext cx="57150" cy="1428750"/>
          </a:xfrm>
          <a:prstGeom prst="rect">
            <a:avLst/>
          </a:prstGeom>
          <a:solidFill>
            <a:srgbClr val="21918C"/>
          </a:solidFill>
          <a:ln w="0">
            <a:noFill/>
          </a:ln>
        </p:spPr>
      </p:sp>
      <p:sp>
        <p:nvSpPr>
          <p:cNvPr id="13" name=""/>
          <p:cNvSpPr/>
          <p:nvPr/>
        </p:nvSpPr>
        <p:spPr>
          <a:xfrm>
            <a:off x="876300" y="2914650"/>
            <a:ext cx="2724150" cy="304800"/>
          </a:xfrm>
          <a:prstGeom prst="rect">
            <a:avLst/>
          </a:prstGeom>
          <a:noFill/>
          <a:ln w="0">
            <a:noFill/>
          </a:ln>
        </p:spPr>
        <p:txBody>
          <a:bodyPr lIns="0" tIns="0" rIns="0" bIns="0" anchor="t" wrap="square"/>
          <a:lstStyle/>
          <a:p>
            <a:pPr algn="l">
              <a:defRPr sz="1500" b="1">
                <a:solidFill>
                  <a:srgbClr val="F8F7EF"/>
                </a:solidFill>
                <a:latin typeface="Arial"/>
              </a:defRPr>
            </a:pPr>
            <a:r>
              <a:rPr sz="1500" b="1">
                <a:solidFill>
                  <a:srgbClr val="F8F7EF"/>
                </a:solidFill>
                <a:latin typeface="Arial"/>
              </a:rPr>
              <a:t>1. Pilot</a:t>
            </a:r>
          </a:p>
        </p:txBody>
      </p:sp>
      <p:sp>
        <p:nvSpPr>
          <p:cNvPr id="14" name=""/>
          <p:cNvSpPr/>
          <p:nvPr/>
        </p:nvSpPr>
        <p:spPr>
          <a:xfrm>
            <a:off x="876300" y="3276600"/>
            <a:ext cx="2724150" cy="800100"/>
          </a:xfrm>
          <a:prstGeom prst="rect">
            <a:avLst/>
          </a:prstGeom>
          <a:noFill/>
          <a:ln w="0">
            <a:noFill/>
          </a:ln>
        </p:spPr>
        <p:txBody>
          <a:bodyPr lIns="0" tIns="0" rIns="0" bIns="0" anchor="t" wrap="square"/>
          <a:lstStyle/>
          <a:p>
            <a:pPr algn="l">
              <a:defRPr sz="1125">
                <a:solidFill>
                  <a:srgbClr val="D8D2E9"/>
                </a:solidFill>
                <a:latin typeface="Arial"/>
              </a:defRPr>
            </a:pPr>
            <a:r>
              <a:rPr sz="1125">
                <a:solidFill>
                  <a:srgbClr val="D8D2E9"/>
                </a:solidFill>
                <a:latin typeface="Arial"/>
              </a:rPr>
              <a:t>Run CoT V2 on a larger fixed sample.</a:t>
            </a:r>
          </a:p>
        </p:txBody>
      </p:sp>
      <p:sp>
        <p:nvSpPr>
          <p:cNvPr id="15" name=""/>
          <p:cNvSpPr/>
          <p:nvPr/>
        </p:nvSpPr>
        <p:spPr>
          <a:xfrm>
            <a:off x="4095750" y="2743200"/>
            <a:ext cx="3143250" cy="1428750"/>
          </a:xfrm>
          <a:prstGeom prst="rect">
            <a:avLst/>
          </a:prstGeom>
          <a:solidFill>
            <a:srgbClr val="2A2149"/>
          </a:solidFill>
          <a:ln w="9525">
            <a:solidFill>
              <a:srgbClr val="5D5275"/>
            </a:solidFill>
          </a:ln>
        </p:spPr>
      </p:sp>
      <p:sp>
        <p:nvSpPr>
          <p:cNvPr id="16" name=""/>
          <p:cNvSpPr/>
          <p:nvPr/>
        </p:nvSpPr>
        <p:spPr>
          <a:xfrm>
            <a:off x="4095750" y="2743200"/>
            <a:ext cx="57150" cy="1428750"/>
          </a:xfrm>
          <a:prstGeom prst="rect">
            <a:avLst/>
          </a:prstGeom>
          <a:solidFill>
            <a:srgbClr val="5EC962"/>
          </a:solidFill>
          <a:ln w="0">
            <a:noFill/>
          </a:ln>
        </p:spPr>
      </p:sp>
      <p:sp>
        <p:nvSpPr>
          <p:cNvPr id="17" name=""/>
          <p:cNvSpPr/>
          <p:nvPr/>
        </p:nvSpPr>
        <p:spPr>
          <a:xfrm>
            <a:off x="4305300" y="2914650"/>
            <a:ext cx="2724150" cy="304800"/>
          </a:xfrm>
          <a:prstGeom prst="rect">
            <a:avLst/>
          </a:prstGeom>
          <a:noFill/>
          <a:ln w="0">
            <a:noFill/>
          </a:ln>
        </p:spPr>
        <p:txBody>
          <a:bodyPr lIns="0" tIns="0" rIns="0" bIns="0" anchor="t" wrap="square"/>
          <a:lstStyle/>
          <a:p>
            <a:pPr algn="l">
              <a:defRPr sz="1500" b="1">
                <a:solidFill>
                  <a:srgbClr val="F8F7EF"/>
                </a:solidFill>
                <a:latin typeface="Arial"/>
              </a:defRPr>
            </a:pPr>
            <a:r>
              <a:rPr sz="1500" b="1">
                <a:solidFill>
                  <a:srgbClr val="F8F7EF"/>
                </a:solidFill>
                <a:latin typeface="Arial"/>
              </a:rPr>
              <a:t>2. Monitor</a:t>
            </a:r>
          </a:p>
        </p:txBody>
      </p:sp>
      <p:sp>
        <p:nvSpPr>
          <p:cNvPr id="18" name=""/>
          <p:cNvSpPr/>
          <p:nvPr/>
        </p:nvSpPr>
        <p:spPr>
          <a:xfrm>
            <a:off x="4305300" y="3276600"/>
            <a:ext cx="2724150" cy="800100"/>
          </a:xfrm>
          <a:prstGeom prst="rect">
            <a:avLst/>
          </a:prstGeom>
          <a:noFill/>
          <a:ln w="0">
            <a:noFill/>
          </a:ln>
        </p:spPr>
        <p:txBody>
          <a:bodyPr lIns="0" tIns="0" rIns="0" bIns="0" anchor="t" wrap="square"/>
          <a:lstStyle/>
          <a:p>
            <a:pPr algn="l">
              <a:defRPr sz="1125">
                <a:solidFill>
                  <a:srgbClr val="D8D2E9"/>
                </a:solidFill>
                <a:latin typeface="Arial"/>
              </a:defRPr>
            </a:pPr>
            <a:r>
              <a:rPr sz="1125">
                <a:solidFill>
                  <a:srgbClr val="D8D2E9"/>
                </a:solidFill>
                <a:latin typeface="Arial"/>
              </a:rPr>
              <a:t>Track urgency, category drift, and prompt disagreements.</a:t>
            </a:r>
          </a:p>
        </p:txBody>
      </p:sp>
      <p:sp>
        <p:nvSpPr>
          <p:cNvPr id="19" name=""/>
          <p:cNvSpPr/>
          <p:nvPr/>
        </p:nvSpPr>
        <p:spPr>
          <a:xfrm>
            <a:off x="7524750" y="2743200"/>
            <a:ext cx="3143250" cy="1428750"/>
          </a:xfrm>
          <a:prstGeom prst="rect">
            <a:avLst/>
          </a:prstGeom>
          <a:solidFill>
            <a:srgbClr val="2A2149"/>
          </a:solidFill>
          <a:ln w="9525">
            <a:solidFill>
              <a:srgbClr val="5D5275"/>
            </a:solidFill>
          </a:ln>
        </p:spPr>
      </p:sp>
      <p:sp>
        <p:nvSpPr>
          <p:cNvPr id="20" name=""/>
          <p:cNvSpPr/>
          <p:nvPr/>
        </p:nvSpPr>
        <p:spPr>
          <a:xfrm>
            <a:off x="7524750" y="2743200"/>
            <a:ext cx="57150" cy="1428750"/>
          </a:xfrm>
          <a:prstGeom prst="rect">
            <a:avLst/>
          </a:prstGeom>
          <a:solidFill>
            <a:srgbClr val="FDE725"/>
          </a:solidFill>
          <a:ln w="0">
            <a:noFill/>
          </a:ln>
        </p:spPr>
      </p:sp>
      <p:sp>
        <p:nvSpPr>
          <p:cNvPr id="21" name=""/>
          <p:cNvSpPr/>
          <p:nvPr/>
        </p:nvSpPr>
        <p:spPr>
          <a:xfrm>
            <a:off x="7734300" y="2914650"/>
            <a:ext cx="2724150" cy="304800"/>
          </a:xfrm>
          <a:prstGeom prst="rect">
            <a:avLst/>
          </a:prstGeom>
          <a:noFill/>
          <a:ln w="0">
            <a:noFill/>
          </a:ln>
        </p:spPr>
        <p:txBody>
          <a:bodyPr lIns="0" tIns="0" rIns="0" bIns="0" anchor="t" wrap="square"/>
          <a:lstStyle/>
          <a:p>
            <a:pPr algn="l">
              <a:defRPr sz="1500" b="1">
                <a:solidFill>
                  <a:srgbClr val="F8F7EF"/>
                </a:solidFill>
                <a:latin typeface="Arial"/>
              </a:defRPr>
            </a:pPr>
            <a:r>
              <a:rPr sz="1500" b="1">
                <a:solidFill>
                  <a:srgbClr val="F8F7EF"/>
                </a:solidFill>
                <a:latin typeface="Arial"/>
              </a:rPr>
              <a:t>3. Scale</a:t>
            </a:r>
          </a:p>
        </p:txBody>
      </p:sp>
      <p:sp>
        <p:nvSpPr>
          <p:cNvPr id="22" name=""/>
          <p:cNvSpPr/>
          <p:nvPr/>
        </p:nvSpPr>
        <p:spPr>
          <a:xfrm>
            <a:off x="7734300" y="3276600"/>
            <a:ext cx="2724150" cy="800100"/>
          </a:xfrm>
          <a:prstGeom prst="rect">
            <a:avLst/>
          </a:prstGeom>
          <a:noFill/>
          <a:ln w="0">
            <a:noFill/>
          </a:ln>
        </p:spPr>
        <p:txBody>
          <a:bodyPr lIns="0" tIns="0" rIns="0" bIns="0" anchor="t" wrap="square"/>
          <a:lstStyle/>
          <a:p>
            <a:pPr algn="l">
              <a:defRPr sz="1125">
                <a:solidFill>
                  <a:srgbClr val="D8D2E9"/>
                </a:solidFill>
                <a:latin typeface="Arial"/>
              </a:defRPr>
            </a:pPr>
            <a:r>
              <a:rPr sz="1125">
                <a:solidFill>
                  <a:srgbClr val="D8D2E9"/>
                </a:solidFill>
                <a:latin typeface="Arial"/>
              </a:rPr>
              <a:t>Connect stable routing to support and merchandising.</a:t>
            </a:r>
          </a:p>
        </p:txBody>
      </p:sp>
      <p:sp>
        <p:nvSpPr>
          <p:cNvPr id="23" name=""/>
          <p:cNvSpPr/>
          <p:nvPr/>
        </p:nvSpPr>
        <p:spPr>
          <a:xfrm>
            <a:off x="666750" y="4819650"/>
            <a:ext cx="7181850" cy="685800"/>
          </a:xfrm>
          <a:prstGeom prst="rect">
            <a:avLst/>
          </a:prstGeom>
          <a:solidFill>
            <a:srgbClr val="FDE725"/>
          </a:solidFill>
          <a:ln w="0">
            <a:noFill/>
          </a:ln>
        </p:spPr>
      </p:sp>
      <p:sp>
        <p:nvSpPr>
          <p:cNvPr id="24" name=""/>
          <p:cNvSpPr/>
          <p:nvPr/>
        </p:nvSpPr>
        <p:spPr>
          <a:xfrm>
            <a:off x="914400" y="5010150"/>
            <a:ext cx="1619250" cy="285750"/>
          </a:xfrm>
          <a:prstGeom prst="rect">
            <a:avLst/>
          </a:prstGeom>
          <a:noFill/>
          <a:ln w="0">
            <a:noFill/>
          </a:ln>
        </p:spPr>
        <p:txBody>
          <a:bodyPr lIns="0" tIns="0" rIns="0" bIns="0" anchor="t" wrap="square"/>
          <a:lstStyle/>
          <a:p>
            <a:pPr algn="l">
              <a:defRPr sz="1500" b="1">
                <a:solidFill>
                  <a:srgbClr val="19152E"/>
                </a:solidFill>
                <a:latin typeface="Arial"/>
              </a:defRPr>
            </a:pPr>
            <a:r>
              <a:rPr sz="1500" b="1">
                <a:solidFill>
                  <a:srgbClr val="19152E"/>
                </a:solidFill>
                <a:latin typeface="Arial"/>
              </a:rPr>
              <a:t>Bottom line</a:t>
            </a:r>
          </a:p>
        </p:txBody>
      </p:sp>
      <p:sp>
        <p:nvSpPr>
          <p:cNvPr id="25" name=""/>
          <p:cNvSpPr/>
          <p:nvPr/>
        </p:nvSpPr>
        <p:spPr>
          <a:xfrm>
            <a:off x="2667000" y="4981575"/>
            <a:ext cx="4819650" cy="342900"/>
          </a:xfrm>
          <a:prstGeom prst="rect">
            <a:avLst/>
          </a:prstGeom>
          <a:noFill/>
          <a:ln w="0">
            <a:noFill/>
          </a:ln>
        </p:spPr>
        <p:txBody>
          <a:bodyPr lIns="0" tIns="0" rIns="0" bIns="0" anchor="t" wrap="square"/>
          <a:lstStyle/>
          <a:p>
            <a:pPr algn="l">
              <a:defRPr sz="1350" b="1">
                <a:solidFill>
                  <a:srgbClr val="19152E"/>
                </a:solidFill>
                <a:latin typeface="Arial"/>
              </a:defRPr>
            </a:pPr>
            <a:r>
              <a:rPr sz="1350" b="1">
                <a:solidFill>
                  <a:srgbClr val="19152E"/>
                </a:solidFill>
                <a:latin typeface="Arial"/>
              </a:rPr>
              <a:t>Use GenAI to prioritize decisions, not to remove judgment from customer-facing or high-risk work.</a:t>
            </a:r>
          </a:p>
        </p:txBody>
      </p:sp>
      <p:sp>
        <p:nvSpPr>
          <p:cNvPr id="26" name=""/>
          <p:cNvSpPr/>
          <p:nvPr/>
        </p:nvSpPr>
        <p:spPr>
          <a:xfrm>
            <a:off x="552450" y="6477000"/>
            <a:ext cx="6477000" cy="209550"/>
          </a:xfrm>
          <a:prstGeom prst="rect">
            <a:avLst/>
          </a:prstGeom>
          <a:noFill/>
          <a:ln w="0">
            <a:noFill/>
          </a:ln>
        </p:spPr>
        <p:txBody>
          <a:bodyPr lIns="0" tIns="0" rIns="0" bIns="0" anchor="t" wrap="square"/>
          <a:lstStyle/>
          <a:p>
            <a:pPr algn="l">
              <a:defRPr sz="750">
                <a:solidFill>
                  <a:srgbClr val="D8D2E9"/>
                </a:solidFill>
                <a:latin typeface="Arial"/>
              </a:defRPr>
            </a:pPr>
            <a:r>
              <a:rPr sz="750">
                <a:solidFill>
                  <a:srgbClr val="D8D2E9"/>
                </a:solidFill>
                <a:latin typeface="Arial"/>
              </a:rPr>
              <a:t>Source: Final capstone notebook; Live Presentation Rubric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2026-05-01T21:54:44.6940000Z</dcterms:created>
  <dcterms:modified xsi:type="dcterms:W3CDTF">2026-05-01T21:54:44.6940000Z</dcterms:modified>
</coreProperties>
</file>