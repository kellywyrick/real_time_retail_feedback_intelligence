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5bbc4e53a54297" /><Relationship Type="http://schemas.openxmlformats.org/officeDocument/2006/relationships/extended-properties" Target="/docProps/app.xml" Id="Re380bb0d8bfa4267" /><Relationship Type="http://schemas.openxmlformats.org/officeDocument/2006/relationships/officeDocument" Target="/ppt/presentation.xml" Id="Raea32f480f5740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18020496c04782"/>
  </p:sldMasterIdLst>
  <p:notesMasterIdLst>
    <p:notesMasterId xmlns:r="http://schemas.openxmlformats.org/officeDocument/2006/relationships" r:id="Rde1bcae8a64b4c67"/>
  </p:notesMasterIdLst>
  <p:sldIdLst>
    <p:sldId xmlns:r="http://schemas.openxmlformats.org/officeDocument/2006/relationships" id="256" r:id="R9e41ac568657417f"/>
    <p:sldId xmlns:r="http://schemas.openxmlformats.org/officeDocument/2006/relationships" id="257" r:id="R6c1a3d4174154e78"/>
    <p:sldId xmlns:r="http://schemas.openxmlformats.org/officeDocument/2006/relationships" id="258" r:id="R3adb6d526adc444d"/>
    <p:sldId xmlns:r="http://schemas.openxmlformats.org/officeDocument/2006/relationships" id="259" r:id="R3f3a36188ed4422a"/>
    <p:sldId xmlns:r="http://schemas.openxmlformats.org/officeDocument/2006/relationships" id="260" r:id="Rca9510bebefd4745"/>
    <p:sldId xmlns:r="http://schemas.openxmlformats.org/officeDocument/2006/relationships" id="261" r:id="R97124e6dde934a65"/>
    <p:sldId xmlns:r="http://schemas.openxmlformats.org/officeDocument/2006/relationships" id="262" r:id="Rcba27c16e5f24df9"/>
    <p:sldId xmlns:r="http://schemas.openxmlformats.org/officeDocument/2006/relationships" id="263" r:id="R5b61848c52c44b9e"/>
    <p:sldId xmlns:r="http://schemas.openxmlformats.org/officeDocument/2006/relationships" id="264" r:id="R16342970dc614495"/>
    <p:sldId xmlns:r="http://schemas.openxmlformats.org/officeDocument/2006/relationships" id="265" r:id="Rdd4f0b47facf4db5"/>
    <p:sldId xmlns:r="http://schemas.openxmlformats.org/officeDocument/2006/relationships" id="266" r:id="R9505c3989aa442a8"/>
    <p:sldId xmlns:r="http://schemas.openxmlformats.org/officeDocument/2006/relationships" id="267" r:id="R83fc6dd6854a4a59"/>
    <p:sldId xmlns:r="http://schemas.openxmlformats.org/officeDocument/2006/relationships" id="268" r:id="Rcc727dd7efae4b8c"/>
    <p:sldId xmlns:r="http://schemas.openxmlformats.org/officeDocument/2006/relationships" id="269" r:id="R250529eb2e014d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8020496c04782" /><Relationship Type="http://schemas.openxmlformats.org/officeDocument/2006/relationships/theme" Target="/ppt/theme/theme1.xml" Id="R456b1eb286994439" /><Relationship Type="http://schemas.openxmlformats.org/officeDocument/2006/relationships/notesMaster" Target="/ppt/notesMasters/notesMaster1.xml" Id="Rde1bcae8a64b4c67" /><Relationship Type="http://schemas.openxmlformats.org/officeDocument/2006/relationships/presProps" Target="/ppt/presProps.xml" Id="Rdad706bafa7f4b84" /><Relationship Type="http://schemas.openxmlformats.org/officeDocument/2006/relationships/viewProps" Target="/ppt/viewProps.xml" Id="R5eeda40e2a054b65" /><Relationship Type="http://schemas.openxmlformats.org/officeDocument/2006/relationships/tableStyles" Target="/ppt/tableStyles.xml" Id="Rd70299348de34fab" /><Relationship Type="http://schemas.openxmlformats.org/officeDocument/2006/relationships/slide" Target="/ppt/slides/slide1.xml" Id="R9e41ac568657417f" /><Relationship Type="http://schemas.openxmlformats.org/officeDocument/2006/relationships/slide" Target="/ppt/slides/slide2.xml" Id="R6c1a3d4174154e78" /><Relationship Type="http://schemas.openxmlformats.org/officeDocument/2006/relationships/slide" Target="/ppt/slides/slide3.xml" Id="R3adb6d526adc444d" /><Relationship Type="http://schemas.openxmlformats.org/officeDocument/2006/relationships/slide" Target="/ppt/slides/slide4.xml" Id="R3f3a36188ed4422a" /><Relationship Type="http://schemas.openxmlformats.org/officeDocument/2006/relationships/slide" Target="/ppt/slides/slide5.xml" Id="Rca9510bebefd4745" /><Relationship Type="http://schemas.openxmlformats.org/officeDocument/2006/relationships/slide" Target="/ppt/slides/slide6.xml" Id="R97124e6dde934a65" /><Relationship Type="http://schemas.openxmlformats.org/officeDocument/2006/relationships/slide" Target="/ppt/slides/slide7.xml" Id="Rcba27c16e5f24df9" /><Relationship Type="http://schemas.openxmlformats.org/officeDocument/2006/relationships/slide" Target="/ppt/slides/slide8.xml" Id="R5b61848c52c44b9e" /><Relationship Type="http://schemas.openxmlformats.org/officeDocument/2006/relationships/slide" Target="/ppt/slides/slide9.xml" Id="R16342970dc614495" /><Relationship Type="http://schemas.openxmlformats.org/officeDocument/2006/relationships/slide" Target="/ppt/slides/slide10.xml" Id="Rdd4f0b47facf4db5" /><Relationship Type="http://schemas.openxmlformats.org/officeDocument/2006/relationships/slide" Target="/ppt/slides/slide11.xml" Id="R9505c3989aa442a8" /><Relationship Type="http://schemas.openxmlformats.org/officeDocument/2006/relationships/slide" Target="/ppt/slides/slide12.xml" Id="R83fc6dd6854a4a59" /><Relationship Type="http://schemas.openxmlformats.org/officeDocument/2006/relationships/slide" Target="/ppt/slides/slide13.xml" Id="Rcc727dd7efae4b8c" /><Relationship Type="http://schemas.openxmlformats.org/officeDocument/2006/relationships/slide" Target="/ppt/slides/slide14.xml" Id="R250529eb2e014d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c546dbbdada48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14f2fed0244e7a" /><Relationship Type="http://schemas.openxmlformats.org/officeDocument/2006/relationships/notesMaster" Target="/ppt/notesMasters/notesMaster1.xml" Id="Rb14604bad73a44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964a75ef15462d" /><Relationship Type="http://schemas.openxmlformats.org/officeDocument/2006/relationships/notesMaster" Target="/ppt/notesMasters/notesMaster1.xml" Id="R9e56e7bbf22d48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548b349aca44e2" /><Relationship Type="http://schemas.openxmlformats.org/officeDocument/2006/relationships/notesMaster" Target="/ppt/notesMasters/notesMaster1.xml" Id="R89b5ddc7d6c941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b59db1d25e4f0a" /><Relationship Type="http://schemas.openxmlformats.org/officeDocument/2006/relationships/notesMaster" Target="/ppt/notesMasters/notesMaster1.xml" Id="R030a8bb233464e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a0a551f548440e" /><Relationship Type="http://schemas.openxmlformats.org/officeDocument/2006/relationships/notesMaster" Target="/ppt/notesMasters/notesMaster1.xml" Id="R07820b74dd4146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b273ee839a43a0" /><Relationship Type="http://schemas.openxmlformats.org/officeDocument/2006/relationships/notesMaster" Target="/ppt/notesMasters/notesMaster1.xml" Id="R1a3f2f2f227944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ed41f257514e87" /><Relationship Type="http://schemas.openxmlformats.org/officeDocument/2006/relationships/notesMaster" Target="/ppt/notesMasters/notesMaster1.xml" Id="Rcfc036f5376541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bf1f96cc08422a" /><Relationship Type="http://schemas.openxmlformats.org/officeDocument/2006/relationships/notesMaster" Target="/ppt/notesMasters/notesMaster1.xml" Id="R92cc9110c0f94c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f3306e4b25426c" /><Relationship Type="http://schemas.openxmlformats.org/officeDocument/2006/relationships/notesMaster" Target="/ppt/notesMasters/notesMaster1.xml" Id="R199683d0b72847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121cdc199243cd" /><Relationship Type="http://schemas.openxmlformats.org/officeDocument/2006/relationships/notesMaster" Target="/ppt/notesMasters/notesMaster1.xml" Id="Rc03d04fcc4234e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65cb2071a1402c" /><Relationship Type="http://schemas.openxmlformats.org/officeDocument/2006/relationships/notesMaster" Target="/ppt/notesMasters/notesMaster1.xml" Id="R1aac0e0d17394f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4feeb4e1a242ce" /><Relationship Type="http://schemas.openxmlformats.org/officeDocument/2006/relationships/notesMaster" Target="/ppt/notesMasters/notesMaster1.xml" Id="R921f664dd8c040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8f7e122c074d74" /><Relationship Type="http://schemas.openxmlformats.org/officeDocument/2006/relationships/notesMaster" Target="/ppt/notesMasters/notesMaster1.xml" Id="Rc5b48167bed54b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52e9c4f32f45c3" /><Relationship Type="http://schemas.openxmlformats.org/officeDocument/2006/relationships/notesMaster" Target="/ppt/notesMasters/notesMaster1.xml" Id="R44505de3fd8c47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3d0b062d04a6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42c6944c8134d14" /><Relationship Type="http://schemas.openxmlformats.org/officeDocument/2006/relationships/slideLayout" Target="/ppt/slideLayouts/slideLayout2.xml" Id="R7ed42f9010a24b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d42f9010a24b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70445c77a14aac" /><Relationship Type="http://schemas.openxmlformats.org/officeDocument/2006/relationships/notesSlide" Target="/ppt/notesSlides/notesSlide1.xml" Id="Rb00de018aa8843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c0edf10be74ca8" /><Relationship Type="http://schemas.openxmlformats.org/officeDocument/2006/relationships/notesSlide" Target="/ppt/notesSlides/notesSlide2.xml" Id="R9ff7fc6af0f545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9969c9de3f488c" /><Relationship Type="http://schemas.openxmlformats.org/officeDocument/2006/relationships/notesSlide" Target="/ppt/notesSlides/notesSlide3.xml" Id="R104ac5d14dea4d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8f8e56c12848d8" /><Relationship Type="http://schemas.openxmlformats.org/officeDocument/2006/relationships/notesSlide" Target="/ppt/notesSlides/notesSlide4.xml" Id="R9c678ef84d9c4e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6f0088a90647ca" /><Relationship Type="http://schemas.openxmlformats.org/officeDocument/2006/relationships/notesSlide" Target="/ppt/notesSlides/notesSlide5.xml" Id="Rdb825f9e81834b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11598fe284491d" /><Relationship Type="http://schemas.openxmlformats.org/officeDocument/2006/relationships/notesSlide" Target="/ppt/notesSlides/notesSlide6.xml" Id="R8e17c30c97a64a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86a07457254fe0" /><Relationship Type="http://schemas.openxmlformats.org/officeDocument/2006/relationships/notesSlide" Target="/ppt/notesSlides/notesSlide7.xml" Id="Rc6803a20e94842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d3e525c6994ce3" /><Relationship Type="http://schemas.openxmlformats.org/officeDocument/2006/relationships/notesSlide" Target="/ppt/notesSlides/notesSlide8.xml" Id="Rf8ecda4f7d5b40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5244ba52aa497a" /><Relationship Type="http://schemas.openxmlformats.org/officeDocument/2006/relationships/notesSlide" Target="/ppt/notesSlides/notesSlide9.xml" Id="R0562858637654e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0107d9b8af4116" /><Relationship Type="http://schemas.openxmlformats.org/officeDocument/2006/relationships/notesSlide" Target="/ppt/notesSlides/notesSlide10.xml" Id="R533c10b71f0e45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f8bd94169d4af4" /><Relationship Type="http://schemas.openxmlformats.org/officeDocument/2006/relationships/notesSlide" Target="/ppt/notesSlides/notesSlide11.xml" Id="R0f2195f1070747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03d92f0ca54bdb" /><Relationship Type="http://schemas.openxmlformats.org/officeDocument/2006/relationships/notesSlide" Target="/ppt/notesSlides/notesSlide12.xml" Id="Rb1eb1636804142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d1d16bc01e4e2a" /><Relationship Type="http://schemas.openxmlformats.org/officeDocument/2006/relationships/notesSlide" Target="/ppt/notesSlides/notesSlide13.xml" Id="R4840416ebf4948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ea54312f69425c" /><Relationship Type="http://schemas.openxmlformats.org/officeDocument/2006/relationships/notesSlide" Target="/ppt/notesSlides/notesSlide14.xml" Id="R8b6fc22e59404db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E13AAB-9D9A-4D26-AE52-A15A692C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3C22A-C958-44DD-8619-4F8249ED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1824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A29F5-8A87-42C8-9A6A-CBB3DA5B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1824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4DC97-4F21-4F2A-93A2-3627CB52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430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6F8BE-296D-45B2-80D4-BBB07A82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C3C8"/>
                </a:solidFill>
                <a:latin typeface="Aptos"/>
                <a:ea typeface="Aptos"/>
                <a:cs typeface="Aptos"/>
              </a:rPr>
              <a:t>REAL-TIME RETAIL FEEDBACK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D1E98-1135-4E0A-956A-90FDBDE6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7715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Turn review overload into routed customer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52653-438D-422D-8FF7-DEE59BD8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Live presentation | Final full-code capstone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5E292-F61E-437A-8E7B-2A95BC77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EE576-C6D8-452E-B2BF-E688D5A2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31"/>
          </a:solidFill>
          <a:ln xmlns:a="http://schemas.openxmlformats.org/drawingml/2006/main" w="0">
            <a:solidFill>
              <a:srgbClr val="D8A43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FA5A2-81EB-4B3D-AC9C-A86D7D82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7 fields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133DB-E72D-42F1-A156-008B4390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structured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2BB22-DB39-4A74-99DB-51B297BD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2057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type, urgency, sentiment, insight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3186C-30CC-46C9-9401-D76E675E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957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7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952DB-B040-41E9-A183-FD1813FF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957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AF173-F5A0-4A53-8B7A-789F6088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100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0.92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D73101-608E-44AF-AF51-1D8E4CC7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529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top prompt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AEA21-DC7F-4350-9473-06794080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62500"/>
            <a:ext cx="2057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FS V2 and CoT V2 tied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2AF1E-EE66-46E5-8054-05F10F91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3B9D0-09F0-49CE-8B82-9E899756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4F"/>
          </a:solidFill>
          <a:ln xmlns:a="http://schemas.openxmlformats.org/drawingml/2006/main" w="0">
            <a:solidFill>
              <a:srgbClr val="E66B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62E831-D54F-4BBF-B3CE-6A71865E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80%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FFE49D-8FE1-41CD-B202-484EEF9C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recommendation accuracy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CA054-FA76-4B76-8288-66E8BFA6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2343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risk flag, not autopilot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E658B3-30F0-4F3E-9E19-E91323BA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62000"/>
            <a:ext cx="2000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3D"/>
          </a:solidFill>
          <a:ln xmlns:a="http://schemas.openxmlformats.org/drawingml/2006/main" w="0">
            <a:solidFill>
              <a:srgbClr val="22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7BBB0-6FF4-467B-86DF-CE6AF844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123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4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431"/>
                </a:solidFill>
                <a:latin typeface="Aptos"/>
                <a:ea typeface="Aptos"/>
                <a:cs typeface="Aptos"/>
              </a:rPr>
              <a:t>Feedback_Type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F9AFA4-9B62-4D12-B33D-67808B97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3906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31"/>
          </a:solidFill>
          <a:ln xmlns:a="http://schemas.openxmlformats.org/drawingml/2006/main" w="0">
            <a:solidFill>
              <a:srgbClr val="7180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4E697F-4425-427E-B1AB-2DB74FF3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76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711DDB-5E38-44C6-A2D7-A3288EAA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431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8A"/>
          </a:solidFill>
          <a:ln xmlns:a="http://schemas.openxmlformats.org/drawingml/2006/main" w="0">
            <a:solidFill>
              <a:srgbClr val="7180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D4E6A3-8104-4DDA-B097-6F0CEEA1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288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Sentiment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D7DF1D-09D6-4AFC-A548-79C1E3E7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955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8A"/>
          </a:solidFill>
          <a:ln xmlns:a="http://schemas.openxmlformats.org/drawingml/2006/main" w="0">
            <a:solidFill>
              <a:srgbClr val="71808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988266-9173-4075-A1D3-ED103998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81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4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431"/>
                </a:solidFill>
                <a:latin typeface="Aptos"/>
                <a:ea typeface="Aptos"/>
                <a:cs typeface="Aptos"/>
              </a:rPr>
              <a:t>Urgency_Level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80ABE7-C2F9-4ACF-AF24-BC5DD040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480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31"/>
          </a:solidFill>
          <a:ln xmlns:a="http://schemas.openxmlformats.org/drawingml/2006/main" w="0">
            <a:solidFill>
              <a:srgbClr val="71808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DEDAF4-683B-410B-BBC6-85A29934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337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616C70-FA09-4B91-BB7E-83379DB0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004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8A"/>
          </a:solidFill>
          <a:ln xmlns:a="http://schemas.openxmlformats.org/drawingml/2006/main" w="0">
            <a:solidFill>
              <a:srgbClr val="7180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3181B0-3DC8-40CD-8067-3A85B047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862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EED592-E89F-4447-937A-D75D4B7E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529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8A"/>
          </a:solidFill>
          <a:ln xmlns:a="http://schemas.openxmlformats.org/drawingml/2006/main" w="0">
            <a:solidFill>
              <a:srgbClr val="71808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A3C8AF-68B9-4925-9F23-01741630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386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9C4247-6C7D-4A3B-968F-AD958964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053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8A"/>
          </a:solidFill>
          <a:ln xmlns:a="http://schemas.openxmlformats.org/drawingml/2006/main" w="0">
            <a:solidFill>
              <a:srgbClr val="71808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88520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5B9FFF-916F-40E1-8913-707274BD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7684D78-98F1-48C6-A3B8-8961C8BF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BACAD59-F17F-4771-B3EF-EC16ADF3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CF8C8-39C6-4927-867D-71536947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Peak-season review spikes create an action-routing problem, not just a sentiment problem.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DC6A6-B9D5-4FC8-93EE-9CCCD142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ChicStyle receives high-volume reviews during holiday and festive periods. The business risk is not only knowing whether feedback is positive or negative; it is knowing who should act, how fast, and why.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A71D0-4BE9-4459-9CDA-A543D1BE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6230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1824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C4B9B-9D00-48A3-9CE3-4FEEF136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385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6C8A5-3D66-4C8D-80A3-DC77F095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Review spike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C4025-5662-4A7D-A554-FF0F892B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09950"/>
            <a:ext cx="384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Thousands of comments arrive while teams are already busy.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381B9-851B-4716-8B90-21448497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19500"/>
            <a:ext cx="28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D3B0C-7B75-47D9-BD15-A11B6C98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2905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1824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764C3-F147-4494-A7F3-2EE70B5F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052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1476A-5CD4-4E9E-9163-6F8A859F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100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Mixed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3E826-F1D2-4B47-B910-9A404969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76700"/>
            <a:ext cx="384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Customers can praise style while criticizing fit, fabric, or delivery.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2E8E7C-FC6E-4401-985A-34E14B07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0"/>
            <a:ext cx="28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5E7CEF-1346-486A-BF48-2A9D0BB8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9580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1824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13788-4BD5-4673-893D-BFA78BCA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572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F61CE-4CD6-4D05-8743-A145B4E1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Slow routing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BE32F-F672-4DB9-BE62-D459F27E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43450"/>
            <a:ext cx="384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Manual triage delays response and hides recurring product issues.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7D152-9D6B-481C-B7CF-9252176B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28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5A91C3-2996-4355-977E-603EFFF1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6255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4F"/>
          </a:solidFill>
          <a:ln xmlns:a="http://schemas.openxmlformats.org/drawingml/2006/main" w="0">
            <a:solidFill>
              <a:srgbClr val="1824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7B615-92A3-4B05-8FBA-944655FD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387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31813D-0A9F-4C66-B40D-3709C000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43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Business 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5A5CC-1105-484A-8D5A-F79E2CCA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410200"/>
            <a:ext cx="384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Ignored complaints can reduce trust, repeat purchase, and brand reputation.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7FA9C-147D-456D-96E7-BD0D024A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58D"/>
                </a:solidFill>
                <a:latin typeface="Aptos"/>
                <a:ea typeface="Aptos"/>
                <a:cs typeface="Aptos"/>
              </a:rPr>
              <a:t>Source: Problem statement and final notebook framing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53D592-E88F-42E0-BE76-4067558E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58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8759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158F18-2FA5-44FF-866E-6B5C85A7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9DB5FF2-418F-4920-A062-4FB23E87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D81B91C-1254-4E5E-A02C-EAE6E78A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DATA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D63E4-0920-44DE-8364-C4998EBD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Ratings look healthy, but the text still carries the operational issues.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05FA0-56F0-46E5-933F-3AFB6A88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2324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A2679-4063-4F39-A670-4B87EB73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9BE9F-F3E1-43A1-9C60-B3A16CBD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23,486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096D5-B382-43F5-A343-E84B32B1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review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AE276-6734-4707-9BE9-66CE1C06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716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7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7F3E8-A966-45DD-9907-C690226A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716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31"/>
          </a:solidFill>
          <a:ln xmlns:a="http://schemas.openxmlformats.org/drawingml/2006/main" w="0">
            <a:solidFill>
              <a:srgbClr val="D8A43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48F09-179C-4845-803C-9CED13D1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4.20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BFA9C-0CC8-4DB0-AF2A-F05E031B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288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avg rating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402F7-E4EB-4D45-B8DD-48FC0185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716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7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778CD-2D47-47CD-9EBB-7CA85492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716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69A0C9-4A9A-49B3-AFB2-1CEE2F2E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859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82%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ACB2E-1EBC-453C-A518-0A74AFD0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288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recommended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BEE0D-D2A8-4B9F-9C59-B0B046E2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Rating distribution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792D9-7441-4B13-8C6D-D9D14000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5-star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61EE4A-A329-48D1-BED0-2BD061B4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576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D1168-B9C0-441A-AAFC-25182564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57600"/>
            <a:ext cx="46455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FDC1E-3800-409B-9FBE-971157C2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460" y="3619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13131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1C1EC-A35D-4A7F-9E7C-F3819C18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4-star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55A71-CD7E-41AB-945A-90E688DE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76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6AAC01-0846-4130-963A-737FF489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76700"/>
            <a:ext cx="179617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8AE"/>
          </a:solidFill>
          <a:ln xmlns:a="http://schemas.openxmlformats.org/drawingml/2006/main" w="0">
            <a:solidFill>
              <a:srgbClr val="74B8A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CA33F1-3D41-4F59-8532-44E6E0E5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070" y="40386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5077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25A63B-D8DE-4B59-9DC5-405155BE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3-star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665635-8917-4893-874B-C081E472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958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AF952D-9FFD-4DDC-AC6C-392485A8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95800"/>
            <a:ext cx="101571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31"/>
          </a:solidFill>
          <a:ln xmlns:a="http://schemas.openxmlformats.org/drawingml/2006/main" w="0">
            <a:solidFill>
              <a:srgbClr val="D8A43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9F53EA-5F1E-4159-A540-56FBE8D3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619" y="44577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2871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7F3ECD-3A67-41E9-8316-BF915300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2-star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9242A1-35B3-452F-949D-3EBF882C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14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ED3B74-55B1-43CF-A731-35AC5422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14900"/>
            <a:ext cx="553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A83"/>
          </a:solidFill>
          <a:ln xmlns:a="http://schemas.openxmlformats.org/drawingml/2006/main" w="0">
            <a:solidFill>
              <a:srgbClr val="E89A8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4AC2B5-62A3-4E9A-82ED-1A1A4E1F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575" y="4876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1565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AC20B3-DA24-4880-993A-8A363D84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1-star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F3C7E1-5732-484D-A1C8-744DBF86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34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5E7015-5FAB-44DC-AC5A-EBDD7E48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34000"/>
            <a:ext cx="2978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4F"/>
          </a:solidFill>
          <a:ln xmlns:a="http://schemas.openxmlformats.org/drawingml/2006/main" w="0">
            <a:solidFill>
              <a:srgbClr val="E66B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409713-6BB0-436C-9386-0E52457C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788" y="5295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842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B3D34A-E50D-4159-ACEC-8842635D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4290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FCE7D6-AF8F-4FF5-AF5A-655FF3AA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Why GenAI still matters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94F902-9BDA-43D7-88C1-BC47CE76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667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A high rating can still hide a problem: sizing uncertainty, color mismatch, thin fabric, or late delivery. The final solution extracts the operational reason behind the sentiment.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7418C2-1ED1-42D9-A122-9BD0FA80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72050"/>
            <a:ext cx="2628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18242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12BFF9-24DE-4046-99EE-3C5F8A59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1015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Text reveals what ratings compress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5ACC28-936D-4A38-9733-72084894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58D"/>
                </a:solidFill>
                <a:latin typeface="Aptos"/>
                <a:ea typeface="Aptos"/>
                <a:cs typeface="Aptos"/>
              </a:rPr>
              <a:t>Source: Women's E-Commerce Clothing Reviews dataset; final notebook EDA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C32253-928D-4796-9F3C-BBBF90CB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58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368060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6A3275-6750-427B-8F6F-C26EA183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BAC9CD-3008-43B7-8DC8-1C5BA205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C1DD116-E3B3-4562-A68D-A02CB922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SOLUTION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CABCB-DE52-4944-99A5-B2633CBB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The pipeline turns one raw review into a routed, urgency-aware business record.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74CB3-F9DA-4F38-8F68-03AA9EC3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509D3-35B7-413A-BA69-047C26AF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Raw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7DD10-E7E0-442A-8683-97B59177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695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Customer language about fit, quality, service, color, comfort, or price.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63B52-9584-4C44-B361-8D7F868C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575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17E"/>
          </a:solidFill>
          <a:ln xmlns:a="http://schemas.openxmlformats.org/drawingml/2006/main" w="0">
            <a:solidFill>
              <a:srgbClr val="6171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BF2B8-3C67-4020-BCBB-D34854D1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9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1717E"/>
          </a:solidFill>
          <a:ln xmlns:a="http://schemas.openxmlformats.org/drawingml/2006/main" w="0">
            <a:solidFill>
              <a:srgbClr val="61717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05564-9516-4CA0-BE13-2A3D1289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479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EAA9C-91F9-4A2F-AD83-952AF488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812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Prompt family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0AB3E-4337-4272-825F-A90D4718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67000"/>
            <a:ext cx="1885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Zero-Shot, Few-Shot, and CoT prompts generate structured outputs.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6A1ED-CBA6-4135-B91C-0D51ECEB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575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17E"/>
          </a:solidFill>
          <a:ln xmlns:a="http://schemas.openxmlformats.org/drawingml/2006/main" w="0">
            <a:solidFill>
              <a:srgbClr val="61717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601CC-501F-47A8-A371-16222FCC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09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1717E"/>
          </a:solidFill>
          <a:ln xmlns:a="http://schemas.openxmlformats.org/drawingml/2006/main" w="0">
            <a:solidFill>
              <a:srgbClr val="61717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47F3B-A38D-4DA3-BE9D-026968C7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47900"/>
            <a:ext cx="24193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0A469-B520-48D2-9594-7A0E8E85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Seven-field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E035F-1523-4B8E-A1F0-0E2C9981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2114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Type, category, sentiment, urgency, summary, message, and insight.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54265-14F4-4881-B387-EE43D841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17E"/>
          </a:solidFill>
          <a:ln xmlns:a="http://schemas.openxmlformats.org/drawingml/2006/main" w="0">
            <a:solidFill>
              <a:srgbClr val="6171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19CB7-4BBF-45E5-BE28-C46CBA9E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09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1717E"/>
          </a:solidFill>
          <a:ln xmlns:a="http://schemas.openxmlformats.org/drawingml/2006/main" w="0">
            <a:solidFill>
              <a:srgbClr val="61717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F3B30A-05CE-42C5-9A7A-94CFCCA0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479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5C547-A8BB-426F-93D3-6C4789D1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Team routing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42240D-40D8-4AB4-8D53-2C403900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Support, merchandising, product, quality, and AI monitoring actions.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975A08-44CF-4FBB-BDF5-1AAF2A42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31"/>
          </a:solidFill>
          <a:ln xmlns:a="http://schemas.openxmlformats.org/drawingml/2006/main" w="9525">
            <a:solidFill>
              <a:srgbClr val="D8A43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A59E6-04AD-4792-8A86-6EBCFE16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672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Feedback_Type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7F738E-378E-4018-B69D-91DA6888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624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28E95C-8751-43AA-B24F-FABF1CA3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672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FF3523-C470-44AB-9D35-6AF1BEDA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624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2B43AA-1039-4938-89FD-F279A6ED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672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Sentiment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83BF94-FDAB-4459-99F2-A40637C2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31"/>
          </a:solidFill>
          <a:ln xmlns:a="http://schemas.openxmlformats.org/drawingml/2006/main" w="9525">
            <a:solidFill>
              <a:srgbClr val="D8A43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41904A-135B-440C-9A67-84CC73CD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672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Urgency_Level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D03666-77B0-4903-AEFD-F2FC2A5B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624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3FA4F3-080A-412F-A31C-E0CB9148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672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C15723-184F-4FAB-8810-680C27F5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24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E9FDF4-38AB-47B4-86E7-218C2CB4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672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Message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B26AFE-367D-409A-8DF4-622F618A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624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A5E357-1455-4665-B0C6-4E2FDDF7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672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Retail_Insight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4E5289-5B8E-438C-A1B4-C00F1B4A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19700"/>
            <a:ext cx="733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The extra fields make the model useful for operations: Feedback_Type decides ownership; Urgency_Level decides speed.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D0379C-8A03-4FB2-A61C-EAFF97C5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58D"/>
                </a:solidFill>
                <a:latin typeface="Aptos"/>
                <a:ea typeface="Aptos"/>
                <a:cs typeface="Aptos"/>
              </a:rPr>
              <a:t>Source: Final notebook prompt schema and parser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3874AA-45DD-4214-A495-9D6D546A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58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003498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5EF0EC-9AFB-4BA7-96FC-DB0154AD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789C800-E252-4907-BA3C-90C46067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A66B887-5A36-479C-9608-D57287B7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3AA42-A606-4C06-AE7B-1A886C7E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Six prompt designs were tested under a common seven-field judge rubric.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B66F8-D64E-4C76-8461-C88C6239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9333A-80FD-434F-967E-EDB5C370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5F04C-B731-4E44-BA91-0DAA4B4C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0025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A6F1C-56BE-4E16-B843-8623AF92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76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AF149-2B23-4E86-AA3E-F12CA66D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0025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B6CE4-E8D8-4AA5-835B-07ACB0EC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76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D996C-9AC0-4C73-93EE-CDF0224D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02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D237C-96AD-4FF6-9427-288EF290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764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28B15-DB5F-444A-A621-3A4D4777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18BD3-DE16-4F1F-B638-6D0430E1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Zero-Shot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AFEB4-7073-4DE0-8CBA-A0BF5A91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193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BAFD2-45E8-4968-B316-9C387AE8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955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Direct seven-field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B2985-F552-483B-B076-4891C97C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193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2A47E-B3AD-490E-9303-0FB6B9A3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955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Adds retail context + routing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BD20F-A226-461B-863A-3FE5D9CC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0051C-847F-4983-A7F6-6125EDFB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95550"/>
            <a:ext cx="381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Tests whether clear instructions alone are enough.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BF503-E603-4EC6-8659-AEA492E3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D236B8-AD49-4F63-8559-7E185E2E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Few-Shot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0444E2-873E-45BE-A472-E11EA9D8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3850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B6CF47-9191-4124-99E8-9B71D81B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147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Examples teach output pattern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666D61-8E77-4752-9AA8-87119AA0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3850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4F843A-26C7-4151-A4D1-575D7FF2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147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Examples + explicit urgency/type rules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F56514-7A5C-4945-8B76-422412FC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3850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E6BBB7-5E30-490A-88DB-6FBCFE05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14700"/>
            <a:ext cx="381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Tests whether examples improve consistency.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472671-AD73-4B91-9C60-368151B8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095390-CA4A-4626-BDCA-672F2EB4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CoT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82E500-C89B-44DC-9DFD-624FEE15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576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B66F7-BA09-4C78-9000-9CBD2829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338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Internal reasoning, final fields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020C4F-C4E4-479D-93B6-5DDDC0E7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576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42FBFA-9684-49A7-A130-90DF4C37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338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Reason through type, urgency, impact,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63792F-F4A9-4B51-A675-A3C606F1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5765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7A4AF0-91F4-4AB6-87D5-048BD754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33850"/>
            <a:ext cx="381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Tests whether structured reasoning improves triage.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12AE95-1A2B-4782-AD6C-07C05E70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43500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1"/>
          </a:solidFill>
          <a:ln xmlns:a="http://schemas.openxmlformats.org/drawingml/2006/main" w="0">
            <a:solidFill>
              <a:srgbClr val="EEF1F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2D5F0A-EBB9-46FA-B066-C2DCA728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14950"/>
            <a:ext cx="819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Judge rubric: feedback type, category, sentiment, urgency, summary, personalized message, and retail insight. Temperature set to 0 for stable scoring.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2F9A30-F2AC-4620-A7BD-5F5A4AB5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58D"/>
                </a:solidFill>
                <a:latin typeface="Aptos"/>
                <a:ea typeface="Aptos"/>
                <a:cs typeface="Aptos"/>
              </a:rPr>
              <a:t>Source: Final notebook evaluation framework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589D06-9AF7-49BF-BB1A-1E142640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58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21960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30AE36-E074-407B-8D0E-81C287EB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A54A706-795F-4C1F-BD6A-6A60E831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98903D2-19C7-49F4-AEB3-A6A7C2C7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MODEL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9BD44-1C2A-43F6-88F6-5808193F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After routing fields were added, Few-Shot V2 and CoT V2 led at 0.92.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F5452-DCFF-41A0-B28C-B03640DB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431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Zero-Shot 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A7BBE-6256-4B63-85C5-DCEDE961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812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717FF-B3B3-416C-A5C9-CD861F8B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81200"/>
            <a:ext cx="46805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E8E"/>
          </a:solidFill>
          <a:ln xmlns:a="http://schemas.openxmlformats.org/drawingml/2006/main" w="0">
            <a:solidFill>
              <a:srgbClr val="4E6E8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DAAEA-51FD-4199-822B-1ED74581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335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0.91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700CF-02F0-4F3E-83D8-9B6DF1A0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384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Zero-Shot 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44D4B-E0FA-48F1-A675-6B7E5038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765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6BB83-22ED-482C-BBA6-4370C61E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76500"/>
            <a:ext cx="46805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E8E"/>
          </a:solidFill>
          <a:ln xmlns:a="http://schemas.openxmlformats.org/drawingml/2006/main" w="0">
            <a:solidFill>
              <a:srgbClr val="4E6E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532DE-750F-4439-B8B9-E3393183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0.91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FC86E-1506-443C-B583-5C6174C7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Few-Shot V1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E5CAF-A350-4B2F-98E5-6CF83703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718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9C2A7-7CB4-4B5D-B349-3646F46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71800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7AA8"/>
          </a:solidFill>
          <a:ln xmlns:a="http://schemas.openxmlformats.org/drawingml/2006/main" w="0">
            <a:solidFill>
              <a:srgbClr val="9C7A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AF918-7442-4A45-86C8-CB346E55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241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0.90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8EFA5F-E090-4F77-B96F-C15E4F91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Few-Shot V2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94BF6-45EF-4CB6-A177-C35FCEB0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671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C019D-D9B5-4504-A59D-242A6354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67100"/>
            <a:ext cx="473202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31"/>
          </a:solidFill>
          <a:ln xmlns:a="http://schemas.openxmlformats.org/drawingml/2006/main" w="0">
            <a:solidFill>
              <a:srgbClr val="D8A43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B243D-15D4-4484-8497-4B965375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194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0.92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973BC-53F4-4116-91E0-FB68CFD2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CoT V1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BF026C-AFB7-4695-A23D-AFF70683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624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7C7BF-4F74-4551-9BCD-7250F748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62400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1F0486-B279-4BE9-900A-9788D1C4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147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0.90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2CDA37-E8F4-4641-A1E6-1A37D750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CoT V2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1C9781-B310-478B-BECF-A191C2C7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577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2A698C-DB76-4488-A7A7-0626A900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57700"/>
            <a:ext cx="473202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3B0BAB-A684-45BE-89C1-52D8CBCD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00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0.92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F32149-4BC2-4470-9F3A-7B77E53D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0764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18242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EF5ABE-C3DA-48EA-86CC-C0F97787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6695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C3C8"/>
                </a:solidFill>
                <a:latin typeface="Aptos"/>
                <a:ea typeface="Aptos"/>
                <a:cs typeface="Aptos"/>
              </a:rPr>
              <a:t>Top 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0A56C9-5D25-4997-8CFA-11F5D5EF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527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0.92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432C10-140C-4D25-AECD-F01AE27D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813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D7D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D7DA"/>
                </a:solidFill>
                <a:latin typeface="Aptos"/>
                <a:ea typeface="Aptos"/>
                <a:cs typeface="Aptos"/>
              </a:rPr>
              <a:t>FS V2 and CoT V2 tie. CoT V2 is selected for urgency routing.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7D2C2A-DA06-4E66-A4C6-C3016151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52900"/>
            <a:ext cx="2076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115474-CE7D-42E7-97F2-4A4E7706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9100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Production: CoT V2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B44FB0-90DE-4194-9B5B-23313943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29150"/>
            <a:ext cx="2076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31"/>
          </a:solidFill>
          <a:ln xmlns:a="http://schemas.openxmlformats.org/drawingml/2006/main" w="0">
            <a:solidFill>
              <a:srgbClr val="D8A43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87E8E8-E78D-4043-A7B7-28C9CAD1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6725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Validation: FS V2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A6C8D5-A95C-4DF3-86CF-5733E7C5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58D"/>
                </a:solidFill>
                <a:latin typeface="Aptos"/>
                <a:ea typeface="Aptos"/>
                <a:cs typeface="Aptos"/>
              </a:rPr>
              <a:t>Source: User-provided rerun scores from final notebook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CE6F07-9200-4523-8569-886B5C35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58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807538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9343BB-501E-4732-89B7-91EA7664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3C78C2-9F16-4D62-81CE-8B129260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D44D868-9B9B-497F-8B39-8D52ED01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FINAL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0D3B3-BE71-47DB-8C0C-AFEB35B1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CoT V2 wins the tie because routing depends on reasoning, not sentiment alone.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3C60D-74BE-4B29-A4FE-1B89A816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E8FCE-AA84-45E2-BCFF-EAFDD8E3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factor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71F69-0154-4A48-923F-98CBED76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145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B355B-4E07-430D-9C05-B5EAF1DD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Few-Shot 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72FE5-EBD9-43FA-A0BB-6C06BA90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C28ED-5702-4979-9525-49FE066D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907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CoT 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F0016-3F7D-44D1-AF2B-48D82B8E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364E3-093C-43C2-9D4D-F2C1CD39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Judge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958BD-6EA7-4151-A839-FB5066C8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527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5DA7C-5B71-40F4-8B9E-8131938E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289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0.92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18E07-64FE-422C-86F3-40ED3648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527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0BE62-07E1-409E-825C-DE98AE1A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289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0.92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50970-DE60-425E-A61B-39F7B7E6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2275C-1B45-471E-9284-2BD32399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Best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38636E-D830-4880-A2DE-D9977BDC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385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3D8E1-5C05-493C-9696-D2F1F03A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147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Consistency from examples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3BAA7-46F3-4CE6-94EE-3497179E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385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A1C02-9206-4316-A4E4-6CA5F7FB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147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Triage of mixed/high-impact reviews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13FBD-F92D-4850-A0D7-61487B53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3A5DC-07C1-462C-AF49-848AF5D7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Routing fit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D73763-BBC8-4741-ABD7-4EBB04CB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243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0BAAC6-A865-41DD-BBFE-E56C20BD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005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Strong secondary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13D8E0-A7F6-432C-91ED-2917A91B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243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74CAC6-747F-40D7-8B4E-73E8ACCC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005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Primary: reasons through type + urgency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847AF6-6E93-4CE7-8ED9-34FDD2DE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BC8129-4998-4490-BF08-2F563BBC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Production role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F46BD1-83B9-4F85-AAF4-A3BE697C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6101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05B407-72DF-444F-B687-07785A64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863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Regression / validation prompt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ABFE1F-B7CA-47DE-B44C-0EEA5FD9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101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3512C4-8547-4B60-88B5-91E18AEC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863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Selected final prompt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798495-BE22-46EA-B6AB-93AA264A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29250"/>
            <a:ext cx="828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Tie-break rule: when scores are equal, choose the prompt that best fits the operating requirement. Here, that requirement is urgency-aware triage.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B7FC90-C978-4422-A2BD-AA017699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58D"/>
                </a:solidFill>
                <a:latin typeface="Aptos"/>
                <a:ea typeface="Aptos"/>
                <a:cs typeface="Aptos"/>
              </a:rPr>
              <a:t>Source: Final notebook comparison narrative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65101D-623C-493D-917E-9EFB1437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58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363867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A3B02A-D4C9-4DA9-AACC-71C8DE0C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F7DF8F-3A09-42CA-92C2-1C2A9BE4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E97CBA9-B621-4750-BF9E-3BE3263C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SENTIMENT BEHAVIOR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8B931-104E-4D74-837A-E9FD7D88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V2 prompts agree the sample is positive, but differ in how they preserve nuance.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66B14-9C30-4776-9B99-F120A414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Zero-Shot V2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9C541-F649-4494-BEF1-32329522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90750"/>
            <a:ext cx="307086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CAE11-CFFE-4090-99CF-CAB79FD1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38375"/>
            <a:ext cx="30708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F37E8-FC5E-4E97-96F4-C211E6BC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710" y="2190750"/>
            <a:ext cx="188976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4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EC188-7436-48AD-AAED-5FC53184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710" y="2238375"/>
            <a:ext cx="18897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9AC10-CB74-4194-8216-5404F250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470" y="2190750"/>
            <a:ext cx="94488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E8E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F44EA-E0B7-4F1F-997F-4EE55CB9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470" y="2238375"/>
            <a:ext cx="9448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32E57-B47A-4382-B6D2-05BDBE73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Few-Shot V2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01E9F-4171-4E49-AF23-4B8D464D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908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4D65C-FE87-40EB-85BD-3FB919D2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384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EB9C6-26F3-4D76-85E9-D073821E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9085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4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BCA371-C975-45C6-95EC-AFEEFD95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38475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BBA34-635D-4E4E-AF40-4CA54E1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9085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E8E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107B39-9F3E-4FFA-B17B-11438F32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38475"/>
            <a:ext cx="15354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7E575-FC26-47D3-9170-327F85A8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130" y="2990850"/>
            <a:ext cx="23622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7AA8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49A37-FB50-4141-A76F-98A3BAAD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CoT V2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0045B-76AB-451C-8FAF-0FC80577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790950"/>
            <a:ext cx="318897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88BBF5-436E-46AE-AED2-60B9A834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38575"/>
            <a:ext cx="318897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2ACD8-E9F7-467E-A1DF-2DFDA0BA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790950"/>
            <a:ext cx="15354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4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1315A-84DC-4B7E-B5FC-CB41534F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838575"/>
            <a:ext cx="15354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D0C23-243B-48E8-82C2-5EA57A88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9095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E8E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B25891-C887-421F-97CE-ACD7D911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38575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F2E322-FC0C-4479-8A14-5DDBDB3B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667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92CB1B-4CD1-47D5-B452-2F271CF3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29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5CB3B4-2E46-4337-A538-5D8A8512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67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4F"/>
          </a:solidFill>
          <a:ln xmlns:a="http://schemas.openxmlformats.org/drawingml/2006/main" w="0">
            <a:solidFill>
              <a:srgbClr val="E66B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7A75F3-BE02-4F70-A3E1-78395327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29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553F2F-4688-4EB7-9CE0-3E22FF09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67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E8E"/>
          </a:solidFill>
          <a:ln xmlns:a="http://schemas.openxmlformats.org/drawingml/2006/main" w="0">
            <a:solidFill>
              <a:srgbClr val="4E6E8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6C0684-3A6C-4019-B6E9-4F78DF9D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9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D54B36-EA8D-45C3-8E2D-2A8646C1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67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7AA8"/>
          </a:solidFill>
          <a:ln xmlns:a="http://schemas.openxmlformats.org/drawingml/2006/main" w="0">
            <a:solidFill>
              <a:srgbClr val="9C7A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E38A86-D8A2-4AAB-A349-0EE08A64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29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Mixed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8A6C8A-EA23-4618-8DBC-FCDB0DB0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3812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A7C541-C433-4AD8-B8D8-85B0D1A8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B02CBC-7C34-4720-B26F-C437D55A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1752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Few-Shot V2 preserves the most ambiguity: 13 Neutral and 2 Mixed.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CoT V2 is more decisive while still recognizing 10 Neutral reviews.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That balance supports CoT V2 for routing and FS V2 for validation.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9DBEEA-74C1-476D-B63C-72C9176F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58D"/>
                </a:solidFill>
                <a:latin typeface="Aptos"/>
                <a:ea typeface="Aptos"/>
                <a:cs typeface="Aptos"/>
              </a:rPr>
              <a:t>Source: Final notebook sentiment distribution plots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92C193-6AA1-4100-ADD6-116D4F94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58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878425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171A51-3A71-4B95-998C-8D2F066C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763AC2B-663B-449A-8EFB-839FFE1A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7BE4E80-DA48-4887-BADC-C12A4CCB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RECOMMENDATION INTENT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1EF35-07F6-4C92-8016-03753C54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The recommendation task is useful as a risk flag, not an autopilot.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288FB-00FA-48F0-9159-CAEED6F6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Confusion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4B9F6-D91C-4762-B628-FF8D8FED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32099-FA04-42F2-8031-5EF846C8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FC35D-9C68-492A-A466-138BA6C6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098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9CAFC-C876-4AD1-8A30-49DACF79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860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Pred: Not rec.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E0C8B-39CB-44AB-B242-C2582E15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36E91-34E6-43B5-BFD5-72B73650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Pred: Rec.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32BDD-885D-411A-9EDC-0FC5A8EF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C4649-D44D-40B3-8576-9818569D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95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Actual: Not rec.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9E65B-D7BD-49AD-80BD-A895925C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FF607-C96F-413A-AF8C-F9F8DE18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95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Actual: Rec.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7033B-CAC1-4B8C-A130-D1C3E498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17732-CC57-4834-9917-DC04A890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24200"/>
            <a:ext cx="95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27CCB-4DDD-4E6E-8266-E3464C69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A83B7-F23C-4E47-A8D2-F92D0240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24200"/>
            <a:ext cx="95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9E4F2-4211-45D0-B436-ABC239D9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9100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8D0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34D953-A2EA-4557-9902-5DE3C2F4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95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51325-3B97-42E2-ACEE-4E05A6F6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18F4FC-A4B1-40A6-85AE-9B3793C8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67200"/>
            <a:ext cx="95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C4D21-08A1-4796-A391-C0829A26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7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DF89ED-4068-490E-B6A5-5C0F327E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C08BBE-A345-40D9-99EF-83E26F26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80%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73AA23-E00A-48C9-86E0-C2D058E8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7ADE56-CD52-462F-B070-A9AAE889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7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CAFF56-65B8-42A7-9792-BC75B0CA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31"/>
          </a:solidFill>
          <a:ln xmlns:a="http://schemas.openxmlformats.org/drawingml/2006/main" w="0">
            <a:solidFill>
              <a:srgbClr val="D8A43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ADC815-037B-4051-B27F-B9023513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FC76EF-F834-4712-9532-5047FFD3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384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recall: not recommended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3E0F7B-75CC-4FB6-9539-AAA3F0A8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14750"/>
            <a:ext cx="4476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The model catches all actual not-recommended cases in the sample, but misses 10 recommended cases. That conservative behavior is useful for prioritizing risk, while human review remains important.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F5DCB7-2AF3-4F46-9EBA-7277076B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58D"/>
                </a:solidFill>
                <a:latin typeface="Aptos"/>
                <a:ea typeface="Aptos"/>
                <a:cs typeface="Aptos"/>
              </a:rPr>
              <a:t>Source: Final notebook recommendation-intent evaluation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7955DB-5ADD-49F1-A376-C7102DBD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58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440897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4D1987-D566-46A5-9A8A-996D1A15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482A82D-EB91-4721-9BDF-4A4DFD1D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4D5B6B9-0E7C-4B96-9CB6-7F95984D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BUSINESS ACTIONS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6E928-DD1C-4C23-92AC-C56715AB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The recommendations map directly to routed feedback owners.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9F022-E5A7-4C1A-9B23-20F2CEBC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4F"/>
          </a:solidFill>
          <a:ln xmlns:a="http://schemas.openxmlformats.org/drawingml/2006/main" w="0">
            <a:solidFill>
              <a:srgbClr val="E66B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427BB-6F1F-45B3-AF9C-C0842FE3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050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Customer 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47434-68E2-4523-8303-F8FF06B2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812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High urgency + service/mixed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1CF04-BCFD-4BC0-A628-4BCDD4CB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Fast human follow-up; use generated message as a reviewed draft.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C35DF-9619-4DAA-84D4-1209725E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193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3116D-1732-45F6-8639-AFCE430D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31"/>
          </a:solidFill>
          <a:ln xmlns:a="http://schemas.openxmlformats.org/drawingml/2006/main" w="0">
            <a:solidFill>
              <a:srgbClr val="D8A43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18970-F758-4FB4-B774-E7441840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Merchandising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D3E33-8CB2-4854-8AC9-9B2BE1EA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765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Product + fit/image gaps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51D93-84BE-4898-8433-B50F6A17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432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Update product pages with sizing, fabric, color, and fit notes.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A2E26-C0B3-407D-9D9C-CB83A61D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146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4386D-161D-4E3F-9AB5-65C3E928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52D29-959C-4B24-A1AB-9F7C4FFE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957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 &amp;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88D58C-844E-4150-89E3-7E58F590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719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Medium/high product defects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2F0FE-42A6-4F13-BE79-F1E0DDA5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386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Review recurring fabric, transparency, stitching, zipper, and comfort issues.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38CA7-C0A5-470F-AF5B-5E7A36AB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100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D5441-EBB3-429C-9843-7955DB50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E8E"/>
          </a:solidFill>
          <a:ln xmlns:a="http://schemas.openxmlformats.org/drawingml/2006/main" w="0">
            <a:solidFill>
              <a:srgbClr val="4E6E8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8CF21-E3F5-4F8D-89A5-AF3DD573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910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/ AI Team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B876C-3543-48D2-B03D-CDFFD480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672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All model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7676BC-2EB3-460B-AB32-19170E98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339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Monitor parse success, drift, urgency accuracy, and human override rates.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A51AB8-976F-4A96-9B65-F8E4D205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053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8"/>
          </a:solidFill>
          <a:ln xmlns:a="http://schemas.openxmlformats.org/drawingml/2006/main" w="0">
            <a:solidFill>
              <a:srgbClr val="DDE5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B274BD-E63D-4306-BC8C-B6029FF6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62150"/>
            <a:ext cx="16573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1824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E7BFEC-E171-496C-82BD-04E766B6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479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C3C8"/>
                </a:solidFill>
                <a:latin typeface="Aptos"/>
                <a:ea typeface="Aptos"/>
                <a:cs typeface="Aptos"/>
              </a:rPr>
              <a:t>Decision rule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1A9C16-4E57-4698-A32C-3B968AD9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62250"/>
            <a:ext cx="1162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Type assigns owner.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Urgency assigns speed.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DFF665-38AE-4BEF-9898-A69F1140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58D"/>
                </a:solidFill>
                <a:latin typeface="Aptos"/>
                <a:ea typeface="Aptos"/>
                <a:cs typeface="Aptos"/>
              </a:rPr>
              <a:t>Source: Final notebook implementation recommendations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9B5324-8E18-431C-B5D0-BEFCB4A7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58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2447630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0976A0-90A0-425A-B58D-9C4D59C1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ECABC88-A77C-42C8-8DF7-F76D55E5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75F11D-6F15-45F5-A1F5-3CB89B56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9CDF9-748C-487D-9DC2-2837B837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A monitored pilot captures value while controlling LLM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4B99E-FD6D-44D4-92ED-0A733785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1824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A8035-9B03-4ADF-8641-7A21C877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0325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75DEB-C80F-40DD-A453-FEA70F68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194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17E"/>
          </a:solidFill>
          <a:ln xmlns:a="http://schemas.openxmlformats.org/drawingml/2006/main" w="0">
            <a:solidFill>
              <a:srgbClr val="61717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3B7BF-E8A3-4FB5-8C68-047736DC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71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1717E"/>
          </a:solidFill>
          <a:ln xmlns:a="http://schemas.openxmlformats.org/drawingml/2006/main" w="0">
            <a:solidFill>
              <a:srgbClr val="6171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C4B4E-8020-470B-9F85-E066D7A6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242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73B96-9E8B-4DF6-A0A4-18E19A1E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290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Human-label a fixed sample for type, urgency, and sentiment.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6AA01-3B89-4CAC-AF9B-0132B578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193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824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FE168-98D8-4BB1-A7FA-C21B6F37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0325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AA410-9D75-4DFE-BBEA-1A79299B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17E"/>
          </a:solidFill>
          <a:ln xmlns:a="http://schemas.openxmlformats.org/drawingml/2006/main" w="0">
            <a:solidFill>
              <a:srgbClr val="61717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D155D-2F9F-4B3A-8041-44E34744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71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1717E"/>
          </a:solidFill>
          <a:ln xmlns:a="http://schemas.openxmlformats.org/drawingml/2006/main" w="0">
            <a:solidFill>
              <a:srgbClr val="61717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25B59-3180-4FDE-BA88-241E10C2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242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FA8A5-25D8-4BE8-9BF0-739FAA46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290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Run CoT V2 on new reviews; hold back automated sending.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AD484-F5F0-4172-BFE2-8B51249B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193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1824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81F174-7927-4806-B0EF-0051CA86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00325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E0564-0D81-46CD-B387-53C5A0AF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194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17E"/>
          </a:solidFill>
          <a:ln xmlns:a="http://schemas.openxmlformats.org/drawingml/2006/main" w="0">
            <a:solidFill>
              <a:srgbClr val="61717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05C89-844D-4A4E-B773-8615B2D7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71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1717E"/>
          </a:solidFill>
          <a:ln xmlns:a="http://schemas.openxmlformats.org/drawingml/2006/main" w="0">
            <a:solidFill>
              <a:srgbClr val="61717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CA9A25-3EE5-4851-996C-959A03E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242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47F2F-7C06-4666-98B6-FF4525BA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Send high-urgency queues to support and product owners.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7EDD76-1C84-4F06-94C4-29915568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1824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CF1E1-764E-4AD7-9528-0A07B02F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00325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2CA0A9-0A43-4EBC-9CDC-73F2251B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194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17E"/>
          </a:solidFill>
          <a:ln xmlns:a="http://schemas.openxmlformats.org/drawingml/2006/main" w="0">
            <a:solidFill>
              <a:srgbClr val="61717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E3A987-E84B-4EE9-8FD3-02079AB5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71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1717E"/>
          </a:solidFill>
          <a:ln xmlns:a="http://schemas.openxmlformats.org/drawingml/2006/main" w="0">
            <a:solidFill>
              <a:srgbClr val="61717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E289F0-E768-4E66-8951-D2E4F07E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1A8588-C56A-45EC-A259-A87A5278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Track parse success, drift, latency, cost, and overrides.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1A67CD-17C1-480B-956E-D36DD92C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193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18242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1FF8F1-5221-4E5F-8D78-9A161E18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0325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0A0AE5-A0DA-4737-9C03-6EF616B0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242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F9E78D-6B53-4388-B892-0C50417E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Expand after human QA confirms reliability.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25B0EC-0BC4-4E94-938E-6A560F4B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81600"/>
            <a:ext cx="866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1"/>
          </a:solidFill>
          <a:ln xmlns:a="http://schemas.openxmlformats.org/drawingml/2006/main" w="0">
            <a:solidFill>
              <a:srgbClr val="EEF1F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C6073E-74AB-4B6C-B14C-2125B1B4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34000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Human review stays in the loop for high urgency, low confidence, and any customer-facing response.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608ECF-6CE0-43D5-A315-D9E1624C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58D"/>
                </a:solidFill>
                <a:latin typeface="Aptos"/>
                <a:ea typeface="Aptos"/>
                <a:cs typeface="Aptos"/>
              </a:rPr>
              <a:t>Source: Final notebook risks and next steps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34BF21-2EA0-450B-BBB9-9B8C87DA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58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013785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E767FB-EEAB-41DD-8CE8-DC16D7B9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B7154-BF34-4F75-A15B-611BA5C8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1824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AD797-F952-4D03-A220-9590EE8C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C3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C3C8"/>
                </a:solidFill>
                <a:latin typeface="Aptos"/>
                <a:ea typeface="Aptos"/>
                <a:cs typeface="Aptos"/>
              </a:rPr>
              <a:t>EXECUTIVE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6B548-179E-48D5-B1F7-E0B29EC9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8572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Deploy CoT V2 as the triage layer; keep people in the decisions that matter.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5C786-FA72-4D9F-8ECE-A74BFA32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2781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3D"/>
          </a:solidFill>
          <a:ln xmlns:a="http://schemas.openxmlformats.org/drawingml/2006/main" w="0">
            <a:solidFill>
              <a:srgbClr val="223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14585-98AE-4E92-82CF-C1FCAC09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8A4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A431"/>
                </a:solidFill>
                <a:latin typeface="Aptos"/>
                <a:ea typeface="Aptos"/>
                <a:cs typeface="Aptos"/>
              </a:rPr>
              <a:t>Business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FADC2-F37E-4D6C-8680-88C0AB33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5DC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DCDF"/>
                </a:solidFill>
                <a:latin typeface="Aptos"/>
                <a:ea typeface="Aptos"/>
                <a:cs typeface="Aptos"/>
              </a:rPr>
              <a:t>Faster complaint response, earlier defect detection, better product-page accuracy.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CE859-D11F-4E26-A429-46202E2C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48050"/>
            <a:ext cx="2781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3D"/>
          </a:solidFill>
          <a:ln xmlns:a="http://schemas.openxmlformats.org/drawingml/2006/main" w="0">
            <a:solidFill>
              <a:srgbClr val="22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A0897-075C-4447-B52F-CBBA88B8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147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8A4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A431"/>
                </a:solidFill>
                <a:latin typeface="Aptos"/>
                <a:ea typeface="Aptos"/>
                <a:cs typeface="Aptos"/>
              </a:rPr>
              <a:t>Model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2C972-885C-4A64-AE50-CEE1F3FC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57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5DC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DCDF"/>
                </a:solidFill>
                <a:latin typeface="Aptos"/>
                <a:ea typeface="Aptos"/>
                <a:cs typeface="Aptos"/>
              </a:rPr>
              <a:t>CoT V2 selected from a top-score tie because urgency routing needs reasoning.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956ED-EFB9-43E8-9D7C-D6CB3779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48050"/>
            <a:ext cx="2781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3D"/>
          </a:solidFill>
          <a:ln xmlns:a="http://schemas.openxmlformats.org/drawingml/2006/main" w="0">
            <a:solidFill>
              <a:srgbClr val="2231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ECD0B-90EA-42FE-895F-506CF0F8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147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8A4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A431"/>
                </a:solidFill>
                <a:latin typeface="Aptos"/>
                <a:ea typeface="Aptos"/>
                <a:cs typeface="Aptos"/>
              </a:rPr>
              <a:t>Control 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2255C-E8E3-44F2-9D21-B779D803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5DC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DCDF"/>
                </a:solidFill>
                <a:latin typeface="Aptos"/>
                <a:ea typeface="Aptos"/>
                <a:cs typeface="Aptos"/>
              </a:rPr>
              <a:t>Human review remains for high-risk outputs and customer-facing messages.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449D0-7B5F-45D0-AA9F-438B62ED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8102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87293831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6B4329-185F-4AFB-BE65-92841FB8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88BE482-0E66-4E83-A412-29312E46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3F003FF-740A-47C1-A63E-F4A440FF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A1C65-6CEF-49D1-8CE5-751F086A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The seven-field schema is the audit trail for each model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0A8A5-78AB-4B24-9BFA-5E544236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62891-456A-4494-8FA9-3FF10DD6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B2279-0E20-4755-86AC-844EBE9A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764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AD520-EFC2-4E3A-ABCE-5619A51B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5260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Allowed / expected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0290F-C70C-4542-B012-3555FDA1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7640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78FB7-AA88-48B7-85B0-30D7176A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526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5B2B1-28A5-49F4-8CDC-6CE44ADD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2C7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20A86-441E-4494-97CA-CF268E4A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Feedback_Type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756A3-9F92-44AD-B8B7-62D5A017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383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AF7A5-81CA-4322-B6C1-1A2DECE7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145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Product | Service | Mixed | Other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130F2-E13B-4F9D-96F5-8025EAF9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C78DE-F110-43CE-B2D4-E9077728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Assigns ownership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C4B63-B0C2-4C57-9E45-1910E3D1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0A467-6A92-4C20-B262-BA96A381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D3586-AE28-4B42-B614-2307C12A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527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B49CE6-9336-4A5A-8A92-A91AED49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Fit/Sizing, Quality, Delivery, etc.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70A93D-7ECF-47BF-87E3-44DBDD44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27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474911-8C5C-40F8-AA8A-EF60189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Names the issue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60BCB0-D2D6-43F5-AF18-D82ED8A3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B402FF-EB42-4809-87C6-2BC7CAFB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Sentiment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B454AE-4C81-4F26-B89B-A0C09D19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C59E79-D5DA-45D8-9A81-DDFB206B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Positive | Negative | Neutral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73A98B-E9E2-431B-8AD6-DDFF5859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680144-6602-4BDF-955A-3904AFB9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432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Captures customer tone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FD1981-8B92-4324-8968-AC06ABD6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2C7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E97777-C5ED-428D-9457-DDF478B6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Urgency_Level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2D1223-38D0-4CDB-A617-9A52D037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814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8360AC-CC03-44D9-BA5D-2E37A5D9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5760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High | Medium | 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B75F60-822B-488F-92A2-FFE8C29C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814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7C80C0-B847-4CCE-BB98-C61C5651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576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Prioritizes speed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3A8FC7-07F1-4FB6-967C-9CF7D8B4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A41032-D455-4FAC-AD3C-4AF02C36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403FA5-561F-4999-9952-01044528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9DC64F-832C-4964-A4B5-21F4F649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719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One factual sentence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E3BD3E-F2A4-4B6C-A943-3F23747F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957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07684A-E841-40B7-A367-534AA36D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719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Compresses 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2536B6-5201-4E19-85F9-7FD24BF7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24DD41-DF77-4677-BB6C-6EE39322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Personalized_Message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08962E-7BF6-47AA-BC4A-2196F57C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101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BA407C-B9A7-465D-959A-12F32FC0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8630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Empathetic customer draft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478A22-227C-4DB1-8DED-4FCD05BE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01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08DB53-2D4C-469B-882A-662AB90B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863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Supports response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4453BE-7A26-42F7-98FB-9E1720F8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4CB1F2-6D87-4671-B5EE-1EA89D8E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Retail_Insight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726413-B864-4449-8C11-F07D8431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244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86EF46-E1FD-4EE6-920C-D79AE9F2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006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Actionable business insight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27F3F4-1B1A-468C-88B0-1A39BB36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244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F3E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7D6DD4-C104-4FF4-9D04-1E6D1849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006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42F"/>
                </a:solidFill>
                <a:latin typeface="Aptos"/>
                <a:ea typeface="Aptos"/>
                <a:cs typeface="Aptos"/>
              </a:rPr>
              <a:t>Feeds operations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320020-8DDC-432E-9E21-313E3922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58D"/>
                </a:solidFill>
                <a:latin typeface="Aptos"/>
                <a:ea typeface="Aptos"/>
                <a:cs typeface="Aptos"/>
              </a:rPr>
              <a:t>Appendix: final prompt schema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2CF338-39F5-4CC9-9C9E-218B72CC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58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1265136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1BAEF1-F347-481E-A553-283088A7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879CC23-E085-4790-AC12-C5B3A298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1F9A8A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18C33C9-49AD-4579-92D7-2AF17332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17E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D8926-8466-4829-B207-FBB83980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42F"/>
                </a:solidFill>
                <a:latin typeface="Aptos Display"/>
                <a:ea typeface="Aptos Display"/>
                <a:cs typeface="Aptos Display"/>
              </a:rPr>
              <a:t>Validation caveats are known, bounded, and manageable.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EDFD5-7C9E-4454-90EB-300889E8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31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4EFAF-AA33-4AF0-8297-7AB44B39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95475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C5AF3-F446-42F4-A8E2-1666EB14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Sample size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939EE-F16B-4FFD-8A47-E9DDCB42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19275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50 reviews controls API budget; validate on larger fixed samples before production.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82321-7EEE-47E7-BE96-ED7D9362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31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FD6B6-F3D3-4775-961C-D8B00B19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38425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6ADA5-91DA-4EB7-BBF7-3B0BE79D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Judge 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88CED-79BF-4480-B0AB-7B37B4E0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62225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LLM-as-Judge is scalable, but should be paired with a human-labeled benchmark.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A762A-162E-4FB3-A4FC-DBB08336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04F07-4C67-4BF8-B9CE-1482CE77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81375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00440-CF3F-40BF-8DF6-E14075BC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Output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C4E91-D17A-4749-8884-0BFC0137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05175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Do not auto-send customer messages without human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370C9-FB51-409D-A5AB-41EC4CB0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F1E365-1B08-4E67-BD04-517B0087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124325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E4E289-473E-4C98-814F-FB5CA7AF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Financial impact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E9BC15-5518-41D6-A38C-9DAFE8C0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48125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Return cost, order value, API cost, and support time are not in the dataset.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321B6-2656-4355-AC61-105C1737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8A"/>
          </a:solidFill>
          <a:ln xmlns:a="http://schemas.openxmlformats.org/drawingml/2006/main" w="0">
            <a:solidFill>
              <a:srgbClr val="F6F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2D179-4237-47A7-A828-54F2E5CC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867275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CA6AA3-893D-4300-B41E-9B6EDB71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42F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391666-7C09-4EFD-9F47-A3E8E0BE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91075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17E"/>
                </a:solidFill>
                <a:latin typeface="Aptos"/>
                <a:ea typeface="Aptos"/>
                <a:cs typeface="Aptos"/>
              </a:rPr>
              <a:t>Track parse success, score drift, latency, cost, and human overrides.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95F4D7-4AB2-44F1-BA93-AEC552BF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66900"/>
            <a:ext cx="10096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1824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7A3FF0-ACFC-4364-933F-556FF7B4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24100"/>
            <a:ext cx="609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Q&amp;A backup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BB507A-E510-4FF1-B7CF-B8AD0E3B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58D"/>
                </a:solidFill>
                <a:latin typeface="Aptos"/>
                <a:ea typeface="Aptos"/>
                <a:cs typeface="Aptos"/>
              </a:rPr>
              <a:t>Appendix: final notebook limitations and future work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EBDA15-6667-45BE-B47C-BB4BB07D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5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58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74932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2026-05-04T22:18:46.1570000Z</dcterms:created>
  <dcterms:modified xsi:type="dcterms:W3CDTF">2026-05-04T22:18:46.1570000Z</dcterms:modified>
</coreProperties>
</file>