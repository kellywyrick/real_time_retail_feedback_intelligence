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cc20f20b834009" /><Relationship Type="http://schemas.openxmlformats.org/officeDocument/2006/relationships/extended-properties" Target="/docProps/app.xml" Id="R2821389f3aae4a1e" /><Relationship Type="http://schemas.openxmlformats.org/officeDocument/2006/relationships/officeDocument" Target="/ppt/presentation.xml" Id="Rec4433a0c9da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c9f4d4a604afb"/>
  </p:sldMasterIdLst>
  <p:notesMasterIdLst>
    <p:notesMasterId xmlns:r="http://schemas.openxmlformats.org/officeDocument/2006/relationships" r:id="R47c79402229049d3"/>
  </p:notesMasterIdLst>
  <p:sldIdLst>
    <p:sldId xmlns:r="http://schemas.openxmlformats.org/officeDocument/2006/relationships" id="256" r:id="R62c82cf976d5443e"/>
    <p:sldId xmlns:r="http://schemas.openxmlformats.org/officeDocument/2006/relationships" id="257" r:id="Rde50562173cf47e6"/>
    <p:sldId xmlns:r="http://schemas.openxmlformats.org/officeDocument/2006/relationships" id="258" r:id="R69080d98a44f4422"/>
    <p:sldId xmlns:r="http://schemas.openxmlformats.org/officeDocument/2006/relationships" id="259" r:id="Rfb865d2cc25347f6"/>
    <p:sldId xmlns:r="http://schemas.openxmlformats.org/officeDocument/2006/relationships" id="260" r:id="Ra9b53dd0dbd04ef2"/>
    <p:sldId xmlns:r="http://schemas.openxmlformats.org/officeDocument/2006/relationships" id="261" r:id="R9da8e15e8b9d4ac5"/>
    <p:sldId xmlns:r="http://schemas.openxmlformats.org/officeDocument/2006/relationships" id="262" r:id="R3a010254998f447a"/>
    <p:sldId xmlns:r="http://schemas.openxmlformats.org/officeDocument/2006/relationships" id="263" r:id="R9cb4bd37d29e48ee"/>
    <p:sldId xmlns:r="http://schemas.openxmlformats.org/officeDocument/2006/relationships" id="264" r:id="Ra14d0f3b39fd4f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c9f4d4a604afb" /><Relationship Type="http://schemas.openxmlformats.org/officeDocument/2006/relationships/theme" Target="/ppt/theme/theme1.xml" Id="R7dcef946a0e44802" /><Relationship Type="http://schemas.openxmlformats.org/officeDocument/2006/relationships/notesMaster" Target="/ppt/notesMasters/notesMaster1.xml" Id="R47c79402229049d3" /><Relationship Type="http://schemas.openxmlformats.org/officeDocument/2006/relationships/presProps" Target="/ppt/presProps.xml" Id="R4b92a2cdd27243e3" /><Relationship Type="http://schemas.openxmlformats.org/officeDocument/2006/relationships/viewProps" Target="/ppt/viewProps.xml" Id="R444ffee264ff4a52" /><Relationship Type="http://schemas.openxmlformats.org/officeDocument/2006/relationships/tableStyles" Target="/ppt/tableStyles.xml" Id="R3d545b4dfde441a0" /><Relationship Type="http://schemas.openxmlformats.org/officeDocument/2006/relationships/slide" Target="/ppt/slides/slide1.xml" Id="R62c82cf976d5443e" /><Relationship Type="http://schemas.openxmlformats.org/officeDocument/2006/relationships/slide" Target="/ppt/slides/slide2.xml" Id="Rde50562173cf47e6" /><Relationship Type="http://schemas.openxmlformats.org/officeDocument/2006/relationships/slide" Target="/ppt/slides/slide3.xml" Id="R69080d98a44f4422" /><Relationship Type="http://schemas.openxmlformats.org/officeDocument/2006/relationships/slide" Target="/ppt/slides/slide4.xml" Id="Rfb865d2cc25347f6" /><Relationship Type="http://schemas.openxmlformats.org/officeDocument/2006/relationships/slide" Target="/ppt/slides/slide5.xml" Id="Ra9b53dd0dbd04ef2" /><Relationship Type="http://schemas.openxmlformats.org/officeDocument/2006/relationships/slide" Target="/ppt/slides/slide6.xml" Id="R9da8e15e8b9d4ac5" /><Relationship Type="http://schemas.openxmlformats.org/officeDocument/2006/relationships/slide" Target="/ppt/slides/slide7.xml" Id="R3a010254998f447a" /><Relationship Type="http://schemas.openxmlformats.org/officeDocument/2006/relationships/slide" Target="/ppt/slides/slide8.xml" Id="R9cb4bd37d29e48ee" /><Relationship Type="http://schemas.openxmlformats.org/officeDocument/2006/relationships/slide" Target="/ppt/slides/slide9.xml" Id="Ra14d0f3b39fd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70a0a1faf2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09b7b93834c0f" /><Relationship Type="http://schemas.openxmlformats.org/officeDocument/2006/relationships/notesMaster" Target="/ppt/notesMasters/notesMaster1.xml" Id="R9b4010777293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c59d1a14b4727" /><Relationship Type="http://schemas.openxmlformats.org/officeDocument/2006/relationships/notesMaster" Target="/ppt/notesMasters/notesMaster1.xml" Id="R7db55b12156f48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0059c898dd445c" /><Relationship Type="http://schemas.openxmlformats.org/officeDocument/2006/relationships/notesMaster" Target="/ppt/notesMasters/notesMaster1.xml" Id="R20f0342bd36149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c27d3a039c474e" /><Relationship Type="http://schemas.openxmlformats.org/officeDocument/2006/relationships/notesMaster" Target="/ppt/notesMasters/notesMaster1.xml" Id="R58e7ffce0b2e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6c4c1771eb4ae2" /><Relationship Type="http://schemas.openxmlformats.org/officeDocument/2006/relationships/notesMaster" Target="/ppt/notesMasters/notesMaster1.xml" Id="Rd6aee870fb8c48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7b1e5883064046" /><Relationship Type="http://schemas.openxmlformats.org/officeDocument/2006/relationships/notesMaster" Target="/ppt/notesMasters/notesMaster1.xml" Id="Rb7de100568cb45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8649b1c2b4560" /><Relationship Type="http://schemas.openxmlformats.org/officeDocument/2006/relationships/notesMaster" Target="/ppt/notesMasters/notesMaster1.xml" Id="Rdf71301aa81f4d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cccc8447a248a1" /><Relationship Type="http://schemas.openxmlformats.org/officeDocument/2006/relationships/notesMaster" Target="/ppt/notesMasters/notesMaster1.xml" Id="Rdbaaa7bf9ec340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37c332b50c41b8" /><Relationship Type="http://schemas.openxmlformats.org/officeDocument/2006/relationships/notesMaster" Target="/ppt/notesMasters/notesMaster1.xml" Id="R9f96df0d437d42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executive summary. Emphasize that the project solves a speed-and-clarity problem: too many reviews, too little time, and too much nuance for basic sentiment analysis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  <a:p xmlns:a="http://schemas.openxmlformats.org/drawingml/2006/main">
            <a:r>
              <a:t>- Dataset - Real-Time Retail Feedback Intelligence.csv</a:t>
            </a:r>
          </a:p>
          <a:p xmlns:a="http://schemas.openxmlformats.org/drawingml/2006/main">
            <a:r>
              <a:t>- Prompt comparison based on four repeated LLM-as-Judge runs and 50-review final evaluation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operational risk first: missed complaints, delayed response, weaker trust, and lost repeat purchases. Then frame the objective as faster prioritization and clearer action for support, merchandising, and product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 full dataset supports EDA, while the final GenAI comparison uses a 50-review sample to stay within API budget. Walk left to right through the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 - Real-Time Retail Feedback Intelligence.csv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  <a:p xmlns:a="http://schemas.openxmlformats.org/drawingml/2006/main">
            <a:r>
              <a:t>- Prompt comparison based on four repeated LLM-as-Judge runs and 50-review final evaluation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rating chart to show that most reviews are favorable. Then pivot to why the remaining dissatisfaction matters: it clusters around sizing, fit, quality, and product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 - Real-Time Retail Feedback Intelligence.csv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on the four-run average, not any single run. Explain that Zero-Shot V1 was the best-performing prompt, while CoT V2 was a strong alternative for more nuanced 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  <a:p xmlns:a="http://schemas.openxmlformats.org/drawingml/2006/main">
            <a:r>
              <a:t>- Prompt comparison based on four repeated LLM-as-Judge runs and 50-review final evaluation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metrics into business language. Avoid saying confusion matrix. Emphasize that the model is conservative and useful for routing attention to higher-risk 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from model output to business meaning. Show both the dissatisfaction drivers and the product strengths worth preserving in merchandising.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recommendations sound operational, not academic. Tie each action back to something surfaced in the 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decision-ready message: adopt Zero-Shot V1 as the baseline, keep CoT V2 as an escalation path, and pilot the workflow on a larger fixed sample with human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notebook: Real-Time_Retail_Feedback_Intelligence_Full_code_KWM (1).ipynb</a:t>
            </a:r>
          </a:p>
          <a:p xmlns:a="http://schemas.openxmlformats.org/drawingml/2006/main">
            <a:r>
              <a:t>- Prompt comparison based on four repeated LLM-as-Judge runs and 50-review final evaluation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f7132e97645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204025B-68F5-4D70-98E7-FC3EAFBD46A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A682C06-F71C-4A9E-BF07-79B6A017417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F90984-5029-4744-BE76-0D1FDB82511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9FF774-CB19-4C37-A0C2-B0FF49F9AE2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de319b0a474341" /><Relationship Type="http://schemas.openxmlformats.org/officeDocument/2006/relationships/slideLayout" Target="/ppt/slideLayouts/slideLayout2.xml" Id="Raf218f27ef68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36BD3-167F-488E-B7D5-54245E3592D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18f27ef68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b7140bbe14478" /><Relationship Type="http://schemas.openxmlformats.org/officeDocument/2006/relationships/notesSlide" Target="/ppt/notesSlides/notesSlide1.xml" Id="R12198714a489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025194b874209" /><Relationship Type="http://schemas.openxmlformats.org/officeDocument/2006/relationships/notesSlide" Target="/ppt/notesSlides/notesSlide2.xml" Id="R976806c76ca446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67422807c4b3a" /><Relationship Type="http://schemas.openxmlformats.org/officeDocument/2006/relationships/notesSlide" Target="/ppt/notesSlides/notesSlide3.xml" Id="Re87750dd760846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23b217b8542ac" /><Relationship Type="http://schemas.openxmlformats.org/officeDocument/2006/relationships/chart" Target="/ppt/slides/charts/chart1.xml" Id="Re96e770705714fe5" /><Relationship Type="http://schemas.openxmlformats.org/officeDocument/2006/relationships/notesSlide" Target="/ppt/notesSlides/notesSlide4.xml" Id="R1e7caaa4b232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c741df8044c01" /><Relationship Type="http://schemas.openxmlformats.org/officeDocument/2006/relationships/chart" Target="/ppt/slides/charts/chart2.xml" Id="Re079d2b7e5944637" /><Relationship Type="http://schemas.openxmlformats.org/officeDocument/2006/relationships/notesSlide" Target="/ppt/notesSlides/notesSlide5.xml" Id="R48749a7dc219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fbfc3677e489d" /><Relationship Type="http://schemas.openxmlformats.org/officeDocument/2006/relationships/notesSlide" Target="/ppt/notesSlides/notesSlide6.xml" Id="Re0e78b88eaad4b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8f4015d3b4bc9" /><Relationship Type="http://schemas.openxmlformats.org/officeDocument/2006/relationships/notesSlide" Target="/ppt/notesSlides/notesSlide7.xml" Id="R0cb3087d55464d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348cb7cbe426d" /><Relationship Type="http://schemas.openxmlformats.org/officeDocument/2006/relationships/notesSlide" Target="/ppt/notesSlides/notesSlide8.xml" Id="R73c3dc6932db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9e0e39451d4989" /><Relationship Type="http://schemas.openxmlformats.org/officeDocument/2006/relationships/notesSlide" Target="/ppt/notesSlides/notesSlide9.xml" Id="R006c6bb07368492a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Review count</c:v>
          </c:tx>
          <c:spPr>
            <a:solidFill xmlns:a="http://schemas.openxmlformats.org/drawingml/2006/main">
              <a:srgbClr val="27C47D"/>
            </a:solidFill>
            <a:ln xmlns:a="http://schemas.openxmlformats.org/drawingml/2006/main" w="9525">
              <a:solidFill>
                <a:srgbClr val="27C47D"/>
              </a:solidFill>
              <a:prstDash val="solid"/>
            </a:ln>
          </c:spPr>
          <c:cat>
            <c:strLit>
              <c:ptCount val="5"/>
              <c:pt idx="0">
                <c:v>1 Star</c:v>
              </c:pt>
              <c:pt idx="1">
                <c:v>2 Stars</c:v>
              </c:pt>
              <c:pt idx="2">
                <c:v>3 Stars</c:v>
              </c:pt>
              <c:pt idx="3">
                <c:v>4 Stars</c:v>
              </c:pt>
              <c:pt idx="4">
                <c:v>5 Stars</c:v>
              </c:pt>
            </c:strLit>
          </c:cat>
          <c:val>
            <c:numLit>
              <c:formatCode/>
              <c:ptCount val="5"/>
              <c:pt idx="0">
                <c:v>821</c:v>
              </c:pt>
              <c:pt idx="1">
                <c:v>1549</c:v>
              </c:pt>
              <c:pt idx="2">
                <c:v>2823</c:v>
              </c:pt>
              <c:pt idx="3">
                <c:v>4908</c:v>
              </c:pt>
              <c:pt idx="4">
                <c:v>12540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0363A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63A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63A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>
            <a:alpha val="0"/>
          </a:srgbClr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Average judge score</c:v>
          </c:tx>
          <c:spPr>
            <a:solidFill xmlns:a="http://schemas.openxmlformats.org/drawingml/2006/main">
              <a:srgbClr val="27C47D"/>
            </a:solidFill>
            <a:ln xmlns:a="http://schemas.openxmlformats.org/drawingml/2006/main" w="9525">
              <a:solidFill>
                <a:srgbClr val="27C47D"/>
              </a:solidFill>
              <a:prstDash val="solid"/>
            </a:ln>
          </c:spPr>
          <c:cat>
            <c:strLit>
              <c:ptCount val="6"/>
              <c:pt idx="0">
                <c:v>ZS V1</c:v>
              </c:pt>
              <c:pt idx="1">
                <c:v>ZS V2</c:v>
              </c:pt>
              <c:pt idx="2">
                <c:v>FS V1</c:v>
              </c:pt>
              <c:pt idx="3">
                <c:v>FS V2</c:v>
              </c:pt>
              <c:pt idx="4">
                <c:v>CoT V1</c:v>
              </c:pt>
              <c:pt idx="5">
                <c:v>CoT V2</c:v>
              </c:pt>
            </c:strLit>
          </c:cat>
          <c:val>
            <c:numLit>
              <c:formatCode/>
              <c:ptCount val="6"/>
              <c:pt idx="0">
                <c:v>91.6</c:v>
              </c:pt>
              <c:pt idx="1">
                <c:v>85.8</c:v>
              </c:pt>
              <c:pt idx="2">
                <c:v>90.95</c:v>
              </c:pt>
              <c:pt idx="3">
                <c:v>88.5</c:v>
              </c:pt>
              <c:pt idx="4">
                <c:v>89.45</c:v>
              </c:pt>
              <c:pt idx="5">
                <c:v>91.05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0363A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63A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63A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>
            <a:alpha val="0"/>
          </a:srgbClr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E275B-5774-4731-B66D-D46E75A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324EE-3CAC-4A91-A136-9FCCC176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ACCE1-6C19-46CB-954D-00AB4CD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51BDA-F62D-47A0-ABF2-00A3142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57599-C65D-4A4B-A1ED-6585CA7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7200"/>
            <a:ext cx="46101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97FB0-859B-4B6A-B5ED-D9383D4D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9EF9E-E929-4717-8F21-539293B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Capstone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3B381-B7D8-47E8-BC71-7A49E92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4"/>
                </a:solidFill>
              </a:defRPr>
            </a:pPr>
            <a:r>
              <a:rPr sz="3450" b="1">
                <a:solidFill>
                  <a:srgbClr val="101214"/>
                </a:solidFill>
              </a:rPr>
              <a:t>Real-Time Retail Feedback Intelligence for ChicStyle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C9580-C0D4-4D2B-A3F0-2B72AAF2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Using Generative AI to turn customer reviews into structured retail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556A1-FAE9-4639-B95F-C755308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524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2A039-6309-4970-AA73-964E5BD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52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4A168-7EC4-4B2C-8BDE-CFA7F076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Executive framing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6DDAB-FE82-4D43-A690-49017C9F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506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The goal is simple: turn review text into faster,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clearer decisions for support, merchandising, and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product teams.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3CA70-B89D-431C-AF08-7697A798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4057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328D1-8509-4078-A157-45A195D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405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B0463-4786-4D69-A763-80B58EB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BUSINESS NEED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65866-A322-4557-85EF-D601A30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Peak-season reviews carry urgent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signals on fit, quality, delivery,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customer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76ADF-CA26-493D-8BEA-153DE4A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4057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C3431-5880-42BC-A278-4BA6241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405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BAA18-BDF2-4410-8CA3-E91B580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BEST GENAI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F2439-CB86-4EF7-83C2-02EC876E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Zero-Shot V1 produced the strongest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structured outputs, with CoT V2 close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behind.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865AE-390C-4E54-8852-87E361AB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4057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09114-1B56-4DD6-B530-A8326B11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405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C6209-9A36-4B07-83FB-7BA7470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6715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ACTION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5AD65-ACAD-4CAC-8249-DFAF689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Top actions: sizing consistency, fit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guidance, better photography,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clearer fabric details.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8A7F8-BA3F-49C5-944E-8909B3E8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</a:defRPr>
            </a:pPr>
            <a:r>
              <a:rPr sz="900" b="0">
                <a:solidFill>
                  <a:srgbClr val="687076"/>
                </a:solidFill>
              </a:rPr>
              <a:t>22,641 usable reviews | 50-review final GenAI evaluation sample</a:t>
            </a:r>
          </a:p>
        </p:txBody>
      </p:sp>
    </p:spTree>
    <p:extLst>
      <p:ext uri="{BB962C8B-B14F-4D97-AF65-F5344CB8AC3E}">
        <p14:creationId xmlns:p14="http://schemas.microsoft.com/office/powerpoint/2010/main" val="108633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EC7B3-A3DF-4E8F-A2F6-3B1B5CDF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481C1-0D7C-4030-A7D3-9089835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126AE-5E8B-4841-A3B4-06E7A7E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4CEBF-98C9-4FE7-89B3-BA9DE12C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98515-DF38-4AC0-8D11-CF6664C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BUSINESS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8D36D-5B13-45B2-9211-4C9A5F3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997B-C6A7-4AAB-BF5A-714E6B7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0D3B4-353D-4FF0-8A36-BD6976B2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1AABF-9039-4676-9D0F-4D8170D4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Why this problem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512ED-014C-4E43-B25A-D46F1DF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Holiday review spikes make manual review slow, inconsistent, and hard to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7CFF5-8D4E-49E3-B7CD-EA69FA9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197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FA427-EE60-4916-9ABD-577A07A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19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CFA0D-C89F-4435-8BFF-8AD39ADF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80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Why the current process breaks 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E5021-12A1-47DD-BCCB-6D3A27B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762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Holiday spikes create more reviews than support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and merchandising teams can read manually.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Simple positive-versus-negative tagging misses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mixed issues such as style praise paired with fit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complaints.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Slow review triage delays action on return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drivers, product-page fixes, and urgent customer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dissatisfaction.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917FA-7DCE-42C1-8048-3DA16C5A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2197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24262-5AC9-446B-9C12-3977793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219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4B774-B70A-4BA9-93C2-3296997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0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What the solution must deliver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1A041-7096-4114-B747-E59ABD6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4762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Classify the issue being discussed, not just the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sentiment tone.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Summarize each review and draft an empathetic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customer-facing response.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Extract a retail action the business can monitor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or fix.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Predict whether the customer would recommend the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product.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407F1-D0B4-467B-AE32-69FA9B3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2B669-8A56-4DE8-812C-DDC5A75D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0B2E6-C7BB-48EE-9862-CF87055F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55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Business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CA812-B9D4-46F1-A3DB-81507A3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The target state is faster review triage, clearer ownership across support and merchandising, and better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product decisions grounded in live customer feedback.</a:t>
            </a:r>
          </a:p>
        </p:txBody>
      </p:sp>
    </p:spTree>
    <p:extLst>
      <p:ext uri="{BB962C8B-B14F-4D97-AF65-F5344CB8AC3E}">
        <p14:creationId xmlns:p14="http://schemas.microsoft.com/office/powerpoint/2010/main" val="116017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A5B14-3FAD-49E2-92C9-42E2280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0E1EA-097B-40F4-8F38-E8A4C78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B627A-2BA5-4D0A-B17F-246893B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11175-176D-4473-9EF2-B253A8A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43B0F-EAE2-4A87-81B0-7B8D3AB4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SOLUTION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DA643-714E-4AFD-BB4C-92624AB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B3655-0410-46A2-9390-3091DB1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E2A32-08C5-49D0-A906-040F6E61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923FB-864E-4E70-8C48-1A53282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Data and workflow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E793F-FA36-4F42-AD84-428BFD7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The pipeline combines retail context, prompt engineering, evaluation, and recommendation prediction.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FC107-15F2-40B2-B756-4E222C2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0BFFA-C7DB-4A6F-BFE1-151C7E73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218D9-4D1F-4D4A-BFF5-A51C5F5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22,641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751E8-AE30-4DCE-8C6F-E6522A59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usable reviews in the cleaned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7DA43-39CA-4B00-BEE2-EBB25C3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92624-C52E-48DE-AF45-FAD9EC5B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B02B1-41D6-4C8A-8318-E0482AE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9B992-9E4A-4F12-8D03-40599DEB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reviews in the final GenAI comparison 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2D844-4B95-47D6-915A-CBB1B194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E78F5-749C-4270-B920-EC2E1F0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13954-1793-44FC-93EC-879F2B41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4"/>
                </a:solidFill>
              </a:defRPr>
            </a:pPr>
            <a:r>
              <a:rPr sz="1950" b="1">
                <a:solidFill>
                  <a:srgbClr val="101214"/>
                </a:solidFill>
              </a:rPr>
              <a:t>6 depts</a:t>
            </a:r>
          </a:p>
          <a:p xmlns:a="http://schemas.openxmlformats.org/drawingml/2006/main">
            <a:pPr algn="l">
              <a:defRPr sz="1950" b="1">
                <a:solidFill>
                  <a:srgbClr val="101214"/>
                </a:solidFill>
              </a:defRPr>
            </a:pPr>
            <a:r>
              <a:rPr sz="1950" b="1">
                <a:solidFill>
                  <a:srgbClr val="101214"/>
                </a:solidFill>
              </a:rPr>
              <a:t>20 classes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25468-8ED3-43B8-AEA3-F6A7619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product context available to group 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3D8A1-214C-44E5-A4EE-477836CE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981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9F163-0373-40BF-8044-5A7A3F1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879C4-F8CA-4072-84DE-ADF3171A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1. Prepare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7AF2F4-3601-4214-959A-0C050890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Clean review text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keep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original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recommendation label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outside the prompt.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0D291-06AA-47A7-8077-DB655A9B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244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C18B9-E03D-4417-B264-4B074A0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981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9F21B-14BE-4638-B934-F2F32806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C4D02-5FAB-476C-8789-CA6AA7C8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100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2. Explore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77022-9501-44ED-B7EF-B81DC947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 EDA 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understand ratings,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departments, common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terms, and likely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dissatisfaction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drivers.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FD79D6-8B88-4AED-BDEA-592DB45C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244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49BE3-4D0F-49BD-B175-184E82C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1981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27DEB2-A503-4CF3-8D01-73164F3B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4E7EFD-ED0F-471A-8CD4-91BE6A8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00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3. Generate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C51304-E2A8-45A3-A9D1-659A2CA6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1485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Run Zero-Shot,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Few-Shot, and CoT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prompts to produce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structured review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outputs.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779C99-2671-4337-B143-239C7B4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8ED26-C966-48C4-93FD-1F61B1C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1981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5D3B9-81A5-42F3-B3CC-4C96F7A3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39E04E-D794-4E54-905C-D7EFB22A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4. Evaluate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C07FA-AEFD-4CB4-BC18-8FC05F5F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Score prompt quality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with an LLM-as-Judge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across repeated runs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 reduce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randomness.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994EAC-BACF-4CF5-9F1B-EF5E432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244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F8758B-6B2B-433D-95D9-DC1D6B1D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981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68FC64-DFEA-40A3-8797-83E15A2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E506E0-0D9B-458E-8E41-D4E3106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5. 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88ACE9-5595-4BD2-9C8B-0319CFA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Turn the best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outputs into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recommendations,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routing signals,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merchandising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actions.</a:t>
            </a:r>
          </a:p>
        </p:txBody>
      </p:sp>
    </p:spTree>
    <p:extLst>
      <p:ext uri="{BB962C8B-B14F-4D97-AF65-F5344CB8AC3E}">
        <p14:creationId xmlns:p14="http://schemas.microsoft.com/office/powerpoint/2010/main" val="1646228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01FD7-2E56-4E3E-91CA-AE21350E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F4B18-3127-4DB1-8C8C-FC3854F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43193-433F-4F9F-9304-F1C1931A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93A72-38D0-45C3-9007-9D16DC40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4B803-48E7-4214-B97B-5E65AD4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1028C-C9EC-44F2-B7B6-D97285A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4D68D-777C-45ED-ABA0-EAFBC371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C8A66-5F00-4171-BA06-81382C9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6DB53-A111-4FDA-B299-DA25819F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catalog is well liked overall, but pain points are concentrated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D191F-5A50-43FA-B0B6-4499ECBA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Ratings skew strongly positive, yet recurring issues are clear enough to guide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0CBA1-4B3D-405B-B41F-60E9D07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286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B6143-3320-43F8-AC32-2B4EC55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28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D2EA2-E501-430C-9AD3-F0383E5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86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Rating distribution across usable reviews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38200" y="2743200"/>
          <a:ext xmlns:a="http://schemas.openxmlformats.org/drawingml/2006/main" cx="582930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6e770705714fe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EDD01-4A75-4AAB-8EAF-5EAA28F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33600"/>
            <a:ext cx="4419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E3671-54D2-45FC-97A6-FA436819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33600"/>
            <a:ext cx="4419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7B677-C6D6-4200-A725-47DE9B3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What the ratings say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85EC3-29F9-402F-896C-1DD84FC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3962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4.18 average rating and 77.1% of reviews</a:t>
            </a:r>
          </a:p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at 4 or 5 stars show that the catalog is</a:t>
            </a:r>
          </a:p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broadly well received.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118AF-05C6-4613-98A2-273EC8F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44196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93905-8020-4C7A-85A3-360C5B7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4419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8C3E3-5255-40CB-96B5-BAE3597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67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Where friction shows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47CE5-5BB8-4C20-9AD8-480B101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91050"/>
            <a:ext cx="3962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Bottoms has the highest average rating at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4.279, while Trend is lowest at 3.839.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Negative reviews repeatedly mention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sizing inconsistency, fabric quality, and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photo-to-product mismatch.</a:t>
            </a:r>
          </a:p>
        </p:txBody>
      </p:sp>
    </p:spTree>
    <p:extLst>
      <p:ext uri="{BB962C8B-B14F-4D97-AF65-F5344CB8AC3E}">
        <p14:creationId xmlns:p14="http://schemas.microsoft.com/office/powerpoint/2010/main" val="498548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40103-5589-40D0-AAA2-AE0B8A0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D64F6-341B-4C0C-A2BB-2412FE1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BAE3-F9DC-478B-A805-0D48079A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8F585-187A-49DB-B933-E122795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C5986-5F99-4DDE-B80A-9913E528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PROMPT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2A7FC-53C5-4E87-BB93-AED7032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E8DD9-3FC8-4C0A-9473-D1A67E6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70D8-82BA-4612-A038-F536CD5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75F58-FD81-4D2A-903D-2F61457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Simple, direct prompting worked best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3E4BE-B3F1-4D9A-9EB1-ACDACCA3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Repeated evaluation showed a stable ranking across Zero-Shot, Few-Shot, and CoT variants.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D720B-5922-447F-A455-38201DEF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774C4-6E91-4C4A-8625-9BA1B1C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DD64A-8B8C-4C6B-94EA-7FDC4EA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24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Average judge score across four runs (out of 100)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38200" y="2743200"/>
          <a:ext xmlns:a="http://schemas.openxmlformats.org/drawingml/2006/main" cx="621030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79d2b7e5944637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768A5-8C13-4CCC-973C-0FC40233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4038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76E2-2A02-44A2-BBC1-54853FC0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4038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B6DA4-CEF8-4B1E-8020-1447522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Best overall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3421C-DBC1-4907-8042-692B977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2890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Zero-Shot V1 ranked first at 91.6,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with CoT V2 close behind at 91.05 and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Few-Shot V1 at 90.95.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2CE8F-B746-41BA-9358-D9848BD9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0425"/>
            <a:ext cx="4038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F5889-F7CB-4E80-AFBB-1167D11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0425"/>
            <a:ext cx="4038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82452-00D7-474C-8B83-90A8F4E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What changed in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DE907-B9C9-4A00-B7C5-6207EE01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95725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V2 added useful structure for CoT,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but extra context weakened the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Zero-Shot and Few-Shot versions.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94EE3-67CE-4046-A55A-2CBB117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4038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19925-FD6D-48D5-A065-31BEE79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4038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1D50A-0747-41D9-9318-CE7C7E9B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387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Operational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9D828-0FDE-4E11-9C0D-820E6CC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All prompts parsed cleanly, so the</a:t>
            </a:r>
          </a:p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main difference was output usefulness</a:t>
            </a:r>
          </a:p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rather than formatting stability.</a:t>
            </a:r>
          </a:p>
        </p:txBody>
      </p:sp>
    </p:spTree>
    <p:extLst>
      <p:ext uri="{BB962C8B-B14F-4D97-AF65-F5344CB8AC3E}">
        <p14:creationId xmlns:p14="http://schemas.microsoft.com/office/powerpoint/2010/main" val="617257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6CF1-6F66-4BEF-B9A7-E7F38EEC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17A3D-27A9-4191-ACFD-30EE184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B036F-E770-48A4-A4F6-866AEEFF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3A239-11DC-4FCD-8EA0-7166C964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34EC4-853F-423A-A5AE-B874BBB2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RECOMMENDATION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00C51-1639-4571-BF01-9310A91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1390F-F0D2-456E-834D-E44F1D8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D8C09-B77C-4543-89F5-76DF5F5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CC8AC-FEF5-46C5-83E6-D28DBA27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recommendation prompt works well as a triage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994DF-AC78-4AFF-A496-D51758E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It is strongest at catching negative recommendation intent without overstating positive intent.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06A8D-7E51-49D4-BC2A-6C245368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1CFC0-0D1F-41CA-A72B-E0F8D94B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09358-CE61-4103-829B-57D615BD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0C97B-9F3B-4E2C-82BE-9D28899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overall recommendation prediction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692D1-C4DF-4B65-A4FD-AF6E9E03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3330C-A655-4A6E-AFC9-10212C6E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94259-0AE2-4F84-A2D5-3132ECE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A97D5-1A80-4476-A336-C0CF87A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of not-recommended reviews captured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C1B69-D5DD-495C-B170-FC2E37A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C0308-F71C-4CA1-ACE6-468EA26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35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0DF36-F688-40B9-9A4F-D0E6C681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A89A3-80BE-485A-8CAE-932B893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of recommended reviews captured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1E380-B758-4DA5-B9D7-1E2583CB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77A1D-4E24-46CF-9908-F45EBE6B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94833-D61F-4611-AB04-F132397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What it means operationally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95DFA-B8AF-4C5E-9ED0-9595A032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87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The prompt is strong for triage because it caught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every not-recommended review in the sample. It is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more conservative on positive recommendations, so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it is better for routing risk than replacing human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review.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F6869-CA47-43B5-8DDE-B65FA4A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72952-4CD7-4637-8F56-9C9C7A82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33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0E3A2-A0A7-41A6-9EB5-55AE46DB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What sentiment nuance tells 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4A789-D6DA-4875-936A-7951E06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87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The V2 prompts labeled more reviews as neutral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than the V1 prompts. That suggests better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recognition of mixed feedback, even though the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highest judged quality still came from the simpler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Zero-Shot V1 prompt.</a:t>
            </a:r>
          </a:p>
        </p:txBody>
      </p:sp>
    </p:spTree>
    <p:extLst>
      <p:ext uri="{BB962C8B-B14F-4D97-AF65-F5344CB8AC3E}">
        <p14:creationId xmlns:p14="http://schemas.microsoft.com/office/powerpoint/2010/main" val="1208821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15729-F8AF-44A2-BD94-B687537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99D93-CC2B-4C64-9AA5-38DF039B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EC9C6-FE7B-4025-AE32-FED4A73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D71FB-B026-488F-B0F6-C7559A0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4E102-A496-4AF3-95D2-861FF186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CUSTOMER THEMES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50CBC-A45E-43BF-B38A-E131C8A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7860D-E03A-4BCE-952A-5671010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B3AAD-895B-43AB-9C6E-D4765DE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0F043-8924-440A-8188-68B32738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Customer feedback points to a few repeating root causes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8FE18-7B6C-4ED3-89AE-024D391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The same issues appear across summaries, sentiment labels, and review-level retail insights.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BEA3D-6512-4D8E-858D-0EB87CFE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57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23CA2-97C6-451E-BF7B-8FEB23B1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234AF-FE4F-49E4-9062-4E4A90B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83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Sizing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A9F76-7180-4825-82C3-50067338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800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Customers struggle when similar styles fit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differently. Better size charts and clearer fit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guidance should be treated as a revenue-protection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lever.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52D75-8E26-459A-BE3D-C68FEF7F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F2639-E24A-47FC-ACBA-F641955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74B57-A8E9-4D9B-8BDB-811ACAF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83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Fit and comfort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93EAE-B26C-4F7B-941C-C4718D34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800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Sleeves, bust, waist, and overall drape appear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often in review friction. Fit comments are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specific enough to guide merchandising and product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development.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1A422-AD21-49E5-9FBD-9579FB8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57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54871-66D2-4B7F-A503-1A9907EA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C7A3A-A9A5-4C49-9829-834B5B5A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83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Image and color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EE4A6-1C4A-4BEF-935D-EF52C95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800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Product photos and descriptions shape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expectations. When color, texture, or silhouette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do not match the product page, dissatisfaction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rises quickly.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E9065-3E50-42BC-9F24-C240C44C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257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D2F5F-E57E-45AD-BF55-E33AF11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32EE6-8F9D-411F-BBAD-1B61BECE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83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Material quality and style strength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BC7BB-BB5A-4CC8-A723-218C4215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800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Customers consistently reward flattering,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versatile designs, but they also notice softness,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durability, and fabric quality almost immediately.</a:t>
            </a:r>
          </a:p>
        </p:txBody>
      </p:sp>
    </p:spTree>
    <p:extLst>
      <p:ext uri="{BB962C8B-B14F-4D97-AF65-F5344CB8AC3E}">
        <p14:creationId xmlns:p14="http://schemas.microsoft.com/office/powerpoint/2010/main" val="1265013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49F70-5FCC-4B96-9AC4-2828799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B071C-2397-4230-81FE-02CEBC9D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C2100-E1B5-42F4-A5ED-443AFE5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8E6EB-38A5-4B7E-928B-EBEA989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8C3C3-158F-40FF-88D8-DD830377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ACTION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A06AE-BAD6-468D-868C-467FB01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05F2F-BD02-4501-B21C-2F1426B4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CDF08-B9D9-4056-A85D-D0973169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E906-04B9-4C5A-A945-EAAA3DB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Recommended business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35566-CC2E-4031-B3AC-DCA4BE1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Short-term fixes improve the customer experience now; long-term actions reduce repeat friction.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EE0C3-341C-4935-ADB2-5C18CB5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57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C1404-B6A2-4B92-8D0F-5F2ECCA1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460BA-2AD9-4E65-90B7-C6DEA6C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83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Next 3-6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3B94F-20B3-43D6-BECC-3BE960B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800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Revise sizing guides, fit notes, and product copy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to reduce avoidable confusion before purchase.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Upgrade product photography and color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descriptions so online expectations better match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the item received.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Create a simple post-purchase feedback loop that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flags repeat complaints for immediate review by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merchandising and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297FB-DCEA-4295-B91B-A69570AE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6386A-62C7-4912-8ACC-870CDFD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0600F-67F0-4B98-B2FF-BFCB6D0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83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Next 6-12 months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36FFB-CB71-469C-A8D4-D5C3DBE2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4800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Standardize sizing logic across collections and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validate it with broader fit testing.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Expand fit coverage across body types, including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petite and plus sizing where demand is visible.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• Evaluate virtual fit or richer personalization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tools to reduce returns and increase purchase</a:t>
            </a:r>
          </a:p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48D7F-D52F-4C36-86CE-A0DEBB5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DF8C8-4B97-4A74-9179-659A3E87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ABC24-D207-4678-BF2B-BDF2D2E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55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Expected business 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C1727-2563-49E6-ADFC-E36704F3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051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The pipeline can help ChicStyle spot pain points faster, improve product pages, prioritize fixes with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evidence, and reduce avoidable dissatisfaction before it turns into returns or churn.</a:t>
            </a:r>
          </a:p>
        </p:txBody>
      </p:sp>
    </p:spTree>
    <p:extLst>
      <p:ext uri="{BB962C8B-B14F-4D97-AF65-F5344CB8AC3E}">
        <p14:creationId xmlns:p14="http://schemas.microsoft.com/office/powerpoint/2010/main" val="727540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8FFF-85D9-4AAA-A3F2-A4ED3FDC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0F754-0E5C-4204-9D03-9FA8655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FD51-F36F-4585-849A-CA50005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C853B-7FEC-4B2E-B0A9-A968559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42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59CAB-C15A-4744-8EC8-FFA52A38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DB2E1-C85D-42C8-B857-B3B2DFC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E4379-61F4-4335-9021-C1AA778B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934CD-A251-4475-9C9E-641470C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397FD-EF28-4EF0-925E-D47439C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9F0A5-2858-4842-BE77-9A651B9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Recommended path 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E292-3CC1-4D80-BDEA-E1D92D7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Start with the simplest high-performing prompt, then expand with stronger validation and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EBEFF-866E-4AB4-9F15-DB6612B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217C8-AE56-4576-900E-455C21A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BDD16-F6FA-4F6A-A0CD-EE9314C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ADOPT 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18766-544D-4440-B5A3-CE126284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Use Zero-Shot V1 as the default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production prompt because it is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the highest-scoring and simplest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design to maintain.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84283-43FC-43E4-ADDD-A6C7F6C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916C7-EDAE-4BEC-8179-B0A8EDA6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E1CAB-6D6E-4286-8892-9D76E59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ESCALATE SMARTLY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9F7A1-69ED-4914-A600-3DAEACBA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Use CoT V2 for edge cases where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the review is mixed, complex, 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likely to benefit from more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structured reasoning.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8E154-581B-4483-8905-CD4CBB31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429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CA86F-0A71-49C5-980B-D831F6FB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78531-36CF-4D28-ACAD-DAC3ADF4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PILOT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ADBF8-B00A-40E3-8592-0D8E077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Run a larger fixed-sample pilot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and pair it with a small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human-reviewed benchmark before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wider rollout.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52F2A-7F39-4F2A-B28A-EBC3547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156B8-C280-44E8-87EE-D82C0C75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AEBD3-CB37-4DD4-9CC3-3017260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55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Limitations and next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DB31F-B564-45E2-BCCE-35E90BC4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51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The final prompt comparison used a 50-review sample to stay within API budget, and the LLM-as-Judge adds some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evaluation subjectivity. The next step is to validate the same workflow on a larger fixed sample, keep</a:t>
            </a:r>
          </a:p>
          <a:p xmlns:a="http://schemas.openxmlformats.org/drawingml/2006/main"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averaging across repeated runs, and add human review for the highest-impact use cases.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15A4D-6433-4B7D-A673-4C6A211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Recommended decision: pilot the workflow using Zero-Shot V1 as the baseline prompt.</a:t>
            </a:r>
          </a:p>
        </p:txBody>
      </p:sp>
    </p:spTree>
    <p:extLst>
      <p:ext uri="{BB962C8B-B14F-4D97-AF65-F5344CB8AC3E}">
        <p14:creationId xmlns:p14="http://schemas.microsoft.com/office/powerpoint/2010/main" val="151831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2026-05-01T21:54:44.6940000Z</dcterms:created>
  <dcterms:modified xsi:type="dcterms:W3CDTF">2026-05-01T21:54:44.6940000Z</dcterms:modified>
</coreProperties>
</file>